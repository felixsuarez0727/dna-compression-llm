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15"/>
  </p:notesMasterIdLst>
  <p:sldIdLst>
    <p:sldId id="351" r:id="rId4"/>
    <p:sldId id="347" r:id="rId5"/>
    <p:sldId id="312" r:id="rId6"/>
    <p:sldId id="315" r:id="rId7"/>
    <p:sldId id="310" r:id="rId8"/>
    <p:sldId id="353" r:id="rId9"/>
    <p:sldId id="298" r:id="rId10"/>
    <p:sldId id="354" r:id="rId11"/>
    <p:sldId id="307" r:id="rId12"/>
    <p:sldId id="322" r:id="rId13"/>
    <p:sldId id="34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82" autoAdjust="0"/>
    <p:restoredTop sz="53753" autoAdjust="0"/>
  </p:normalViewPr>
  <p:slideViewPr>
    <p:cSldViewPr snapToGrid="0" showGuides="1">
      <p:cViewPr varScale="1">
        <p:scale>
          <a:sx n="56" d="100"/>
          <a:sy n="56" d="100"/>
        </p:scale>
        <p:origin x="2724" y="60"/>
      </p:cViewPr>
      <p:guideLst>
        <p:guide orient="horz" pos="2184"/>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c:spPr>
            <c:extLst>
              <c:ext xmlns:c16="http://schemas.microsoft.com/office/drawing/2014/chart" uri="{C3380CC4-5D6E-409C-BE32-E72D297353CC}">
                <c16:uniqueId val="{00000001-9A6D-4470-82D7-A8F403A32C2F}"/>
              </c:ext>
            </c:extLst>
          </c:dPt>
          <c:dPt>
            <c:idx val="1"/>
            <c:bubble3D val="0"/>
            <c:spPr>
              <a:solidFill>
                <a:schemeClr val="accent4"/>
              </a:solidFill>
            </c:spPr>
            <c:extLst>
              <c:ext xmlns:c16="http://schemas.microsoft.com/office/drawing/2014/chart" uri="{C3380CC4-5D6E-409C-BE32-E72D297353CC}">
                <c16:uniqueId val="{00000003-9A6D-4470-82D7-A8F403A32C2F}"/>
              </c:ext>
            </c:extLst>
          </c:dPt>
          <c:cat>
            <c:strRef>
              <c:f>Sheet1!$A$2:$A$3</c:f>
              <c:strCache>
                <c:ptCount val="2"/>
                <c:pt idx="0">
                  <c:v>1st Qtr</c:v>
                </c:pt>
                <c:pt idx="1">
                  <c:v>2nd Qtr</c:v>
                </c:pt>
              </c:strCache>
            </c:strRef>
          </c:cat>
          <c:val>
            <c:numRef>
              <c:f>Sheet1!$B$2:$B$3</c:f>
              <c:numCache>
                <c:formatCode>General</c:formatCode>
                <c:ptCount val="2"/>
                <c:pt idx="0">
                  <c:v>56</c:v>
                </c:pt>
                <c:pt idx="1">
                  <c:v>44</c:v>
                </c:pt>
              </c:numCache>
            </c:numRef>
          </c:val>
          <c:extLst>
            <c:ext xmlns:c16="http://schemas.microsoft.com/office/drawing/2014/chart" uri="{C3380CC4-5D6E-409C-BE32-E72D297353CC}">
              <c16:uniqueId val="{00000004-9A6D-4470-82D7-A8F403A32C2F}"/>
            </c:ext>
          </c:extLst>
        </c:ser>
        <c:dLbls>
          <c:showLegendKey val="0"/>
          <c:showVal val="0"/>
          <c:showCatName val="0"/>
          <c:showSerName val="0"/>
          <c:showPercent val="0"/>
          <c:showBubbleSize val="0"/>
          <c:showLeaderLines val="1"/>
        </c:dLbls>
        <c:firstSliceAng val="0"/>
        <c:holeSize val="78"/>
      </c:doughnutChart>
      <c:spPr>
        <a:noFill/>
        <a:ln w="25400">
          <a:noFill/>
        </a:ln>
      </c:spPr>
    </c:plotArea>
    <c:plotVisOnly val="1"/>
    <c:dispBlanksAs val="gap"/>
    <c:showDLblsOverMax val="0"/>
  </c:chart>
  <c:txPr>
    <a:bodyPr/>
    <a:lstStyle/>
    <a:p>
      <a:pPr>
        <a:defRPr sz="1800"/>
      </a:pPr>
      <a:endParaRPr lang="es-C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c:spPr>
            <c:extLst>
              <c:ext xmlns:c16="http://schemas.microsoft.com/office/drawing/2014/chart" uri="{C3380CC4-5D6E-409C-BE32-E72D297353CC}">
                <c16:uniqueId val="{00000001-1584-47B9-BCF0-F06FDDD5BA24}"/>
              </c:ext>
            </c:extLst>
          </c:dPt>
          <c:dPt>
            <c:idx val="1"/>
            <c:bubble3D val="0"/>
            <c:spPr>
              <a:solidFill>
                <a:schemeClr val="accent3"/>
              </a:solidFill>
            </c:spPr>
            <c:extLst>
              <c:ext xmlns:c16="http://schemas.microsoft.com/office/drawing/2014/chart" uri="{C3380CC4-5D6E-409C-BE32-E72D297353CC}">
                <c16:uniqueId val="{00000003-1584-47B9-BCF0-F06FDDD5BA24}"/>
              </c:ext>
            </c:extLst>
          </c:dPt>
          <c:cat>
            <c:strRef>
              <c:f>Sheet1!$A$2:$A$3</c:f>
              <c:strCache>
                <c:ptCount val="2"/>
                <c:pt idx="0">
                  <c:v>1st Qtr</c:v>
                </c:pt>
                <c:pt idx="1">
                  <c:v>2nd Qtr</c:v>
                </c:pt>
              </c:strCache>
            </c:strRef>
          </c:cat>
          <c:val>
            <c:numRef>
              <c:f>Sheet1!$B$2:$B$3</c:f>
              <c:numCache>
                <c:formatCode>General</c:formatCode>
                <c:ptCount val="2"/>
                <c:pt idx="0">
                  <c:v>82</c:v>
                </c:pt>
                <c:pt idx="1">
                  <c:v>32</c:v>
                </c:pt>
              </c:numCache>
            </c:numRef>
          </c:val>
          <c:extLst>
            <c:ext xmlns:c16="http://schemas.microsoft.com/office/drawing/2014/chart" uri="{C3380CC4-5D6E-409C-BE32-E72D297353CC}">
              <c16:uniqueId val="{00000004-1584-47B9-BCF0-F06FDDD5BA24}"/>
            </c:ext>
          </c:extLst>
        </c:ser>
        <c:dLbls>
          <c:showLegendKey val="0"/>
          <c:showVal val="0"/>
          <c:showCatName val="0"/>
          <c:showSerName val="0"/>
          <c:showPercent val="0"/>
          <c:showBubbleSize val="0"/>
          <c:showLeaderLines val="1"/>
        </c:dLbls>
        <c:firstSliceAng val="0"/>
        <c:holeSize val="78"/>
      </c:doughnutChart>
    </c:plotArea>
    <c:plotVisOnly val="1"/>
    <c:dispBlanksAs val="gap"/>
    <c:showDLblsOverMax val="0"/>
  </c:chart>
  <c:txPr>
    <a:bodyPr/>
    <a:lstStyle/>
    <a:p>
      <a:pPr>
        <a:defRPr sz="1800"/>
      </a:pPr>
      <a:endParaRPr lang="es-C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c:spPr>
            <c:extLst>
              <c:ext xmlns:c16="http://schemas.microsoft.com/office/drawing/2014/chart" uri="{C3380CC4-5D6E-409C-BE32-E72D297353CC}">
                <c16:uniqueId val="{00000001-1CB1-42DF-BC0F-EF9314D8A713}"/>
              </c:ext>
            </c:extLst>
          </c:dPt>
          <c:dPt>
            <c:idx val="1"/>
            <c:bubble3D val="0"/>
            <c:spPr>
              <a:solidFill>
                <a:schemeClr val="accent2"/>
              </a:solidFill>
            </c:spPr>
            <c:extLst>
              <c:ext xmlns:c16="http://schemas.microsoft.com/office/drawing/2014/chart" uri="{C3380CC4-5D6E-409C-BE32-E72D297353CC}">
                <c16:uniqueId val="{00000003-1CB1-42DF-BC0F-EF9314D8A713}"/>
              </c:ext>
            </c:extLst>
          </c:dPt>
          <c:cat>
            <c:strRef>
              <c:f>Sheet1!$A$2:$A$3</c:f>
              <c:strCache>
                <c:ptCount val="2"/>
                <c:pt idx="0">
                  <c:v>1st Qtr</c:v>
                </c:pt>
                <c:pt idx="1">
                  <c:v>2nd Qtr</c:v>
                </c:pt>
              </c:strCache>
            </c:strRef>
          </c:cat>
          <c:val>
            <c:numRef>
              <c:f>Sheet1!$B$2:$B$3</c:f>
              <c:numCache>
                <c:formatCode>General</c:formatCode>
                <c:ptCount val="2"/>
                <c:pt idx="0">
                  <c:v>40</c:v>
                </c:pt>
                <c:pt idx="1">
                  <c:v>60</c:v>
                </c:pt>
              </c:numCache>
            </c:numRef>
          </c:val>
          <c:extLst>
            <c:ext xmlns:c16="http://schemas.microsoft.com/office/drawing/2014/chart" uri="{C3380CC4-5D6E-409C-BE32-E72D297353CC}">
              <c16:uniqueId val="{00000004-1CB1-42DF-BC0F-EF9314D8A713}"/>
            </c:ext>
          </c:extLst>
        </c:ser>
        <c:dLbls>
          <c:showLegendKey val="0"/>
          <c:showVal val="0"/>
          <c:showCatName val="0"/>
          <c:showSerName val="0"/>
          <c:showPercent val="0"/>
          <c:showBubbleSize val="0"/>
          <c:showLeaderLines val="1"/>
        </c:dLbls>
        <c:firstSliceAng val="0"/>
        <c:holeSize val="78"/>
      </c:doughnutChart>
    </c:plotArea>
    <c:plotVisOnly val="1"/>
    <c:dispBlanksAs val="gap"/>
    <c:showDLblsOverMax val="0"/>
  </c:chart>
  <c:txPr>
    <a:bodyPr/>
    <a:lstStyle/>
    <a:p>
      <a:pPr>
        <a:defRPr sz="1800"/>
      </a:pPr>
      <a:endParaRPr lang="es-C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c:spPr>
            <c:extLst>
              <c:ext xmlns:c16="http://schemas.microsoft.com/office/drawing/2014/chart" uri="{C3380CC4-5D6E-409C-BE32-E72D297353CC}">
                <c16:uniqueId val="{00000001-514B-4F36-81D6-1B551C0A5ED1}"/>
              </c:ext>
            </c:extLst>
          </c:dPt>
          <c:dPt>
            <c:idx val="1"/>
            <c:bubble3D val="0"/>
            <c:spPr>
              <a:solidFill>
                <a:schemeClr val="accent1"/>
              </a:solidFill>
            </c:spPr>
            <c:extLst>
              <c:ext xmlns:c16="http://schemas.microsoft.com/office/drawing/2014/chart" uri="{C3380CC4-5D6E-409C-BE32-E72D297353CC}">
                <c16:uniqueId val="{00000003-514B-4F36-81D6-1B551C0A5ED1}"/>
              </c:ext>
            </c:extLst>
          </c:dPt>
          <c:cat>
            <c:strRef>
              <c:f>Sheet1!$A$2:$A$3</c:f>
              <c:strCache>
                <c:ptCount val="2"/>
                <c:pt idx="0">
                  <c:v>1st Qtr</c:v>
                </c:pt>
                <c:pt idx="1">
                  <c:v>2nd Qtr</c:v>
                </c:pt>
              </c:strCache>
            </c:strRef>
          </c:cat>
          <c:val>
            <c:numRef>
              <c:f>Sheet1!$B$2:$B$3</c:f>
              <c:numCache>
                <c:formatCode>General</c:formatCode>
                <c:ptCount val="2"/>
                <c:pt idx="0">
                  <c:v>20</c:v>
                </c:pt>
                <c:pt idx="1">
                  <c:v>80</c:v>
                </c:pt>
              </c:numCache>
            </c:numRef>
          </c:val>
          <c:extLst>
            <c:ext xmlns:c16="http://schemas.microsoft.com/office/drawing/2014/chart" uri="{C3380CC4-5D6E-409C-BE32-E72D297353CC}">
              <c16:uniqueId val="{00000004-514B-4F36-81D6-1B551C0A5ED1}"/>
            </c:ext>
          </c:extLst>
        </c:ser>
        <c:dLbls>
          <c:showLegendKey val="0"/>
          <c:showVal val="0"/>
          <c:showCatName val="0"/>
          <c:showSerName val="0"/>
          <c:showPercent val="0"/>
          <c:showBubbleSize val="0"/>
          <c:showLeaderLines val="1"/>
        </c:dLbls>
        <c:firstSliceAng val="0"/>
        <c:holeSize val="78"/>
      </c:doughnutChart>
    </c:plotArea>
    <c:plotVisOnly val="1"/>
    <c:dispBlanksAs val="gap"/>
    <c:showDLblsOverMax val="0"/>
  </c:chart>
  <c:txPr>
    <a:bodyPr/>
    <a:lstStyle/>
    <a:p>
      <a:pPr>
        <a:defRPr sz="1800"/>
      </a:pPr>
      <a:endParaRPr lang="es-C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‹Nº›</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R" b="1" dirty="0"/>
              <a:t>ES:</a:t>
            </a:r>
            <a:br>
              <a:rPr lang="es-CR" dirty="0"/>
            </a:br>
            <a:r>
              <a:rPr lang="es-CR" dirty="0"/>
              <a:t>Muy buenos días/tardes. En la presente exposición se aborda una propuesta de compresión de archivos FASTQ mediante el uso de modelos de lenguaje de gran escala. Este trabajo plantea una arquitectura híbrida orientada a la detección de patrones repetitivos en secuencias de ADN, con el objetivo de lograr una compresión eficiente, interpretable y completamente reversible.</a:t>
            </a:r>
          </a:p>
          <a:p>
            <a:endParaRPr lang="es-CR" dirty="0"/>
          </a:p>
          <a:p>
            <a:r>
              <a:rPr lang="es-CR" b="1" dirty="0"/>
              <a:t>EN:</a:t>
            </a:r>
            <a:br>
              <a:rPr lang="es-CR" dirty="0"/>
            </a:br>
            <a:r>
              <a:rPr lang="es-CR" dirty="0"/>
              <a:t>Good </a:t>
            </a:r>
            <a:r>
              <a:rPr lang="es-CR" dirty="0" err="1"/>
              <a:t>morning</a:t>
            </a:r>
            <a:r>
              <a:rPr lang="es-CR" dirty="0"/>
              <a:t>/</a:t>
            </a:r>
            <a:r>
              <a:rPr lang="es-CR" dirty="0" err="1"/>
              <a:t>afternoon</a:t>
            </a:r>
            <a:r>
              <a:rPr lang="es-CR" dirty="0"/>
              <a:t>. </a:t>
            </a:r>
            <a:r>
              <a:rPr lang="es-CR" dirty="0" err="1"/>
              <a:t>This</a:t>
            </a:r>
            <a:r>
              <a:rPr lang="es-CR" dirty="0"/>
              <a:t> </a:t>
            </a:r>
            <a:r>
              <a:rPr lang="es-CR" dirty="0" err="1"/>
              <a:t>presentation</a:t>
            </a:r>
            <a:r>
              <a:rPr lang="es-CR" dirty="0"/>
              <a:t> introduces a </a:t>
            </a:r>
            <a:r>
              <a:rPr lang="es-CR" dirty="0" err="1"/>
              <a:t>proposal</a:t>
            </a:r>
            <a:r>
              <a:rPr lang="es-CR" dirty="0"/>
              <a:t> </a:t>
            </a:r>
            <a:r>
              <a:rPr lang="es-CR" dirty="0" err="1"/>
              <a:t>for</a:t>
            </a:r>
            <a:r>
              <a:rPr lang="es-CR" dirty="0"/>
              <a:t> FASTQ file </a:t>
            </a:r>
            <a:r>
              <a:rPr lang="es-CR" dirty="0" err="1"/>
              <a:t>compression</a:t>
            </a:r>
            <a:r>
              <a:rPr lang="es-CR" dirty="0"/>
              <a:t> </a:t>
            </a:r>
            <a:r>
              <a:rPr lang="es-CR" dirty="0" err="1"/>
              <a:t>using</a:t>
            </a:r>
            <a:r>
              <a:rPr lang="es-CR" dirty="0"/>
              <a:t> </a:t>
            </a:r>
            <a:r>
              <a:rPr lang="es-CR" dirty="0" err="1"/>
              <a:t>large</a:t>
            </a:r>
            <a:r>
              <a:rPr lang="es-CR" dirty="0"/>
              <a:t> </a:t>
            </a:r>
            <a:r>
              <a:rPr lang="es-CR" dirty="0" err="1"/>
              <a:t>language</a:t>
            </a:r>
            <a:r>
              <a:rPr lang="es-CR" dirty="0"/>
              <a:t> </a:t>
            </a:r>
            <a:r>
              <a:rPr lang="es-CR" dirty="0" err="1"/>
              <a:t>models</a:t>
            </a:r>
            <a:r>
              <a:rPr lang="es-CR" dirty="0"/>
              <a:t>. The </a:t>
            </a:r>
            <a:r>
              <a:rPr lang="es-CR" dirty="0" err="1"/>
              <a:t>work</a:t>
            </a:r>
            <a:r>
              <a:rPr lang="es-CR" dirty="0"/>
              <a:t> </a:t>
            </a:r>
            <a:r>
              <a:rPr lang="es-CR" dirty="0" err="1"/>
              <a:t>presents</a:t>
            </a:r>
            <a:r>
              <a:rPr lang="es-CR" dirty="0"/>
              <a:t> a </a:t>
            </a:r>
            <a:r>
              <a:rPr lang="es-CR" dirty="0" err="1"/>
              <a:t>hybrid</a:t>
            </a:r>
            <a:r>
              <a:rPr lang="es-CR" dirty="0"/>
              <a:t> </a:t>
            </a:r>
            <a:r>
              <a:rPr lang="es-CR" dirty="0" err="1"/>
              <a:t>architecture</a:t>
            </a:r>
            <a:r>
              <a:rPr lang="es-CR" dirty="0"/>
              <a:t> </a:t>
            </a:r>
            <a:r>
              <a:rPr lang="es-CR" dirty="0" err="1"/>
              <a:t>aimed</a:t>
            </a:r>
            <a:r>
              <a:rPr lang="es-CR" dirty="0"/>
              <a:t> at </a:t>
            </a:r>
            <a:r>
              <a:rPr lang="es-CR" dirty="0" err="1"/>
              <a:t>detecting</a:t>
            </a:r>
            <a:r>
              <a:rPr lang="es-CR" dirty="0"/>
              <a:t> repetitive </a:t>
            </a:r>
            <a:r>
              <a:rPr lang="es-CR" dirty="0" err="1"/>
              <a:t>patterns</a:t>
            </a:r>
            <a:r>
              <a:rPr lang="es-CR" dirty="0"/>
              <a:t> in DNA </a:t>
            </a:r>
            <a:r>
              <a:rPr lang="es-CR" dirty="0" err="1"/>
              <a:t>sequences</a:t>
            </a:r>
            <a:r>
              <a:rPr lang="es-CR" dirty="0"/>
              <a:t>, </a:t>
            </a:r>
            <a:r>
              <a:rPr lang="es-CR" dirty="0" err="1"/>
              <a:t>with</a:t>
            </a:r>
            <a:r>
              <a:rPr lang="es-CR" dirty="0"/>
              <a:t> </a:t>
            </a:r>
            <a:r>
              <a:rPr lang="es-CR" dirty="0" err="1"/>
              <a:t>the</a:t>
            </a:r>
            <a:r>
              <a:rPr lang="es-CR" dirty="0"/>
              <a:t> </a:t>
            </a:r>
            <a:r>
              <a:rPr lang="es-CR" dirty="0" err="1"/>
              <a:t>objective</a:t>
            </a:r>
            <a:r>
              <a:rPr lang="es-CR" dirty="0"/>
              <a:t> </a:t>
            </a:r>
            <a:r>
              <a:rPr lang="es-CR" dirty="0" err="1"/>
              <a:t>of</a:t>
            </a:r>
            <a:r>
              <a:rPr lang="es-CR" dirty="0"/>
              <a:t> </a:t>
            </a:r>
            <a:r>
              <a:rPr lang="es-CR" dirty="0" err="1"/>
              <a:t>achieving</a:t>
            </a:r>
            <a:r>
              <a:rPr lang="es-CR" dirty="0"/>
              <a:t> </a:t>
            </a:r>
            <a:r>
              <a:rPr lang="es-CR" dirty="0" err="1"/>
              <a:t>efficient</a:t>
            </a:r>
            <a:r>
              <a:rPr lang="es-CR" dirty="0"/>
              <a:t>, interpretable, and </a:t>
            </a:r>
            <a:r>
              <a:rPr lang="es-CR" dirty="0" err="1"/>
              <a:t>fully</a:t>
            </a:r>
            <a:r>
              <a:rPr lang="es-CR" dirty="0"/>
              <a:t> reversible </a:t>
            </a:r>
            <a:r>
              <a:rPr lang="es-CR" dirty="0" err="1"/>
              <a:t>compression</a:t>
            </a:r>
            <a:r>
              <a:rPr lang="es-CR" dirty="0"/>
              <a:t>.</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1</a:t>
            </a:fld>
            <a:endParaRPr lang="en-US"/>
          </a:p>
        </p:txBody>
      </p:sp>
    </p:spTree>
    <p:extLst>
      <p:ext uri="{BB962C8B-B14F-4D97-AF65-F5344CB8AC3E}">
        <p14:creationId xmlns:p14="http://schemas.microsoft.com/office/powerpoint/2010/main" val="2439122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R" sz="1200" b="1" dirty="0"/>
              <a:t>ES:</a:t>
            </a:r>
            <a:br>
              <a:rPr lang="es-CR" sz="1200" dirty="0"/>
            </a:br>
            <a:r>
              <a:rPr lang="es-CR" sz="1200" dirty="0"/>
              <a:t>La exposición se estructura en los siguientes apartados: en primer lugar, se describe el problema asociado al crecimiento de los datos genómicos; posteriormente, se introduce el formato FASTQ; seguidamente, se presenta la idea principal del sistema, luego se analiza el rol de los modelos de lenguaje, a continuación de este, se detalla la arquitectura propuesta, posteriormente, se explica el mecanismo de validación e integridad, y finalmente, se expone el valor técnico de la propuesta.</a:t>
            </a:r>
          </a:p>
          <a:p>
            <a:endParaRPr lang="es-CR" sz="1200" dirty="0"/>
          </a:p>
          <a:p>
            <a:r>
              <a:rPr lang="es-CR" sz="1200" b="1" dirty="0"/>
              <a:t>EN:</a:t>
            </a:r>
            <a:br>
              <a:rPr lang="es-CR" sz="1200" dirty="0"/>
            </a:br>
            <a:r>
              <a:rPr lang="es-CR" sz="1200" dirty="0"/>
              <a:t>The </a:t>
            </a:r>
            <a:r>
              <a:rPr lang="es-CR" sz="1200" dirty="0" err="1"/>
              <a:t>presentation</a:t>
            </a:r>
            <a:r>
              <a:rPr lang="es-CR" sz="1200" dirty="0"/>
              <a:t> </a:t>
            </a:r>
            <a:r>
              <a:rPr lang="es-CR" sz="1200" dirty="0" err="1"/>
              <a:t>is</a:t>
            </a:r>
            <a:r>
              <a:rPr lang="es-CR" sz="1200" dirty="0"/>
              <a:t> </a:t>
            </a:r>
            <a:r>
              <a:rPr lang="es-CR" sz="1200" dirty="0" err="1"/>
              <a:t>structured</a:t>
            </a:r>
            <a:r>
              <a:rPr lang="es-CR" sz="1200" dirty="0"/>
              <a:t> as </a:t>
            </a:r>
            <a:r>
              <a:rPr lang="es-CR" sz="1200" dirty="0" err="1"/>
              <a:t>follows</a:t>
            </a:r>
            <a:r>
              <a:rPr lang="es-CR" sz="1200" dirty="0"/>
              <a:t>: </a:t>
            </a:r>
            <a:r>
              <a:rPr lang="es-CR" sz="1200" dirty="0" err="1"/>
              <a:t>first</a:t>
            </a:r>
            <a:r>
              <a:rPr lang="es-CR" sz="1200" dirty="0"/>
              <a:t>, </a:t>
            </a:r>
            <a:r>
              <a:rPr lang="es-CR" sz="1200" dirty="0" err="1"/>
              <a:t>the</a:t>
            </a:r>
            <a:r>
              <a:rPr lang="es-CR" sz="1200" dirty="0"/>
              <a:t> </a:t>
            </a:r>
            <a:r>
              <a:rPr lang="es-CR" sz="1200" dirty="0" err="1"/>
              <a:t>problem</a:t>
            </a:r>
            <a:r>
              <a:rPr lang="es-CR" sz="1200" dirty="0"/>
              <a:t> </a:t>
            </a:r>
            <a:r>
              <a:rPr lang="es-CR" sz="1200" dirty="0" err="1"/>
              <a:t>related</a:t>
            </a:r>
            <a:r>
              <a:rPr lang="es-CR" sz="1200" dirty="0"/>
              <a:t> </a:t>
            </a:r>
            <a:r>
              <a:rPr lang="es-CR" sz="1200" dirty="0" err="1"/>
              <a:t>to</a:t>
            </a:r>
            <a:r>
              <a:rPr lang="es-CR" sz="1200" dirty="0"/>
              <a:t> </a:t>
            </a:r>
            <a:r>
              <a:rPr lang="es-CR" sz="1200" dirty="0" err="1"/>
              <a:t>genomic</a:t>
            </a:r>
            <a:r>
              <a:rPr lang="es-CR" sz="1200" dirty="0"/>
              <a:t> data </a:t>
            </a:r>
            <a:r>
              <a:rPr lang="es-CR" sz="1200" dirty="0" err="1"/>
              <a:t>growth</a:t>
            </a:r>
            <a:r>
              <a:rPr lang="es-CR" sz="1200" dirty="0"/>
              <a:t> </a:t>
            </a:r>
            <a:r>
              <a:rPr lang="es-CR" sz="1200" dirty="0" err="1"/>
              <a:t>is</a:t>
            </a:r>
            <a:r>
              <a:rPr lang="es-CR" sz="1200" dirty="0"/>
              <a:t> </a:t>
            </a:r>
            <a:r>
              <a:rPr lang="es-CR" sz="1200" dirty="0" err="1"/>
              <a:t>described</a:t>
            </a:r>
            <a:r>
              <a:rPr lang="es-CR" sz="1200" dirty="0"/>
              <a:t>, </a:t>
            </a:r>
            <a:r>
              <a:rPr lang="es-CR" sz="1200" dirty="0" err="1"/>
              <a:t>then</a:t>
            </a:r>
            <a:r>
              <a:rPr lang="es-CR" sz="1200" dirty="0"/>
              <a:t>, </a:t>
            </a:r>
            <a:r>
              <a:rPr lang="es-CR" sz="1200" dirty="0" err="1"/>
              <a:t>the</a:t>
            </a:r>
            <a:r>
              <a:rPr lang="es-CR" sz="1200" dirty="0"/>
              <a:t> FASTQ </a:t>
            </a:r>
            <a:r>
              <a:rPr lang="es-CR" sz="1200" dirty="0" err="1"/>
              <a:t>format</a:t>
            </a:r>
            <a:r>
              <a:rPr lang="es-CR" sz="1200" dirty="0"/>
              <a:t> </a:t>
            </a:r>
            <a:r>
              <a:rPr lang="es-CR" sz="1200" dirty="0" err="1"/>
              <a:t>is</a:t>
            </a:r>
            <a:r>
              <a:rPr lang="es-CR" sz="1200" dirty="0"/>
              <a:t> </a:t>
            </a:r>
            <a:r>
              <a:rPr lang="es-CR" sz="1200" dirty="0" err="1"/>
              <a:t>introduced</a:t>
            </a:r>
            <a:r>
              <a:rPr lang="es-CR" sz="1200" dirty="0"/>
              <a:t>, </a:t>
            </a:r>
            <a:r>
              <a:rPr lang="es-CR" sz="1200" dirty="0" err="1"/>
              <a:t>next</a:t>
            </a:r>
            <a:r>
              <a:rPr lang="es-CR" sz="1200" dirty="0"/>
              <a:t>, </a:t>
            </a:r>
            <a:r>
              <a:rPr lang="es-CR" sz="1200" dirty="0" err="1"/>
              <a:t>the</a:t>
            </a:r>
            <a:r>
              <a:rPr lang="es-CR" sz="1200" dirty="0"/>
              <a:t> </a:t>
            </a:r>
            <a:r>
              <a:rPr lang="es-CR" sz="1200" dirty="0" err="1"/>
              <a:t>core</a:t>
            </a:r>
            <a:r>
              <a:rPr lang="es-CR" sz="1200" dirty="0"/>
              <a:t> idea </a:t>
            </a:r>
            <a:r>
              <a:rPr lang="es-CR" sz="1200" dirty="0" err="1"/>
              <a:t>of</a:t>
            </a:r>
            <a:r>
              <a:rPr lang="es-CR" sz="1200" dirty="0"/>
              <a:t> </a:t>
            </a:r>
            <a:r>
              <a:rPr lang="es-CR" sz="1200" dirty="0" err="1"/>
              <a:t>the</a:t>
            </a:r>
            <a:r>
              <a:rPr lang="es-CR" sz="1200" dirty="0"/>
              <a:t> </a:t>
            </a:r>
            <a:r>
              <a:rPr lang="es-CR" sz="1200" dirty="0" err="1"/>
              <a:t>system</a:t>
            </a:r>
            <a:r>
              <a:rPr lang="es-CR" sz="1200" dirty="0"/>
              <a:t> </a:t>
            </a:r>
            <a:r>
              <a:rPr lang="es-CR" sz="1200" dirty="0" err="1"/>
              <a:t>is</a:t>
            </a:r>
            <a:r>
              <a:rPr lang="es-CR" sz="1200" dirty="0"/>
              <a:t> </a:t>
            </a:r>
            <a:r>
              <a:rPr lang="es-CR" sz="1200" dirty="0" err="1"/>
              <a:t>presented</a:t>
            </a:r>
            <a:r>
              <a:rPr lang="es-CR" sz="1200" dirty="0"/>
              <a:t>,</a:t>
            </a:r>
            <a:r>
              <a:rPr lang="es-CR" sz="1200"/>
              <a:t> </a:t>
            </a:r>
            <a:r>
              <a:rPr lang="es-CR" sz="1200" dirty="0" err="1"/>
              <a:t>afterward</a:t>
            </a:r>
            <a:r>
              <a:rPr lang="es-CR" sz="1200" dirty="0"/>
              <a:t>, </a:t>
            </a:r>
            <a:r>
              <a:rPr lang="es-CR" sz="1200" dirty="0" err="1"/>
              <a:t>the</a:t>
            </a:r>
            <a:r>
              <a:rPr lang="es-CR" sz="1200" dirty="0"/>
              <a:t> role </a:t>
            </a:r>
            <a:r>
              <a:rPr lang="es-CR" sz="1200" dirty="0" err="1"/>
              <a:t>of</a:t>
            </a:r>
            <a:r>
              <a:rPr lang="es-CR" sz="1200" dirty="0"/>
              <a:t> </a:t>
            </a:r>
            <a:r>
              <a:rPr lang="es-CR" sz="1200" dirty="0" err="1"/>
              <a:t>language</a:t>
            </a:r>
            <a:r>
              <a:rPr lang="es-CR" sz="1200" dirty="0"/>
              <a:t> </a:t>
            </a:r>
            <a:r>
              <a:rPr lang="es-CR" sz="1200" dirty="0" err="1"/>
              <a:t>models</a:t>
            </a:r>
            <a:r>
              <a:rPr lang="es-CR" sz="1200" dirty="0"/>
              <a:t> </a:t>
            </a:r>
            <a:r>
              <a:rPr lang="es-CR" sz="1200" dirty="0" err="1"/>
              <a:t>is</a:t>
            </a:r>
            <a:r>
              <a:rPr lang="es-CR" sz="1200" dirty="0"/>
              <a:t> </a:t>
            </a:r>
            <a:r>
              <a:rPr lang="es-CR" sz="1200" dirty="0" err="1"/>
              <a:t>analyzed</a:t>
            </a:r>
            <a:r>
              <a:rPr lang="es-CR" sz="1200" dirty="0"/>
              <a:t>, </a:t>
            </a:r>
            <a:r>
              <a:rPr lang="es-CR" sz="1200" dirty="0" err="1"/>
              <a:t>the</a:t>
            </a:r>
            <a:r>
              <a:rPr lang="es-CR" sz="1200" dirty="0"/>
              <a:t> </a:t>
            </a:r>
            <a:r>
              <a:rPr lang="es-CR" sz="1200" dirty="0" err="1"/>
              <a:t>proposed</a:t>
            </a:r>
            <a:r>
              <a:rPr lang="es-CR" sz="1200" dirty="0"/>
              <a:t> </a:t>
            </a:r>
            <a:r>
              <a:rPr lang="es-CR" sz="1200" dirty="0" err="1"/>
              <a:t>architecture</a:t>
            </a:r>
            <a:r>
              <a:rPr lang="es-CR" sz="1200" dirty="0"/>
              <a:t> </a:t>
            </a:r>
            <a:r>
              <a:rPr lang="es-CR" sz="1200" dirty="0" err="1"/>
              <a:t>is</a:t>
            </a:r>
            <a:r>
              <a:rPr lang="es-CR" sz="1200" dirty="0"/>
              <a:t> </a:t>
            </a:r>
            <a:r>
              <a:rPr lang="es-CR" sz="1200" dirty="0" err="1"/>
              <a:t>then</a:t>
            </a:r>
            <a:r>
              <a:rPr lang="es-CR" sz="1200" dirty="0"/>
              <a:t> </a:t>
            </a:r>
            <a:r>
              <a:rPr lang="es-CR" sz="1200" dirty="0" err="1"/>
              <a:t>detailed</a:t>
            </a:r>
            <a:r>
              <a:rPr lang="es-CR" sz="1200" dirty="0"/>
              <a:t>, </a:t>
            </a:r>
            <a:r>
              <a:rPr lang="es-CR" sz="1200" dirty="0" err="1"/>
              <a:t>followed</a:t>
            </a:r>
            <a:r>
              <a:rPr lang="es-CR" sz="1200" dirty="0"/>
              <a:t> </a:t>
            </a:r>
            <a:r>
              <a:rPr lang="es-CR" sz="1200" dirty="0" err="1"/>
              <a:t>by</a:t>
            </a:r>
            <a:r>
              <a:rPr lang="es-CR" sz="1200" dirty="0"/>
              <a:t> </a:t>
            </a:r>
            <a:r>
              <a:rPr lang="es-CR" sz="1200" dirty="0" err="1"/>
              <a:t>the</a:t>
            </a:r>
            <a:r>
              <a:rPr lang="es-CR" sz="1200" dirty="0"/>
              <a:t> </a:t>
            </a:r>
            <a:r>
              <a:rPr lang="es-CR" sz="1200" dirty="0" err="1"/>
              <a:t>validation</a:t>
            </a:r>
            <a:r>
              <a:rPr lang="es-CR" sz="1200" dirty="0"/>
              <a:t> and </a:t>
            </a:r>
            <a:r>
              <a:rPr lang="es-CR" sz="1200" dirty="0" err="1"/>
              <a:t>integrity</a:t>
            </a:r>
            <a:r>
              <a:rPr lang="es-CR" sz="1200" dirty="0"/>
              <a:t> </a:t>
            </a:r>
            <a:r>
              <a:rPr lang="es-CR" sz="1200" dirty="0" err="1"/>
              <a:t>mechanisms</a:t>
            </a:r>
            <a:r>
              <a:rPr lang="es-CR" sz="1200" dirty="0"/>
              <a:t>, and </a:t>
            </a:r>
            <a:r>
              <a:rPr lang="es-CR" sz="1200" dirty="0" err="1"/>
              <a:t>finally</a:t>
            </a:r>
            <a:r>
              <a:rPr lang="es-CR" sz="1200" dirty="0"/>
              <a:t>, </a:t>
            </a:r>
            <a:r>
              <a:rPr lang="es-CR" sz="1200" dirty="0" err="1"/>
              <a:t>the</a:t>
            </a:r>
            <a:r>
              <a:rPr lang="es-CR" sz="1200" dirty="0"/>
              <a:t> </a:t>
            </a:r>
            <a:r>
              <a:rPr lang="es-CR" sz="1200" dirty="0" err="1"/>
              <a:t>technical</a:t>
            </a:r>
            <a:r>
              <a:rPr lang="es-CR" sz="1200" dirty="0"/>
              <a:t> </a:t>
            </a:r>
            <a:r>
              <a:rPr lang="es-CR" sz="1200" dirty="0" err="1"/>
              <a:t>value</a:t>
            </a:r>
            <a:r>
              <a:rPr lang="es-CR" sz="1200" dirty="0"/>
              <a:t> </a:t>
            </a:r>
            <a:r>
              <a:rPr lang="es-CR" sz="1200" dirty="0" err="1"/>
              <a:t>of</a:t>
            </a:r>
            <a:r>
              <a:rPr lang="es-CR" sz="1200" dirty="0"/>
              <a:t> </a:t>
            </a:r>
            <a:r>
              <a:rPr lang="es-CR" sz="1200" dirty="0" err="1"/>
              <a:t>the</a:t>
            </a:r>
            <a:r>
              <a:rPr lang="es-CR" sz="1200" dirty="0"/>
              <a:t> </a:t>
            </a:r>
            <a:r>
              <a:rPr lang="es-CR" sz="1200" dirty="0" err="1"/>
              <a:t>proposal</a:t>
            </a:r>
            <a:r>
              <a:rPr lang="es-CR" sz="1200" dirty="0"/>
              <a:t> </a:t>
            </a:r>
            <a:r>
              <a:rPr lang="es-CR" sz="1200" dirty="0" err="1"/>
              <a:t>is</a:t>
            </a:r>
            <a:r>
              <a:rPr lang="es-CR" sz="1200" dirty="0"/>
              <a:t> </a:t>
            </a:r>
            <a:r>
              <a:rPr lang="es-CR" sz="1200" dirty="0" err="1"/>
              <a:t>discussed</a:t>
            </a:r>
            <a:r>
              <a:rPr lang="es-CR" sz="1200" dirty="0"/>
              <a:t>.</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2</a:t>
            </a:fld>
            <a:endParaRPr lang="en-US"/>
          </a:p>
        </p:txBody>
      </p:sp>
    </p:spTree>
    <p:extLst>
      <p:ext uri="{BB962C8B-B14F-4D97-AF65-F5344CB8AC3E}">
        <p14:creationId xmlns:p14="http://schemas.microsoft.com/office/powerpoint/2010/main" val="170677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R" b="1" dirty="0"/>
              <a:t>ES:</a:t>
            </a:r>
            <a:br>
              <a:rPr lang="es-CR" dirty="0"/>
            </a:br>
            <a:r>
              <a:rPr lang="es-CR" dirty="0"/>
              <a:t>En el contexto actual de la bioinformática, los archivos FASTQ experimentan un crecimiento acelerado debido a los avances en tecnologías de secuenciación. Este incremento conlleva importantes desafíos en términos de almacenamiento y transferencia de datos. Adicionalmente, estos archivos presentan una alta redundancia estructural, derivada de la repetición de patrones en las secuencias de ADN. Sin embargo, los métodos tradicionales de compresión, si bien reducen el tamaño, carecen de mecanismos que permitan interpretar la naturaleza de la información comprimida.</a:t>
            </a:r>
          </a:p>
          <a:p>
            <a:r>
              <a:rPr lang="es-CR" b="1" dirty="0"/>
              <a:t>EN:</a:t>
            </a:r>
            <a:br>
              <a:rPr lang="es-CR" dirty="0"/>
            </a:br>
            <a:r>
              <a:rPr lang="es-CR" dirty="0"/>
              <a:t>In </a:t>
            </a:r>
            <a:r>
              <a:rPr lang="es-CR" dirty="0" err="1"/>
              <a:t>the</a:t>
            </a:r>
            <a:r>
              <a:rPr lang="es-CR" dirty="0"/>
              <a:t> </a:t>
            </a:r>
            <a:r>
              <a:rPr lang="es-CR" dirty="0" err="1"/>
              <a:t>current</a:t>
            </a:r>
            <a:r>
              <a:rPr lang="es-CR" dirty="0"/>
              <a:t> </a:t>
            </a:r>
            <a:r>
              <a:rPr lang="es-CR" dirty="0" err="1"/>
              <a:t>bioinformatics</a:t>
            </a:r>
            <a:r>
              <a:rPr lang="es-CR" dirty="0"/>
              <a:t> </a:t>
            </a:r>
            <a:r>
              <a:rPr lang="es-CR" dirty="0" err="1"/>
              <a:t>context</a:t>
            </a:r>
            <a:r>
              <a:rPr lang="es-CR" dirty="0"/>
              <a:t>, FASTQ files are </a:t>
            </a:r>
            <a:r>
              <a:rPr lang="es-CR" dirty="0" err="1"/>
              <a:t>experiencing</a:t>
            </a:r>
            <a:r>
              <a:rPr lang="es-CR" dirty="0"/>
              <a:t> </a:t>
            </a:r>
            <a:r>
              <a:rPr lang="es-CR" dirty="0" err="1"/>
              <a:t>rapid</a:t>
            </a:r>
            <a:r>
              <a:rPr lang="es-CR" dirty="0"/>
              <a:t> </a:t>
            </a:r>
            <a:r>
              <a:rPr lang="es-CR" dirty="0" err="1"/>
              <a:t>growth</a:t>
            </a:r>
            <a:r>
              <a:rPr lang="es-CR" dirty="0"/>
              <a:t> </a:t>
            </a:r>
            <a:r>
              <a:rPr lang="es-CR" dirty="0" err="1"/>
              <a:t>due</a:t>
            </a:r>
            <a:r>
              <a:rPr lang="es-CR" dirty="0"/>
              <a:t> </a:t>
            </a:r>
            <a:r>
              <a:rPr lang="es-CR" dirty="0" err="1"/>
              <a:t>to</a:t>
            </a:r>
            <a:r>
              <a:rPr lang="es-CR" dirty="0"/>
              <a:t> </a:t>
            </a:r>
            <a:r>
              <a:rPr lang="es-CR" dirty="0" err="1"/>
              <a:t>advancements</a:t>
            </a:r>
            <a:r>
              <a:rPr lang="es-CR" dirty="0"/>
              <a:t> in </a:t>
            </a:r>
            <a:r>
              <a:rPr lang="es-CR" dirty="0" err="1"/>
              <a:t>sequencing</a:t>
            </a:r>
            <a:r>
              <a:rPr lang="es-CR" dirty="0"/>
              <a:t> </a:t>
            </a:r>
            <a:r>
              <a:rPr lang="es-CR" dirty="0" err="1"/>
              <a:t>technologies</a:t>
            </a:r>
            <a:r>
              <a:rPr lang="es-CR" dirty="0"/>
              <a:t>. </a:t>
            </a:r>
            <a:r>
              <a:rPr lang="es-CR" dirty="0" err="1"/>
              <a:t>This</a:t>
            </a:r>
            <a:r>
              <a:rPr lang="es-CR" dirty="0"/>
              <a:t> </a:t>
            </a:r>
            <a:r>
              <a:rPr lang="es-CR" dirty="0" err="1"/>
              <a:t>increase</a:t>
            </a:r>
            <a:r>
              <a:rPr lang="es-CR" dirty="0"/>
              <a:t> introduces </a:t>
            </a:r>
            <a:r>
              <a:rPr lang="es-CR" dirty="0" err="1"/>
              <a:t>significant</a:t>
            </a:r>
            <a:r>
              <a:rPr lang="es-CR" dirty="0"/>
              <a:t> </a:t>
            </a:r>
            <a:r>
              <a:rPr lang="es-CR" dirty="0" err="1"/>
              <a:t>challenges</a:t>
            </a:r>
            <a:r>
              <a:rPr lang="es-CR" dirty="0"/>
              <a:t> in </a:t>
            </a:r>
            <a:r>
              <a:rPr lang="es-CR" dirty="0" err="1"/>
              <a:t>terms</a:t>
            </a:r>
            <a:r>
              <a:rPr lang="es-CR" dirty="0"/>
              <a:t> </a:t>
            </a:r>
            <a:r>
              <a:rPr lang="es-CR" dirty="0" err="1"/>
              <a:t>of</a:t>
            </a:r>
            <a:r>
              <a:rPr lang="es-CR" dirty="0"/>
              <a:t> data </a:t>
            </a:r>
            <a:r>
              <a:rPr lang="es-CR" dirty="0" err="1"/>
              <a:t>storage</a:t>
            </a:r>
            <a:r>
              <a:rPr lang="es-CR" dirty="0"/>
              <a:t> and transfer. Additionally, </a:t>
            </a:r>
            <a:r>
              <a:rPr lang="es-CR" dirty="0" err="1"/>
              <a:t>these</a:t>
            </a:r>
            <a:r>
              <a:rPr lang="es-CR" dirty="0"/>
              <a:t> files </a:t>
            </a:r>
            <a:r>
              <a:rPr lang="es-CR" dirty="0" err="1"/>
              <a:t>exhibit</a:t>
            </a:r>
            <a:r>
              <a:rPr lang="es-CR" dirty="0"/>
              <a:t> </a:t>
            </a:r>
            <a:r>
              <a:rPr lang="es-CR" dirty="0" err="1"/>
              <a:t>high</a:t>
            </a:r>
            <a:r>
              <a:rPr lang="es-CR" dirty="0"/>
              <a:t> </a:t>
            </a:r>
            <a:r>
              <a:rPr lang="es-CR" dirty="0" err="1"/>
              <a:t>structural</a:t>
            </a:r>
            <a:r>
              <a:rPr lang="es-CR" dirty="0"/>
              <a:t> </a:t>
            </a:r>
            <a:r>
              <a:rPr lang="es-CR" dirty="0" err="1"/>
              <a:t>redundancy</a:t>
            </a:r>
            <a:r>
              <a:rPr lang="es-CR" dirty="0"/>
              <a:t>, </a:t>
            </a:r>
            <a:r>
              <a:rPr lang="es-CR" dirty="0" err="1"/>
              <a:t>derived</a:t>
            </a:r>
            <a:r>
              <a:rPr lang="es-CR" dirty="0"/>
              <a:t> </a:t>
            </a:r>
            <a:r>
              <a:rPr lang="es-CR" dirty="0" err="1"/>
              <a:t>from</a:t>
            </a:r>
            <a:r>
              <a:rPr lang="es-CR" dirty="0"/>
              <a:t> repetitive </a:t>
            </a:r>
            <a:r>
              <a:rPr lang="es-CR" dirty="0" err="1"/>
              <a:t>patterns</a:t>
            </a:r>
            <a:r>
              <a:rPr lang="es-CR" dirty="0"/>
              <a:t> in DNA </a:t>
            </a:r>
            <a:r>
              <a:rPr lang="es-CR" dirty="0" err="1"/>
              <a:t>sequences</a:t>
            </a:r>
            <a:r>
              <a:rPr lang="es-CR" dirty="0"/>
              <a:t>. </a:t>
            </a:r>
            <a:r>
              <a:rPr lang="es-CR" dirty="0" err="1"/>
              <a:t>However</a:t>
            </a:r>
            <a:r>
              <a:rPr lang="es-CR" dirty="0"/>
              <a:t>, </a:t>
            </a:r>
            <a:r>
              <a:rPr lang="es-CR" dirty="0" err="1"/>
              <a:t>traditional</a:t>
            </a:r>
            <a:r>
              <a:rPr lang="es-CR" dirty="0"/>
              <a:t> </a:t>
            </a:r>
            <a:r>
              <a:rPr lang="es-CR" dirty="0" err="1"/>
              <a:t>compression</a:t>
            </a:r>
            <a:r>
              <a:rPr lang="es-CR" dirty="0"/>
              <a:t> </a:t>
            </a:r>
            <a:r>
              <a:rPr lang="es-CR" dirty="0" err="1"/>
              <a:t>methods</a:t>
            </a:r>
            <a:r>
              <a:rPr lang="es-CR" dirty="0"/>
              <a:t>, </a:t>
            </a:r>
            <a:r>
              <a:rPr lang="es-CR" dirty="0" err="1"/>
              <a:t>although</a:t>
            </a:r>
            <a:r>
              <a:rPr lang="es-CR" dirty="0"/>
              <a:t> </a:t>
            </a:r>
            <a:r>
              <a:rPr lang="es-CR" dirty="0" err="1"/>
              <a:t>effective</a:t>
            </a:r>
            <a:r>
              <a:rPr lang="es-CR" dirty="0"/>
              <a:t> in </a:t>
            </a:r>
            <a:r>
              <a:rPr lang="es-CR" dirty="0" err="1"/>
              <a:t>reducing</a:t>
            </a:r>
            <a:r>
              <a:rPr lang="es-CR" dirty="0"/>
              <a:t> </a:t>
            </a:r>
            <a:r>
              <a:rPr lang="es-CR" dirty="0" err="1"/>
              <a:t>size</a:t>
            </a:r>
            <a:r>
              <a:rPr lang="es-CR" dirty="0"/>
              <a:t>, </a:t>
            </a:r>
            <a:r>
              <a:rPr lang="es-CR" dirty="0" err="1"/>
              <a:t>lack</a:t>
            </a:r>
            <a:r>
              <a:rPr lang="es-CR" dirty="0"/>
              <a:t> </a:t>
            </a:r>
            <a:r>
              <a:rPr lang="es-CR" dirty="0" err="1"/>
              <a:t>mechanisms</a:t>
            </a:r>
            <a:r>
              <a:rPr lang="es-CR" dirty="0"/>
              <a:t> </a:t>
            </a:r>
            <a:r>
              <a:rPr lang="es-CR" dirty="0" err="1"/>
              <a:t>to</a:t>
            </a:r>
            <a:r>
              <a:rPr lang="es-CR" dirty="0"/>
              <a:t> </a:t>
            </a:r>
            <a:r>
              <a:rPr lang="es-CR" dirty="0" err="1"/>
              <a:t>interpret</a:t>
            </a:r>
            <a:r>
              <a:rPr lang="es-CR" dirty="0"/>
              <a:t> </a:t>
            </a:r>
            <a:r>
              <a:rPr lang="es-CR" dirty="0" err="1"/>
              <a:t>the</a:t>
            </a:r>
            <a:r>
              <a:rPr lang="es-CR" dirty="0"/>
              <a:t> </a:t>
            </a:r>
            <a:r>
              <a:rPr lang="es-CR" dirty="0" err="1"/>
              <a:t>nature</a:t>
            </a:r>
            <a:r>
              <a:rPr lang="es-CR" dirty="0"/>
              <a:t> </a:t>
            </a:r>
            <a:r>
              <a:rPr lang="es-CR" dirty="0" err="1"/>
              <a:t>of</a:t>
            </a:r>
            <a:r>
              <a:rPr lang="es-CR" dirty="0"/>
              <a:t> </a:t>
            </a:r>
            <a:r>
              <a:rPr lang="es-CR" dirty="0" err="1"/>
              <a:t>the</a:t>
            </a:r>
            <a:r>
              <a:rPr lang="es-CR" dirty="0"/>
              <a:t> </a:t>
            </a:r>
            <a:r>
              <a:rPr lang="es-CR" dirty="0" err="1"/>
              <a:t>compressed</a:t>
            </a:r>
            <a:r>
              <a:rPr lang="es-CR" dirty="0"/>
              <a:t> </a:t>
            </a:r>
            <a:r>
              <a:rPr lang="es-CR" dirty="0" err="1"/>
              <a:t>information</a:t>
            </a:r>
            <a:r>
              <a:rPr lang="es-CR" dirty="0"/>
              <a:t>.</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3</a:t>
            </a:fld>
            <a:endParaRPr lang="en-US"/>
          </a:p>
        </p:txBody>
      </p:sp>
    </p:spTree>
    <p:extLst>
      <p:ext uri="{BB962C8B-B14F-4D97-AF65-F5344CB8AC3E}">
        <p14:creationId xmlns:p14="http://schemas.microsoft.com/office/powerpoint/2010/main" val="3910951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ES:</a:t>
            </a:r>
            <a:br>
              <a:rPr lang="es-MX" dirty="0"/>
            </a:br>
            <a:r>
              <a:rPr lang="es-MX" dirty="0"/>
              <a:t>El formato FASTQ es ampliamente utilizado para el almacenamiento de datos de secuenciación, ya que integra en una misma estructura el identificador de la lectura, la secuencia de ADN y los valores de calidad asociados. Desde una perspectiva de compresión, la mayor cantidad de información redundante se concentra en la secuencia, lo cual la convierte en el principal objetivo de optimización.</a:t>
            </a:r>
          </a:p>
          <a:p>
            <a:r>
              <a:rPr lang="es-MX" b="1" dirty="0"/>
              <a:t>EN:</a:t>
            </a:r>
            <a:br>
              <a:rPr lang="es-MX" dirty="0"/>
            </a:br>
            <a:r>
              <a:rPr lang="es-MX" dirty="0"/>
              <a:t>The FASTQ </a:t>
            </a:r>
            <a:r>
              <a:rPr lang="es-MX" dirty="0" err="1"/>
              <a:t>format</a:t>
            </a:r>
            <a:r>
              <a:rPr lang="es-MX" dirty="0"/>
              <a:t> </a:t>
            </a:r>
            <a:r>
              <a:rPr lang="es-MX" dirty="0" err="1"/>
              <a:t>is</a:t>
            </a:r>
            <a:r>
              <a:rPr lang="es-MX" dirty="0"/>
              <a:t> </a:t>
            </a:r>
            <a:r>
              <a:rPr lang="es-MX" dirty="0" err="1"/>
              <a:t>widely</a:t>
            </a:r>
            <a:r>
              <a:rPr lang="es-MX" dirty="0"/>
              <a:t> </a:t>
            </a:r>
            <a:r>
              <a:rPr lang="es-MX" dirty="0" err="1"/>
              <a:t>used</a:t>
            </a:r>
            <a:r>
              <a:rPr lang="es-MX" dirty="0"/>
              <a:t> </a:t>
            </a:r>
            <a:r>
              <a:rPr lang="es-MX" dirty="0" err="1"/>
              <a:t>for</a:t>
            </a:r>
            <a:r>
              <a:rPr lang="es-MX" dirty="0"/>
              <a:t> </a:t>
            </a:r>
            <a:r>
              <a:rPr lang="es-MX" dirty="0" err="1"/>
              <a:t>storing</a:t>
            </a:r>
            <a:r>
              <a:rPr lang="es-MX" dirty="0"/>
              <a:t> </a:t>
            </a:r>
            <a:r>
              <a:rPr lang="es-MX" dirty="0" err="1"/>
              <a:t>sequencing</a:t>
            </a:r>
            <a:r>
              <a:rPr lang="es-MX" dirty="0"/>
              <a:t> data, as </a:t>
            </a:r>
            <a:r>
              <a:rPr lang="es-MX" dirty="0" err="1"/>
              <a:t>it</a:t>
            </a:r>
            <a:r>
              <a:rPr lang="es-MX" dirty="0"/>
              <a:t> </a:t>
            </a:r>
            <a:r>
              <a:rPr lang="es-MX" dirty="0" err="1"/>
              <a:t>integrates</a:t>
            </a:r>
            <a:r>
              <a:rPr lang="es-MX" dirty="0"/>
              <a:t> </a:t>
            </a:r>
            <a:r>
              <a:rPr lang="es-MX" dirty="0" err="1"/>
              <a:t>the</a:t>
            </a:r>
            <a:r>
              <a:rPr lang="es-MX" dirty="0"/>
              <a:t> </a:t>
            </a:r>
            <a:r>
              <a:rPr lang="es-MX" dirty="0" err="1"/>
              <a:t>read</a:t>
            </a:r>
            <a:r>
              <a:rPr lang="es-MX" dirty="0"/>
              <a:t> </a:t>
            </a:r>
            <a:r>
              <a:rPr lang="es-MX" dirty="0" err="1"/>
              <a:t>identifier</a:t>
            </a:r>
            <a:r>
              <a:rPr lang="es-MX" dirty="0"/>
              <a:t>, </a:t>
            </a:r>
            <a:r>
              <a:rPr lang="es-MX" dirty="0" err="1"/>
              <a:t>the</a:t>
            </a:r>
            <a:r>
              <a:rPr lang="es-MX" dirty="0"/>
              <a:t> DNA </a:t>
            </a:r>
            <a:r>
              <a:rPr lang="es-MX" dirty="0" err="1"/>
              <a:t>sequence</a:t>
            </a:r>
            <a:r>
              <a:rPr lang="es-MX" dirty="0"/>
              <a:t>, and </a:t>
            </a:r>
            <a:r>
              <a:rPr lang="es-MX" dirty="0" err="1"/>
              <a:t>associated</a:t>
            </a:r>
            <a:r>
              <a:rPr lang="es-MX" dirty="0"/>
              <a:t> </a:t>
            </a:r>
            <a:r>
              <a:rPr lang="es-MX" dirty="0" err="1"/>
              <a:t>quality</a:t>
            </a:r>
            <a:r>
              <a:rPr lang="es-MX" dirty="0"/>
              <a:t> scores </a:t>
            </a:r>
            <a:r>
              <a:rPr lang="es-MX" dirty="0" err="1"/>
              <a:t>within</a:t>
            </a:r>
            <a:r>
              <a:rPr lang="es-MX" dirty="0"/>
              <a:t> a single </a:t>
            </a:r>
            <a:r>
              <a:rPr lang="es-MX" dirty="0" err="1"/>
              <a:t>structure</a:t>
            </a:r>
            <a:r>
              <a:rPr lang="es-MX" dirty="0"/>
              <a:t>. From a </a:t>
            </a:r>
            <a:r>
              <a:rPr lang="es-MX" dirty="0" err="1"/>
              <a:t>compression</a:t>
            </a:r>
            <a:r>
              <a:rPr lang="es-MX" dirty="0"/>
              <a:t> </a:t>
            </a:r>
            <a:r>
              <a:rPr lang="es-MX" dirty="0" err="1"/>
              <a:t>perspective</a:t>
            </a:r>
            <a:r>
              <a:rPr lang="es-MX" dirty="0"/>
              <a:t>, </a:t>
            </a:r>
            <a:r>
              <a:rPr lang="es-MX" dirty="0" err="1"/>
              <a:t>most</a:t>
            </a:r>
            <a:r>
              <a:rPr lang="es-MX" dirty="0"/>
              <a:t> </a:t>
            </a:r>
            <a:r>
              <a:rPr lang="es-MX" dirty="0" err="1"/>
              <a:t>redundancy</a:t>
            </a:r>
            <a:r>
              <a:rPr lang="es-MX" dirty="0"/>
              <a:t> </a:t>
            </a:r>
            <a:r>
              <a:rPr lang="es-MX" dirty="0" err="1"/>
              <a:t>is</a:t>
            </a:r>
            <a:r>
              <a:rPr lang="es-MX" dirty="0"/>
              <a:t> </a:t>
            </a:r>
            <a:r>
              <a:rPr lang="es-MX" dirty="0" err="1"/>
              <a:t>concentrated</a:t>
            </a:r>
            <a:r>
              <a:rPr lang="es-MX" dirty="0"/>
              <a:t> in </a:t>
            </a:r>
            <a:r>
              <a:rPr lang="es-MX" dirty="0" err="1"/>
              <a:t>the</a:t>
            </a:r>
            <a:r>
              <a:rPr lang="es-MX" dirty="0"/>
              <a:t> </a:t>
            </a:r>
            <a:r>
              <a:rPr lang="es-MX" dirty="0" err="1"/>
              <a:t>sequence</a:t>
            </a:r>
            <a:r>
              <a:rPr lang="es-MX" dirty="0"/>
              <a:t>, </a:t>
            </a:r>
            <a:r>
              <a:rPr lang="es-MX" dirty="0" err="1"/>
              <a:t>making</a:t>
            </a:r>
            <a:r>
              <a:rPr lang="es-MX" dirty="0"/>
              <a:t> </a:t>
            </a:r>
            <a:r>
              <a:rPr lang="es-MX" dirty="0" err="1"/>
              <a:t>it</a:t>
            </a:r>
            <a:r>
              <a:rPr lang="es-MX" dirty="0"/>
              <a:t> </a:t>
            </a:r>
            <a:r>
              <a:rPr lang="es-MX" dirty="0" err="1"/>
              <a:t>the</a:t>
            </a:r>
            <a:r>
              <a:rPr lang="es-MX" dirty="0"/>
              <a:t> </a:t>
            </a:r>
            <a:r>
              <a:rPr lang="es-MX" dirty="0" err="1"/>
              <a:t>primary</a:t>
            </a:r>
            <a:r>
              <a:rPr lang="es-MX" dirty="0"/>
              <a:t> target </a:t>
            </a:r>
            <a:r>
              <a:rPr lang="es-MX" dirty="0" err="1"/>
              <a:t>for</a:t>
            </a:r>
            <a:r>
              <a:rPr lang="es-MX" dirty="0"/>
              <a:t> </a:t>
            </a:r>
            <a:r>
              <a:rPr lang="es-MX" dirty="0" err="1"/>
              <a:t>optimization</a:t>
            </a:r>
            <a:r>
              <a:rPr lang="es-MX" dirty="0"/>
              <a:t>.</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4</a:t>
            </a:fld>
            <a:endParaRPr lang="en-US"/>
          </a:p>
        </p:txBody>
      </p:sp>
    </p:spTree>
    <p:extLst>
      <p:ext uri="{BB962C8B-B14F-4D97-AF65-F5344CB8AC3E}">
        <p14:creationId xmlns:p14="http://schemas.microsoft.com/office/powerpoint/2010/main" val="2338655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R" b="1" dirty="0"/>
              <a:t>ES:</a:t>
            </a:r>
            <a:br>
              <a:rPr lang="es-CR" dirty="0"/>
            </a:br>
            <a:r>
              <a:rPr lang="es-CR" dirty="0"/>
              <a:t>La propuesta central de este trabajo consiste en identificar patrones repetitivos dentro de las secuencias de ADN y reemplazarlos por representaciones más compactas, denominadas tokens. Estos patrones se almacenan en un diccionario estructurado, lo que permite establecer un mecanismo de compresión reversible basado en sustitución controlada.</a:t>
            </a:r>
          </a:p>
          <a:p>
            <a:endParaRPr lang="es-CR" dirty="0"/>
          </a:p>
          <a:p>
            <a:r>
              <a:rPr lang="es-CR" b="1" dirty="0"/>
              <a:t>EN:</a:t>
            </a:r>
            <a:br>
              <a:rPr lang="es-CR" dirty="0"/>
            </a:br>
            <a:r>
              <a:rPr lang="es-CR" dirty="0"/>
              <a:t>The </a:t>
            </a:r>
            <a:r>
              <a:rPr lang="es-CR" dirty="0" err="1"/>
              <a:t>core</a:t>
            </a:r>
            <a:r>
              <a:rPr lang="es-CR" dirty="0"/>
              <a:t> </a:t>
            </a:r>
            <a:r>
              <a:rPr lang="es-CR" dirty="0" err="1"/>
              <a:t>proposal</a:t>
            </a:r>
            <a:r>
              <a:rPr lang="es-CR" dirty="0"/>
              <a:t> </a:t>
            </a:r>
            <a:r>
              <a:rPr lang="es-CR" dirty="0" err="1"/>
              <a:t>of</a:t>
            </a:r>
            <a:r>
              <a:rPr lang="es-CR" dirty="0"/>
              <a:t> </a:t>
            </a:r>
            <a:r>
              <a:rPr lang="es-CR" dirty="0" err="1"/>
              <a:t>this</a:t>
            </a:r>
            <a:r>
              <a:rPr lang="es-CR" dirty="0"/>
              <a:t> </a:t>
            </a:r>
            <a:r>
              <a:rPr lang="es-CR" dirty="0" err="1"/>
              <a:t>work</a:t>
            </a:r>
            <a:r>
              <a:rPr lang="es-CR" dirty="0"/>
              <a:t> </a:t>
            </a:r>
            <a:r>
              <a:rPr lang="es-CR" dirty="0" err="1"/>
              <a:t>consists</a:t>
            </a:r>
            <a:r>
              <a:rPr lang="es-CR" dirty="0"/>
              <a:t> </a:t>
            </a:r>
            <a:r>
              <a:rPr lang="es-CR" dirty="0" err="1"/>
              <a:t>of</a:t>
            </a:r>
            <a:r>
              <a:rPr lang="es-CR" dirty="0"/>
              <a:t> </a:t>
            </a:r>
            <a:r>
              <a:rPr lang="es-CR" dirty="0" err="1"/>
              <a:t>identifying</a:t>
            </a:r>
            <a:r>
              <a:rPr lang="es-CR" dirty="0"/>
              <a:t> repetitive </a:t>
            </a:r>
            <a:r>
              <a:rPr lang="es-CR" dirty="0" err="1"/>
              <a:t>patterns</a:t>
            </a:r>
            <a:r>
              <a:rPr lang="es-CR" dirty="0"/>
              <a:t> </a:t>
            </a:r>
            <a:r>
              <a:rPr lang="es-CR" dirty="0" err="1"/>
              <a:t>within</a:t>
            </a:r>
            <a:r>
              <a:rPr lang="es-CR" dirty="0"/>
              <a:t> DNA </a:t>
            </a:r>
            <a:r>
              <a:rPr lang="es-CR" dirty="0" err="1"/>
              <a:t>sequences</a:t>
            </a:r>
            <a:r>
              <a:rPr lang="es-CR" dirty="0"/>
              <a:t> and </a:t>
            </a:r>
            <a:r>
              <a:rPr lang="es-CR" dirty="0" err="1"/>
              <a:t>replacing</a:t>
            </a:r>
            <a:r>
              <a:rPr lang="es-CR" dirty="0"/>
              <a:t> </a:t>
            </a:r>
            <a:r>
              <a:rPr lang="es-CR" dirty="0" err="1"/>
              <a:t>them</a:t>
            </a:r>
            <a:r>
              <a:rPr lang="es-CR" dirty="0"/>
              <a:t> </a:t>
            </a:r>
            <a:r>
              <a:rPr lang="es-CR" dirty="0" err="1"/>
              <a:t>with</a:t>
            </a:r>
            <a:r>
              <a:rPr lang="es-CR" dirty="0"/>
              <a:t> more compact </a:t>
            </a:r>
            <a:r>
              <a:rPr lang="es-CR" dirty="0" err="1"/>
              <a:t>representations</a:t>
            </a:r>
            <a:r>
              <a:rPr lang="es-CR" dirty="0"/>
              <a:t>, </a:t>
            </a:r>
            <a:r>
              <a:rPr lang="es-CR" dirty="0" err="1"/>
              <a:t>referred</a:t>
            </a:r>
            <a:r>
              <a:rPr lang="es-CR" dirty="0"/>
              <a:t> </a:t>
            </a:r>
            <a:r>
              <a:rPr lang="es-CR" dirty="0" err="1"/>
              <a:t>to</a:t>
            </a:r>
            <a:r>
              <a:rPr lang="es-CR" dirty="0"/>
              <a:t> as tokens. </a:t>
            </a:r>
            <a:r>
              <a:rPr lang="es-CR" dirty="0" err="1"/>
              <a:t>These</a:t>
            </a:r>
            <a:r>
              <a:rPr lang="es-CR" dirty="0"/>
              <a:t> </a:t>
            </a:r>
            <a:r>
              <a:rPr lang="es-CR" dirty="0" err="1"/>
              <a:t>patterns</a:t>
            </a:r>
            <a:r>
              <a:rPr lang="es-CR" dirty="0"/>
              <a:t> are </a:t>
            </a:r>
            <a:r>
              <a:rPr lang="es-CR" dirty="0" err="1"/>
              <a:t>stored</a:t>
            </a:r>
            <a:r>
              <a:rPr lang="es-CR" dirty="0"/>
              <a:t> in a </a:t>
            </a:r>
            <a:r>
              <a:rPr lang="es-CR" dirty="0" err="1"/>
              <a:t>structured</a:t>
            </a:r>
            <a:r>
              <a:rPr lang="es-CR" dirty="0"/>
              <a:t> </a:t>
            </a:r>
            <a:r>
              <a:rPr lang="es-CR" dirty="0" err="1"/>
              <a:t>dictionary</a:t>
            </a:r>
            <a:r>
              <a:rPr lang="es-CR" dirty="0"/>
              <a:t>, </a:t>
            </a:r>
            <a:r>
              <a:rPr lang="es-CR" dirty="0" err="1"/>
              <a:t>enabling</a:t>
            </a:r>
            <a:r>
              <a:rPr lang="es-CR" dirty="0"/>
              <a:t> a reversible </a:t>
            </a:r>
            <a:r>
              <a:rPr lang="es-CR" dirty="0" err="1"/>
              <a:t>compression</a:t>
            </a:r>
            <a:r>
              <a:rPr lang="es-CR" dirty="0"/>
              <a:t> </a:t>
            </a:r>
            <a:r>
              <a:rPr lang="es-CR" dirty="0" err="1"/>
              <a:t>mechanism</a:t>
            </a:r>
            <a:r>
              <a:rPr lang="es-CR" dirty="0"/>
              <a:t> </a:t>
            </a:r>
            <a:r>
              <a:rPr lang="es-CR" dirty="0" err="1"/>
              <a:t>based</a:t>
            </a:r>
            <a:r>
              <a:rPr lang="es-CR" dirty="0"/>
              <a:t> </a:t>
            </a:r>
            <a:r>
              <a:rPr lang="es-CR" dirty="0" err="1"/>
              <a:t>on</a:t>
            </a:r>
            <a:r>
              <a:rPr lang="es-CR" dirty="0"/>
              <a:t> </a:t>
            </a:r>
            <a:r>
              <a:rPr lang="es-CR" dirty="0" err="1"/>
              <a:t>controlled</a:t>
            </a:r>
            <a:r>
              <a:rPr lang="es-CR" dirty="0"/>
              <a:t> </a:t>
            </a:r>
            <a:r>
              <a:rPr lang="es-CR" dirty="0" err="1"/>
              <a:t>substitution</a:t>
            </a:r>
            <a:r>
              <a:rPr lang="es-CR" dirty="0"/>
              <a:t>.</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5</a:t>
            </a:fld>
            <a:endParaRPr lang="en-US"/>
          </a:p>
        </p:txBody>
      </p:sp>
    </p:spTree>
    <p:extLst>
      <p:ext uri="{BB962C8B-B14F-4D97-AF65-F5344CB8AC3E}">
        <p14:creationId xmlns:p14="http://schemas.microsoft.com/office/powerpoint/2010/main" val="1162916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ES:</a:t>
            </a:r>
            <a:br>
              <a:rPr lang="es-MX" dirty="0"/>
            </a:br>
            <a:r>
              <a:rPr lang="es-MX" dirty="0"/>
              <a:t>Como ejemplo, una secuencia repetitiva puede ser sustituida por un token específico, el cual se registra en un diccionario. Este enfoque permite no solo reducir el tamaño de los datos, sino también garantizar la reconstrucción exacta de la información original.</a:t>
            </a:r>
          </a:p>
          <a:p>
            <a:endParaRPr lang="es-MX" dirty="0"/>
          </a:p>
          <a:p>
            <a:r>
              <a:rPr lang="es-MX" b="1" dirty="0"/>
              <a:t>EN:</a:t>
            </a:r>
            <a:br>
              <a:rPr lang="es-MX" dirty="0"/>
            </a:br>
            <a:r>
              <a:rPr lang="es-MX" dirty="0"/>
              <a:t>As </a:t>
            </a:r>
            <a:r>
              <a:rPr lang="es-MX" dirty="0" err="1"/>
              <a:t>an</a:t>
            </a:r>
            <a:r>
              <a:rPr lang="es-MX" dirty="0"/>
              <a:t> </a:t>
            </a:r>
            <a:r>
              <a:rPr lang="es-MX" dirty="0" err="1"/>
              <a:t>example</a:t>
            </a:r>
            <a:r>
              <a:rPr lang="es-MX" dirty="0"/>
              <a:t>, a repetitive </a:t>
            </a:r>
            <a:r>
              <a:rPr lang="es-MX" dirty="0" err="1"/>
              <a:t>sequence</a:t>
            </a:r>
            <a:r>
              <a:rPr lang="es-MX" dirty="0"/>
              <a:t> can be </a:t>
            </a:r>
            <a:r>
              <a:rPr lang="es-MX" dirty="0" err="1"/>
              <a:t>replaced</a:t>
            </a:r>
            <a:r>
              <a:rPr lang="es-MX" dirty="0"/>
              <a:t> </a:t>
            </a:r>
            <a:r>
              <a:rPr lang="es-MX" dirty="0" err="1"/>
              <a:t>by</a:t>
            </a:r>
            <a:r>
              <a:rPr lang="es-MX" dirty="0"/>
              <a:t> a </a:t>
            </a:r>
            <a:r>
              <a:rPr lang="es-MX" dirty="0" err="1"/>
              <a:t>specific</a:t>
            </a:r>
            <a:r>
              <a:rPr lang="es-MX" dirty="0"/>
              <a:t> token, </a:t>
            </a:r>
            <a:r>
              <a:rPr lang="es-MX" dirty="0" err="1"/>
              <a:t>which</a:t>
            </a:r>
            <a:r>
              <a:rPr lang="es-MX" dirty="0"/>
              <a:t> </a:t>
            </a:r>
            <a:r>
              <a:rPr lang="es-MX" dirty="0" err="1"/>
              <a:t>is</a:t>
            </a:r>
            <a:r>
              <a:rPr lang="es-MX" dirty="0"/>
              <a:t> </a:t>
            </a:r>
            <a:r>
              <a:rPr lang="es-MX" dirty="0" err="1"/>
              <a:t>then</a:t>
            </a:r>
            <a:r>
              <a:rPr lang="es-MX" dirty="0"/>
              <a:t> </a:t>
            </a:r>
            <a:r>
              <a:rPr lang="es-MX" dirty="0" err="1"/>
              <a:t>recorded</a:t>
            </a:r>
            <a:r>
              <a:rPr lang="es-MX" dirty="0"/>
              <a:t> in a </a:t>
            </a:r>
            <a:r>
              <a:rPr lang="es-MX" dirty="0" err="1"/>
              <a:t>dictionary</a:t>
            </a:r>
            <a:r>
              <a:rPr lang="es-MX" dirty="0"/>
              <a:t>. </a:t>
            </a:r>
            <a:r>
              <a:rPr lang="es-MX" dirty="0" err="1"/>
              <a:t>This</a:t>
            </a:r>
            <a:r>
              <a:rPr lang="es-MX" dirty="0"/>
              <a:t> </a:t>
            </a:r>
            <a:r>
              <a:rPr lang="es-MX" dirty="0" err="1"/>
              <a:t>approach</a:t>
            </a:r>
            <a:r>
              <a:rPr lang="es-MX" dirty="0"/>
              <a:t> </a:t>
            </a:r>
            <a:r>
              <a:rPr lang="es-MX" dirty="0" err="1"/>
              <a:t>not</a:t>
            </a:r>
            <a:r>
              <a:rPr lang="es-MX" dirty="0"/>
              <a:t> </a:t>
            </a:r>
            <a:r>
              <a:rPr lang="es-MX" dirty="0" err="1"/>
              <a:t>only</a:t>
            </a:r>
            <a:r>
              <a:rPr lang="es-MX" dirty="0"/>
              <a:t> reduces data </a:t>
            </a:r>
            <a:r>
              <a:rPr lang="es-MX" dirty="0" err="1"/>
              <a:t>size</a:t>
            </a:r>
            <a:r>
              <a:rPr lang="es-MX" dirty="0"/>
              <a:t> </a:t>
            </a:r>
            <a:r>
              <a:rPr lang="es-MX" dirty="0" err="1"/>
              <a:t>but</a:t>
            </a:r>
            <a:r>
              <a:rPr lang="es-MX" dirty="0"/>
              <a:t> </a:t>
            </a:r>
            <a:r>
              <a:rPr lang="es-MX" dirty="0" err="1"/>
              <a:t>also</a:t>
            </a:r>
            <a:r>
              <a:rPr lang="es-MX" dirty="0"/>
              <a:t> </a:t>
            </a:r>
            <a:r>
              <a:rPr lang="es-MX" dirty="0" err="1"/>
              <a:t>ensures</a:t>
            </a:r>
            <a:r>
              <a:rPr lang="es-MX" dirty="0"/>
              <a:t> </a:t>
            </a:r>
            <a:r>
              <a:rPr lang="es-MX" dirty="0" err="1"/>
              <a:t>the</a:t>
            </a:r>
            <a:r>
              <a:rPr lang="es-MX" dirty="0"/>
              <a:t> </a:t>
            </a:r>
            <a:r>
              <a:rPr lang="es-MX" dirty="0" err="1"/>
              <a:t>exact</a:t>
            </a:r>
            <a:r>
              <a:rPr lang="es-MX" dirty="0"/>
              <a:t> </a:t>
            </a:r>
            <a:r>
              <a:rPr lang="es-MX" dirty="0" err="1"/>
              <a:t>reconstruction</a:t>
            </a:r>
            <a:r>
              <a:rPr lang="es-MX" dirty="0"/>
              <a:t> </a:t>
            </a:r>
            <a:r>
              <a:rPr lang="es-MX" dirty="0" err="1"/>
              <a:t>of</a:t>
            </a:r>
            <a:r>
              <a:rPr lang="es-MX" dirty="0"/>
              <a:t> </a:t>
            </a:r>
            <a:r>
              <a:rPr lang="es-MX" dirty="0" err="1"/>
              <a:t>the</a:t>
            </a:r>
            <a:r>
              <a:rPr lang="es-MX" dirty="0"/>
              <a:t> original </a:t>
            </a:r>
            <a:r>
              <a:rPr lang="es-MX" dirty="0" err="1"/>
              <a:t>information</a:t>
            </a:r>
            <a:r>
              <a:rPr lang="es-MX" dirty="0"/>
              <a:t>.</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6</a:t>
            </a:fld>
            <a:endParaRPr lang="en-US"/>
          </a:p>
        </p:txBody>
      </p:sp>
    </p:spTree>
    <p:extLst>
      <p:ext uri="{BB962C8B-B14F-4D97-AF65-F5344CB8AC3E}">
        <p14:creationId xmlns:p14="http://schemas.microsoft.com/office/powerpoint/2010/main" val="2360117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R" b="1" dirty="0"/>
              <a:t>ES:</a:t>
            </a:r>
            <a:br>
              <a:rPr lang="es-CR" dirty="0"/>
            </a:br>
            <a:r>
              <a:rPr lang="es-CR" dirty="0"/>
              <a:t>En esta arquitectura, los modelos de lenguaje no actúan como mecanismos de decisión final, sino como generadores de candidatos. Su función principal es sugerir posibles patrones repetitivos, incluyendo estructuras complejas que podrían no ser detectadas mediante métodos tradicionales. No obstante, dichas sugerencias son sometidas a un proceso de validación determinístico, con el fin de garantizar su relevancia y exactitud.</a:t>
            </a:r>
          </a:p>
          <a:p>
            <a:endParaRPr lang="es-CR" dirty="0"/>
          </a:p>
          <a:p>
            <a:r>
              <a:rPr lang="es-CR" b="1" dirty="0"/>
              <a:t>EN:</a:t>
            </a:r>
            <a:br>
              <a:rPr lang="es-CR" dirty="0"/>
            </a:br>
            <a:r>
              <a:rPr lang="es-CR" dirty="0" err="1"/>
              <a:t>Within</a:t>
            </a:r>
            <a:r>
              <a:rPr lang="es-CR" dirty="0"/>
              <a:t> </a:t>
            </a:r>
            <a:r>
              <a:rPr lang="es-CR" dirty="0" err="1"/>
              <a:t>this</a:t>
            </a:r>
            <a:r>
              <a:rPr lang="es-CR" dirty="0"/>
              <a:t> </a:t>
            </a:r>
            <a:r>
              <a:rPr lang="es-CR" dirty="0" err="1"/>
              <a:t>architecture</a:t>
            </a:r>
            <a:r>
              <a:rPr lang="es-CR" dirty="0"/>
              <a:t>, </a:t>
            </a:r>
            <a:r>
              <a:rPr lang="es-CR" dirty="0" err="1"/>
              <a:t>language</a:t>
            </a:r>
            <a:r>
              <a:rPr lang="es-CR" dirty="0"/>
              <a:t> </a:t>
            </a:r>
            <a:r>
              <a:rPr lang="es-CR" dirty="0" err="1"/>
              <a:t>models</a:t>
            </a:r>
            <a:r>
              <a:rPr lang="es-CR" dirty="0"/>
              <a:t> do </a:t>
            </a:r>
            <a:r>
              <a:rPr lang="es-CR" dirty="0" err="1"/>
              <a:t>not</a:t>
            </a:r>
            <a:r>
              <a:rPr lang="es-CR" dirty="0"/>
              <a:t> </a:t>
            </a:r>
            <a:r>
              <a:rPr lang="es-CR" dirty="0" err="1"/>
              <a:t>operate</a:t>
            </a:r>
            <a:r>
              <a:rPr lang="es-CR" dirty="0"/>
              <a:t> as final </a:t>
            </a:r>
            <a:r>
              <a:rPr lang="es-CR" dirty="0" err="1"/>
              <a:t>decision-makers</a:t>
            </a:r>
            <a:r>
              <a:rPr lang="es-CR" dirty="0"/>
              <a:t> </a:t>
            </a:r>
            <a:r>
              <a:rPr lang="es-CR" dirty="0" err="1"/>
              <a:t>but</a:t>
            </a:r>
            <a:r>
              <a:rPr lang="es-CR" dirty="0"/>
              <a:t> </a:t>
            </a:r>
            <a:r>
              <a:rPr lang="es-CR" dirty="0" err="1"/>
              <a:t>rather</a:t>
            </a:r>
            <a:r>
              <a:rPr lang="es-CR" dirty="0"/>
              <a:t> as candidate </a:t>
            </a:r>
            <a:r>
              <a:rPr lang="es-CR" dirty="0" err="1"/>
              <a:t>generators</a:t>
            </a:r>
            <a:r>
              <a:rPr lang="es-CR" dirty="0"/>
              <a:t>. </a:t>
            </a:r>
            <a:r>
              <a:rPr lang="es-CR" dirty="0" err="1"/>
              <a:t>Their</a:t>
            </a:r>
            <a:r>
              <a:rPr lang="es-CR" dirty="0"/>
              <a:t> </a:t>
            </a:r>
            <a:r>
              <a:rPr lang="es-CR" dirty="0" err="1"/>
              <a:t>primary</a:t>
            </a:r>
            <a:r>
              <a:rPr lang="es-CR" dirty="0"/>
              <a:t> </a:t>
            </a:r>
            <a:r>
              <a:rPr lang="es-CR" dirty="0" err="1"/>
              <a:t>function</a:t>
            </a:r>
            <a:r>
              <a:rPr lang="es-CR" dirty="0"/>
              <a:t> </a:t>
            </a:r>
            <a:r>
              <a:rPr lang="es-CR" dirty="0" err="1"/>
              <a:t>is</a:t>
            </a:r>
            <a:r>
              <a:rPr lang="es-CR" dirty="0"/>
              <a:t> </a:t>
            </a:r>
            <a:r>
              <a:rPr lang="es-CR" dirty="0" err="1"/>
              <a:t>to</a:t>
            </a:r>
            <a:r>
              <a:rPr lang="es-CR" dirty="0"/>
              <a:t> </a:t>
            </a:r>
            <a:r>
              <a:rPr lang="es-CR" dirty="0" err="1"/>
              <a:t>suggest</a:t>
            </a:r>
            <a:r>
              <a:rPr lang="es-CR" dirty="0"/>
              <a:t> </a:t>
            </a:r>
            <a:r>
              <a:rPr lang="es-CR" dirty="0" err="1"/>
              <a:t>potential</a:t>
            </a:r>
            <a:r>
              <a:rPr lang="es-CR" dirty="0"/>
              <a:t> repetitive </a:t>
            </a:r>
            <a:r>
              <a:rPr lang="es-CR" dirty="0" err="1"/>
              <a:t>patterns</a:t>
            </a:r>
            <a:r>
              <a:rPr lang="es-CR" dirty="0"/>
              <a:t>, </a:t>
            </a:r>
            <a:r>
              <a:rPr lang="es-CR" dirty="0" err="1"/>
              <a:t>including</a:t>
            </a:r>
            <a:r>
              <a:rPr lang="es-CR" dirty="0"/>
              <a:t> </a:t>
            </a:r>
            <a:r>
              <a:rPr lang="es-CR" dirty="0" err="1"/>
              <a:t>complex</a:t>
            </a:r>
            <a:r>
              <a:rPr lang="es-CR" dirty="0"/>
              <a:t> </a:t>
            </a:r>
            <a:r>
              <a:rPr lang="es-CR" dirty="0" err="1"/>
              <a:t>structures</a:t>
            </a:r>
            <a:r>
              <a:rPr lang="es-CR" dirty="0"/>
              <a:t> </a:t>
            </a:r>
            <a:r>
              <a:rPr lang="es-CR" dirty="0" err="1"/>
              <a:t>that</a:t>
            </a:r>
            <a:r>
              <a:rPr lang="es-CR" dirty="0"/>
              <a:t> </a:t>
            </a:r>
            <a:r>
              <a:rPr lang="es-CR" dirty="0" err="1"/>
              <a:t>may</a:t>
            </a:r>
            <a:r>
              <a:rPr lang="es-CR" dirty="0"/>
              <a:t> </a:t>
            </a:r>
            <a:r>
              <a:rPr lang="es-CR" dirty="0" err="1"/>
              <a:t>not</a:t>
            </a:r>
            <a:r>
              <a:rPr lang="es-CR" dirty="0"/>
              <a:t> be </a:t>
            </a:r>
            <a:r>
              <a:rPr lang="es-CR" dirty="0" err="1"/>
              <a:t>identified</a:t>
            </a:r>
            <a:r>
              <a:rPr lang="es-CR" dirty="0"/>
              <a:t> </a:t>
            </a:r>
            <a:r>
              <a:rPr lang="es-CR" dirty="0" err="1"/>
              <a:t>by</a:t>
            </a:r>
            <a:r>
              <a:rPr lang="es-CR" dirty="0"/>
              <a:t> </a:t>
            </a:r>
            <a:r>
              <a:rPr lang="es-CR" dirty="0" err="1"/>
              <a:t>traditional</a:t>
            </a:r>
            <a:r>
              <a:rPr lang="es-CR" dirty="0"/>
              <a:t> </a:t>
            </a:r>
            <a:r>
              <a:rPr lang="es-CR" dirty="0" err="1"/>
              <a:t>methods</a:t>
            </a:r>
            <a:r>
              <a:rPr lang="es-CR" dirty="0"/>
              <a:t>. </a:t>
            </a:r>
            <a:r>
              <a:rPr lang="es-CR" dirty="0" err="1"/>
              <a:t>However</a:t>
            </a:r>
            <a:r>
              <a:rPr lang="es-CR" dirty="0"/>
              <a:t>, </a:t>
            </a:r>
            <a:r>
              <a:rPr lang="es-CR" dirty="0" err="1"/>
              <a:t>these</a:t>
            </a:r>
            <a:r>
              <a:rPr lang="es-CR" dirty="0"/>
              <a:t> </a:t>
            </a:r>
            <a:r>
              <a:rPr lang="es-CR" dirty="0" err="1"/>
              <a:t>suggestions</a:t>
            </a:r>
            <a:r>
              <a:rPr lang="es-CR" dirty="0"/>
              <a:t> </a:t>
            </a:r>
            <a:r>
              <a:rPr lang="es-CR" dirty="0" err="1"/>
              <a:t>undergo</a:t>
            </a:r>
            <a:r>
              <a:rPr lang="es-CR" dirty="0"/>
              <a:t> a </a:t>
            </a:r>
            <a:r>
              <a:rPr lang="es-CR" dirty="0" err="1"/>
              <a:t>deterministic</a:t>
            </a:r>
            <a:r>
              <a:rPr lang="es-CR" dirty="0"/>
              <a:t> </a:t>
            </a:r>
            <a:r>
              <a:rPr lang="es-CR" dirty="0" err="1"/>
              <a:t>validation</a:t>
            </a:r>
            <a:r>
              <a:rPr lang="es-CR" dirty="0"/>
              <a:t> </a:t>
            </a:r>
            <a:r>
              <a:rPr lang="es-CR" dirty="0" err="1"/>
              <a:t>process</a:t>
            </a:r>
            <a:r>
              <a:rPr lang="es-CR" dirty="0"/>
              <a:t> </a:t>
            </a:r>
            <a:r>
              <a:rPr lang="es-CR" dirty="0" err="1"/>
              <a:t>to</a:t>
            </a:r>
            <a:r>
              <a:rPr lang="es-CR" dirty="0"/>
              <a:t> </a:t>
            </a:r>
            <a:r>
              <a:rPr lang="es-CR" dirty="0" err="1"/>
              <a:t>ensure</a:t>
            </a:r>
            <a:r>
              <a:rPr lang="es-CR" dirty="0"/>
              <a:t> </a:t>
            </a:r>
            <a:r>
              <a:rPr lang="es-CR" dirty="0" err="1"/>
              <a:t>their</a:t>
            </a:r>
            <a:r>
              <a:rPr lang="es-CR" dirty="0"/>
              <a:t> </a:t>
            </a:r>
            <a:r>
              <a:rPr lang="es-CR" dirty="0" err="1"/>
              <a:t>relevance</a:t>
            </a:r>
            <a:r>
              <a:rPr lang="es-CR" dirty="0"/>
              <a:t> and </a:t>
            </a:r>
            <a:r>
              <a:rPr lang="es-CR" dirty="0" err="1"/>
              <a:t>accuracy</a:t>
            </a:r>
            <a:r>
              <a:rPr lang="es-CR" dirty="0"/>
              <a:t>.</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7</a:t>
            </a:fld>
            <a:endParaRPr lang="en-US"/>
          </a:p>
        </p:txBody>
      </p:sp>
    </p:spTree>
    <p:extLst>
      <p:ext uri="{BB962C8B-B14F-4D97-AF65-F5344CB8AC3E}">
        <p14:creationId xmlns:p14="http://schemas.microsoft.com/office/powerpoint/2010/main" val="1221907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R" b="1" dirty="0"/>
              <a:t>ES:</a:t>
            </a:r>
            <a:br>
              <a:rPr lang="es-CR" dirty="0"/>
            </a:br>
            <a:r>
              <a:rPr lang="es-CR" dirty="0"/>
              <a:t>La arquitectura propuesta se organiza como un pipeline modular. Inicialmente, se realiza la extracción de secuencias a partir del archivo FASTQ. Posteriormente, se lleva a cabo un análisis de k-</a:t>
            </a:r>
            <a:r>
              <a:rPr lang="es-CR" dirty="0" err="1"/>
              <a:t>mers</a:t>
            </a:r>
            <a:r>
              <a:rPr lang="es-CR" dirty="0"/>
              <a:t> para identificar estructuras repetitivas básicas. A continuación, el modelo de lenguaje sugiere patrones candidatos, los cuales son validados mediante métodos determinísticos. Los patrones aceptados se almacenan en un diccionario en formato JSON y se aplican en los procesos de compresión y descompresión, finalizando con una verificación de integridad.</a:t>
            </a:r>
          </a:p>
          <a:p>
            <a:endParaRPr lang="es-CR" dirty="0"/>
          </a:p>
          <a:p>
            <a:r>
              <a:rPr lang="es-CR" b="1" dirty="0"/>
              <a:t>EN:</a:t>
            </a:r>
            <a:br>
              <a:rPr lang="es-CR" dirty="0"/>
            </a:br>
            <a:r>
              <a:rPr lang="es-CR" dirty="0"/>
              <a:t>The </a:t>
            </a:r>
            <a:r>
              <a:rPr lang="es-CR" dirty="0" err="1"/>
              <a:t>proposed</a:t>
            </a:r>
            <a:r>
              <a:rPr lang="es-CR" dirty="0"/>
              <a:t> </a:t>
            </a:r>
            <a:r>
              <a:rPr lang="es-CR" dirty="0" err="1"/>
              <a:t>architecture</a:t>
            </a:r>
            <a:r>
              <a:rPr lang="es-CR" dirty="0"/>
              <a:t> </a:t>
            </a:r>
            <a:r>
              <a:rPr lang="es-CR" dirty="0" err="1"/>
              <a:t>is</a:t>
            </a:r>
            <a:r>
              <a:rPr lang="es-CR" dirty="0"/>
              <a:t> </a:t>
            </a:r>
            <a:r>
              <a:rPr lang="es-CR" dirty="0" err="1"/>
              <a:t>structured</a:t>
            </a:r>
            <a:r>
              <a:rPr lang="es-CR" dirty="0"/>
              <a:t> as a modular pipeline. </a:t>
            </a:r>
            <a:r>
              <a:rPr lang="es-CR" dirty="0" err="1"/>
              <a:t>Initially</a:t>
            </a:r>
            <a:r>
              <a:rPr lang="es-CR" dirty="0"/>
              <a:t>, </a:t>
            </a:r>
            <a:r>
              <a:rPr lang="es-CR" dirty="0" err="1"/>
              <a:t>sequences</a:t>
            </a:r>
            <a:r>
              <a:rPr lang="es-CR" dirty="0"/>
              <a:t> are </a:t>
            </a:r>
            <a:r>
              <a:rPr lang="es-CR" dirty="0" err="1"/>
              <a:t>extracted</a:t>
            </a:r>
            <a:r>
              <a:rPr lang="es-CR" dirty="0"/>
              <a:t> </a:t>
            </a:r>
            <a:r>
              <a:rPr lang="es-CR" dirty="0" err="1"/>
              <a:t>from</a:t>
            </a:r>
            <a:r>
              <a:rPr lang="es-CR" dirty="0"/>
              <a:t> </a:t>
            </a:r>
            <a:r>
              <a:rPr lang="es-CR" dirty="0" err="1"/>
              <a:t>the</a:t>
            </a:r>
            <a:r>
              <a:rPr lang="es-CR" dirty="0"/>
              <a:t> FASTQ file. </a:t>
            </a:r>
            <a:r>
              <a:rPr lang="es-CR" dirty="0" err="1"/>
              <a:t>Subsequently</a:t>
            </a:r>
            <a:r>
              <a:rPr lang="es-CR" dirty="0"/>
              <a:t>, a k-</a:t>
            </a:r>
            <a:r>
              <a:rPr lang="es-CR" dirty="0" err="1"/>
              <a:t>mer</a:t>
            </a:r>
            <a:r>
              <a:rPr lang="es-CR" dirty="0"/>
              <a:t> </a:t>
            </a:r>
            <a:r>
              <a:rPr lang="es-CR" dirty="0" err="1"/>
              <a:t>analysis</a:t>
            </a:r>
            <a:r>
              <a:rPr lang="es-CR" dirty="0"/>
              <a:t> </a:t>
            </a:r>
            <a:r>
              <a:rPr lang="es-CR" dirty="0" err="1"/>
              <a:t>is</a:t>
            </a:r>
            <a:r>
              <a:rPr lang="es-CR" dirty="0"/>
              <a:t> </a:t>
            </a:r>
            <a:r>
              <a:rPr lang="es-CR" dirty="0" err="1"/>
              <a:t>performed</a:t>
            </a:r>
            <a:r>
              <a:rPr lang="es-CR" dirty="0"/>
              <a:t> </a:t>
            </a:r>
            <a:r>
              <a:rPr lang="es-CR" dirty="0" err="1"/>
              <a:t>to</a:t>
            </a:r>
            <a:r>
              <a:rPr lang="es-CR" dirty="0"/>
              <a:t> </a:t>
            </a:r>
            <a:r>
              <a:rPr lang="es-CR" dirty="0" err="1"/>
              <a:t>identify</a:t>
            </a:r>
            <a:r>
              <a:rPr lang="es-CR" dirty="0"/>
              <a:t> </a:t>
            </a:r>
            <a:r>
              <a:rPr lang="es-CR" dirty="0" err="1"/>
              <a:t>basic</a:t>
            </a:r>
            <a:r>
              <a:rPr lang="es-CR" dirty="0"/>
              <a:t> repetitive </a:t>
            </a:r>
            <a:r>
              <a:rPr lang="es-CR" dirty="0" err="1"/>
              <a:t>structures</a:t>
            </a:r>
            <a:r>
              <a:rPr lang="es-CR" dirty="0"/>
              <a:t>. The </a:t>
            </a:r>
            <a:r>
              <a:rPr lang="es-CR" dirty="0" err="1"/>
              <a:t>language</a:t>
            </a:r>
            <a:r>
              <a:rPr lang="es-CR" dirty="0"/>
              <a:t> </a:t>
            </a:r>
            <a:r>
              <a:rPr lang="es-CR" dirty="0" err="1"/>
              <a:t>model</a:t>
            </a:r>
            <a:r>
              <a:rPr lang="es-CR" dirty="0"/>
              <a:t> </a:t>
            </a:r>
            <a:r>
              <a:rPr lang="es-CR" dirty="0" err="1"/>
              <a:t>then</a:t>
            </a:r>
            <a:r>
              <a:rPr lang="es-CR" dirty="0"/>
              <a:t> </a:t>
            </a:r>
            <a:r>
              <a:rPr lang="es-CR" dirty="0" err="1"/>
              <a:t>suggests</a:t>
            </a:r>
            <a:r>
              <a:rPr lang="es-CR" dirty="0"/>
              <a:t> candidate </a:t>
            </a:r>
            <a:r>
              <a:rPr lang="es-CR" dirty="0" err="1"/>
              <a:t>patterns</a:t>
            </a:r>
            <a:r>
              <a:rPr lang="es-CR" dirty="0"/>
              <a:t>, </a:t>
            </a:r>
            <a:r>
              <a:rPr lang="es-CR" dirty="0" err="1"/>
              <a:t>which</a:t>
            </a:r>
            <a:r>
              <a:rPr lang="es-CR" dirty="0"/>
              <a:t> are </a:t>
            </a:r>
            <a:r>
              <a:rPr lang="es-CR" dirty="0" err="1"/>
              <a:t>validated</a:t>
            </a:r>
            <a:r>
              <a:rPr lang="es-CR" dirty="0"/>
              <a:t> </a:t>
            </a:r>
            <a:r>
              <a:rPr lang="es-CR" dirty="0" err="1"/>
              <a:t>through</a:t>
            </a:r>
            <a:r>
              <a:rPr lang="es-CR" dirty="0"/>
              <a:t> </a:t>
            </a:r>
            <a:r>
              <a:rPr lang="es-CR" dirty="0" err="1"/>
              <a:t>deterministic</a:t>
            </a:r>
            <a:r>
              <a:rPr lang="es-CR" dirty="0"/>
              <a:t> </a:t>
            </a:r>
            <a:r>
              <a:rPr lang="es-CR" dirty="0" err="1"/>
              <a:t>methods</a:t>
            </a:r>
            <a:r>
              <a:rPr lang="es-CR" dirty="0"/>
              <a:t>. </a:t>
            </a:r>
            <a:r>
              <a:rPr lang="es-CR" dirty="0" err="1"/>
              <a:t>Accepted</a:t>
            </a:r>
            <a:r>
              <a:rPr lang="es-CR" dirty="0"/>
              <a:t> </a:t>
            </a:r>
            <a:r>
              <a:rPr lang="es-CR" dirty="0" err="1"/>
              <a:t>patterns</a:t>
            </a:r>
            <a:r>
              <a:rPr lang="es-CR" dirty="0"/>
              <a:t> are </a:t>
            </a:r>
            <a:r>
              <a:rPr lang="es-CR" dirty="0" err="1"/>
              <a:t>stored</a:t>
            </a:r>
            <a:r>
              <a:rPr lang="es-CR" dirty="0"/>
              <a:t> in a JSON </a:t>
            </a:r>
            <a:r>
              <a:rPr lang="es-CR" dirty="0" err="1"/>
              <a:t>dictionary</a:t>
            </a:r>
            <a:r>
              <a:rPr lang="es-CR" dirty="0"/>
              <a:t> and </a:t>
            </a:r>
            <a:r>
              <a:rPr lang="es-CR" dirty="0" err="1"/>
              <a:t>applied</a:t>
            </a:r>
            <a:r>
              <a:rPr lang="es-CR" dirty="0"/>
              <a:t> </a:t>
            </a:r>
            <a:r>
              <a:rPr lang="es-CR" dirty="0" err="1"/>
              <a:t>during</a:t>
            </a:r>
            <a:r>
              <a:rPr lang="es-CR" dirty="0"/>
              <a:t> </a:t>
            </a:r>
            <a:r>
              <a:rPr lang="es-CR" dirty="0" err="1"/>
              <a:t>compression</a:t>
            </a:r>
            <a:r>
              <a:rPr lang="es-CR" dirty="0"/>
              <a:t> and </a:t>
            </a:r>
            <a:r>
              <a:rPr lang="es-CR" dirty="0" err="1"/>
              <a:t>decompression</a:t>
            </a:r>
            <a:r>
              <a:rPr lang="es-CR" dirty="0"/>
              <a:t> </a:t>
            </a:r>
            <a:r>
              <a:rPr lang="es-CR" dirty="0" err="1"/>
              <a:t>processes</a:t>
            </a:r>
            <a:r>
              <a:rPr lang="es-CR" dirty="0"/>
              <a:t>, </a:t>
            </a:r>
            <a:r>
              <a:rPr lang="es-CR" dirty="0" err="1"/>
              <a:t>concluding</a:t>
            </a:r>
            <a:r>
              <a:rPr lang="es-CR" dirty="0"/>
              <a:t> </a:t>
            </a:r>
            <a:r>
              <a:rPr lang="es-CR" dirty="0" err="1"/>
              <a:t>with</a:t>
            </a:r>
            <a:r>
              <a:rPr lang="es-CR" dirty="0"/>
              <a:t> </a:t>
            </a:r>
            <a:r>
              <a:rPr lang="es-CR" dirty="0" err="1"/>
              <a:t>an</a:t>
            </a:r>
            <a:r>
              <a:rPr lang="es-CR" dirty="0"/>
              <a:t> </a:t>
            </a:r>
            <a:r>
              <a:rPr lang="es-CR" dirty="0" err="1"/>
              <a:t>integrity</a:t>
            </a:r>
            <a:r>
              <a:rPr lang="es-CR" dirty="0"/>
              <a:t> </a:t>
            </a:r>
            <a:r>
              <a:rPr lang="es-CR" dirty="0" err="1"/>
              <a:t>verification</a:t>
            </a:r>
            <a:r>
              <a:rPr lang="es-CR" dirty="0"/>
              <a:t> step.</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8</a:t>
            </a:fld>
            <a:endParaRPr lang="en-US"/>
          </a:p>
        </p:txBody>
      </p:sp>
    </p:spTree>
    <p:extLst>
      <p:ext uri="{BB962C8B-B14F-4D97-AF65-F5344CB8AC3E}">
        <p14:creationId xmlns:p14="http://schemas.microsoft.com/office/powerpoint/2010/main" val="16966648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ES:</a:t>
            </a:r>
            <a:br>
              <a:rPr lang="es-MX" dirty="0"/>
            </a:br>
            <a:r>
              <a:rPr lang="es-MX" dirty="0"/>
              <a:t>La validación se realiza de manera externa al modelo, mediante técnicas determinísticas como el conteo directo en las secuencias y la eliminación de patrones inválidos. Asimismo, se priorizan patrones de mayor longitud para maximizar la eficiencia. Finalmente, se emplea el mismo diccionario para la reconstrucción de la información y se realiza una comparación con los datos originales, garantizando así la integridad del proceso.</a:t>
            </a:r>
          </a:p>
          <a:p>
            <a:endParaRPr lang="es-MX" dirty="0"/>
          </a:p>
          <a:p>
            <a:r>
              <a:rPr lang="es-MX" b="1" dirty="0"/>
              <a:t>EN:</a:t>
            </a:r>
            <a:br>
              <a:rPr lang="es-MX" dirty="0"/>
            </a:br>
            <a:r>
              <a:rPr lang="es-MX" dirty="0" err="1"/>
              <a:t>Validation</a:t>
            </a:r>
            <a:r>
              <a:rPr lang="es-MX" dirty="0"/>
              <a:t> </a:t>
            </a:r>
            <a:r>
              <a:rPr lang="es-MX" dirty="0" err="1"/>
              <a:t>is</a:t>
            </a:r>
            <a:r>
              <a:rPr lang="es-MX" dirty="0"/>
              <a:t> </a:t>
            </a:r>
            <a:r>
              <a:rPr lang="es-MX" dirty="0" err="1"/>
              <a:t>performed</a:t>
            </a:r>
            <a:r>
              <a:rPr lang="es-MX" dirty="0"/>
              <a:t> </a:t>
            </a:r>
            <a:r>
              <a:rPr lang="es-MX" dirty="0" err="1"/>
              <a:t>externally</a:t>
            </a:r>
            <a:r>
              <a:rPr lang="es-MX" dirty="0"/>
              <a:t> </a:t>
            </a:r>
            <a:r>
              <a:rPr lang="es-MX" dirty="0" err="1"/>
              <a:t>to</a:t>
            </a:r>
            <a:r>
              <a:rPr lang="es-MX" dirty="0"/>
              <a:t> </a:t>
            </a:r>
            <a:r>
              <a:rPr lang="es-MX" dirty="0" err="1"/>
              <a:t>the</a:t>
            </a:r>
            <a:r>
              <a:rPr lang="es-MX" dirty="0"/>
              <a:t> </a:t>
            </a:r>
            <a:r>
              <a:rPr lang="es-MX" dirty="0" err="1"/>
              <a:t>model</a:t>
            </a:r>
            <a:r>
              <a:rPr lang="es-MX" dirty="0"/>
              <a:t> </a:t>
            </a:r>
            <a:r>
              <a:rPr lang="es-MX" dirty="0" err="1"/>
              <a:t>using</a:t>
            </a:r>
            <a:r>
              <a:rPr lang="es-MX" dirty="0"/>
              <a:t> </a:t>
            </a:r>
            <a:r>
              <a:rPr lang="es-MX" dirty="0" err="1"/>
              <a:t>deterministic</a:t>
            </a:r>
            <a:r>
              <a:rPr lang="es-MX" dirty="0"/>
              <a:t> </a:t>
            </a:r>
            <a:r>
              <a:rPr lang="es-MX" dirty="0" err="1"/>
              <a:t>techniques</a:t>
            </a:r>
            <a:r>
              <a:rPr lang="es-MX" dirty="0"/>
              <a:t> </a:t>
            </a:r>
            <a:r>
              <a:rPr lang="es-MX" dirty="0" err="1"/>
              <a:t>such</a:t>
            </a:r>
            <a:r>
              <a:rPr lang="es-MX" dirty="0"/>
              <a:t> as </a:t>
            </a:r>
            <a:r>
              <a:rPr lang="es-MX" dirty="0" err="1"/>
              <a:t>direct</a:t>
            </a:r>
            <a:r>
              <a:rPr lang="es-MX" dirty="0"/>
              <a:t> </a:t>
            </a:r>
            <a:r>
              <a:rPr lang="es-MX" dirty="0" err="1"/>
              <a:t>counting</a:t>
            </a:r>
            <a:r>
              <a:rPr lang="es-MX" dirty="0"/>
              <a:t> </a:t>
            </a:r>
            <a:r>
              <a:rPr lang="es-MX" dirty="0" err="1"/>
              <a:t>within</a:t>
            </a:r>
            <a:r>
              <a:rPr lang="es-MX" dirty="0"/>
              <a:t> </a:t>
            </a:r>
            <a:r>
              <a:rPr lang="es-MX" dirty="0" err="1"/>
              <a:t>sequences</a:t>
            </a:r>
            <a:r>
              <a:rPr lang="es-MX" dirty="0"/>
              <a:t> and </a:t>
            </a:r>
            <a:r>
              <a:rPr lang="es-MX" dirty="0" err="1"/>
              <a:t>the</a:t>
            </a:r>
            <a:r>
              <a:rPr lang="es-MX" dirty="0"/>
              <a:t> </a:t>
            </a:r>
            <a:r>
              <a:rPr lang="es-MX" dirty="0" err="1"/>
              <a:t>removal</a:t>
            </a:r>
            <a:r>
              <a:rPr lang="es-MX" dirty="0"/>
              <a:t> </a:t>
            </a:r>
            <a:r>
              <a:rPr lang="es-MX" dirty="0" err="1"/>
              <a:t>of</a:t>
            </a:r>
            <a:r>
              <a:rPr lang="es-MX" dirty="0"/>
              <a:t> </a:t>
            </a:r>
            <a:r>
              <a:rPr lang="es-MX" dirty="0" err="1"/>
              <a:t>invalid</a:t>
            </a:r>
            <a:r>
              <a:rPr lang="es-MX" dirty="0"/>
              <a:t> </a:t>
            </a:r>
            <a:r>
              <a:rPr lang="es-MX" dirty="0" err="1"/>
              <a:t>patterns</a:t>
            </a:r>
            <a:r>
              <a:rPr lang="es-MX" dirty="0"/>
              <a:t>. Additionally, </a:t>
            </a:r>
            <a:r>
              <a:rPr lang="es-MX" dirty="0" err="1"/>
              <a:t>longer</a:t>
            </a:r>
            <a:r>
              <a:rPr lang="es-MX" dirty="0"/>
              <a:t> </a:t>
            </a:r>
            <a:r>
              <a:rPr lang="es-MX" dirty="0" err="1"/>
              <a:t>patterns</a:t>
            </a:r>
            <a:r>
              <a:rPr lang="es-MX" dirty="0"/>
              <a:t> are </a:t>
            </a:r>
            <a:r>
              <a:rPr lang="es-MX" dirty="0" err="1"/>
              <a:t>prioritized</a:t>
            </a:r>
            <a:r>
              <a:rPr lang="es-MX" dirty="0"/>
              <a:t> </a:t>
            </a:r>
            <a:r>
              <a:rPr lang="es-MX" dirty="0" err="1"/>
              <a:t>to</a:t>
            </a:r>
            <a:r>
              <a:rPr lang="es-MX" dirty="0"/>
              <a:t> </a:t>
            </a:r>
            <a:r>
              <a:rPr lang="es-MX" dirty="0" err="1"/>
              <a:t>maximize</a:t>
            </a:r>
            <a:r>
              <a:rPr lang="es-MX" dirty="0"/>
              <a:t> </a:t>
            </a:r>
            <a:r>
              <a:rPr lang="es-MX" dirty="0" err="1"/>
              <a:t>efficiency</a:t>
            </a:r>
            <a:r>
              <a:rPr lang="es-MX" dirty="0"/>
              <a:t>. The </a:t>
            </a:r>
            <a:r>
              <a:rPr lang="es-MX" dirty="0" err="1"/>
              <a:t>same</a:t>
            </a:r>
            <a:r>
              <a:rPr lang="es-MX" dirty="0"/>
              <a:t> </a:t>
            </a:r>
            <a:r>
              <a:rPr lang="es-MX" dirty="0" err="1"/>
              <a:t>dictionary</a:t>
            </a:r>
            <a:r>
              <a:rPr lang="es-MX" dirty="0"/>
              <a:t> </a:t>
            </a:r>
            <a:r>
              <a:rPr lang="es-MX" dirty="0" err="1"/>
              <a:t>is</a:t>
            </a:r>
            <a:r>
              <a:rPr lang="es-MX" dirty="0"/>
              <a:t> </a:t>
            </a:r>
            <a:r>
              <a:rPr lang="es-MX" dirty="0" err="1"/>
              <a:t>used</a:t>
            </a:r>
            <a:r>
              <a:rPr lang="es-MX" dirty="0"/>
              <a:t> </a:t>
            </a:r>
            <a:r>
              <a:rPr lang="es-MX" dirty="0" err="1"/>
              <a:t>for</a:t>
            </a:r>
            <a:r>
              <a:rPr lang="es-MX" dirty="0"/>
              <a:t> </a:t>
            </a:r>
            <a:r>
              <a:rPr lang="es-MX" dirty="0" err="1"/>
              <a:t>reconstruction</a:t>
            </a:r>
            <a:r>
              <a:rPr lang="es-MX" dirty="0"/>
              <a:t>, </a:t>
            </a:r>
            <a:r>
              <a:rPr lang="es-MX" dirty="0" err="1"/>
              <a:t>followed</a:t>
            </a:r>
            <a:r>
              <a:rPr lang="es-MX" dirty="0"/>
              <a:t> </a:t>
            </a:r>
            <a:r>
              <a:rPr lang="es-MX" dirty="0" err="1"/>
              <a:t>by</a:t>
            </a:r>
            <a:r>
              <a:rPr lang="es-MX" dirty="0"/>
              <a:t> a </a:t>
            </a:r>
            <a:r>
              <a:rPr lang="es-MX" dirty="0" err="1"/>
              <a:t>comparison</a:t>
            </a:r>
            <a:r>
              <a:rPr lang="es-MX" dirty="0"/>
              <a:t> </a:t>
            </a:r>
            <a:r>
              <a:rPr lang="es-MX" dirty="0" err="1"/>
              <a:t>with</a:t>
            </a:r>
            <a:r>
              <a:rPr lang="es-MX" dirty="0"/>
              <a:t> </a:t>
            </a:r>
            <a:r>
              <a:rPr lang="es-MX" dirty="0" err="1"/>
              <a:t>the</a:t>
            </a:r>
            <a:r>
              <a:rPr lang="es-MX" dirty="0"/>
              <a:t> original data </a:t>
            </a:r>
            <a:r>
              <a:rPr lang="es-MX" dirty="0" err="1"/>
              <a:t>to</a:t>
            </a:r>
            <a:r>
              <a:rPr lang="es-MX" dirty="0"/>
              <a:t> </a:t>
            </a:r>
            <a:r>
              <a:rPr lang="es-MX" dirty="0" err="1"/>
              <a:t>ensure</a:t>
            </a:r>
            <a:r>
              <a:rPr lang="es-MX" dirty="0"/>
              <a:t> </a:t>
            </a:r>
            <a:r>
              <a:rPr lang="es-MX" dirty="0" err="1"/>
              <a:t>process</a:t>
            </a:r>
            <a:r>
              <a:rPr lang="es-MX" dirty="0"/>
              <a:t> </a:t>
            </a:r>
            <a:r>
              <a:rPr lang="es-MX" dirty="0" err="1"/>
              <a:t>integrity</a:t>
            </a:r>
            <a:r>
              <a:rPr lang="es-MX" dirty="0"/>
              <a:t>.</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9</a:t>
            </a:fld>
            <a:endParaRPr lang="en-US"/>
          </a:p>
        </p:txBody>
      </p:sp>
    </p:spTree>
    <p:extLst>
      <p:ext uri="{BB962C8B-B14F-4D97-AF65-F5344CB8AC3E}">
        <p14:creationId xmlns:p14="http://schemas.microsoft.com/office/powerpoint/2010/main" val="2748612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ES:</a:t>
            </a:r>
            <a:br>
              <a:rPr lang="es-MX" dirty="0"/>
            </a:br>
            <a:r>
              <a:rPr lang="es-MX" dirty="0"/>
              <a:t>El valor técnico de esta propuesta radica en su capacidad de integrar compresión e interpretabilidad. A diferencia de los enfoques tradicionales, este método genera un diccionario legible que permite analizar patrones repetitivos en secuencias de ADN. De este modo, no solo se optimiza el almacenamiento, sino que también se facilita la exploración y el análisis de los datos, ampliando su aplicabilidad en contextos de investigación.</a:t>
            </a:r>
          </a:p>
          <a:p>
            <a:endParaRPr lang="es-MX" dirty="0"/>
          </a:p>
          <a:p>
            <a:r>
              <a:rPr lang="es-MX" b="1" dirty="0"/>
              <a:t>EN:</a:t>
            </a:r>
            <a:br>
              <a:rPr lang="es-MX" dirty="0"/>
            </a:br>
            <a:r>
              <a:rPr lang="es-MX" dirty="0"/>
              <a:t>The </a:t>
            </a:r>
            <a:r>
              <a:rPr lang="es-MX" dirty="0" err="1"/>
              <a:t>technical</a:t>
            </a:r>
            <a:r>
              <a:rPr lang="es-MX" dirty="0"/>
              <a:t> </a:t>
            </a:r>
            <a:r>
              <a:rPr lang="es-MX" dirty="0" err="1"/>
              <a:t>value</a:t>
            </a:r>
            <a:r>
              <a:rPr lang="es-MX" dirty="0"/>
              <a:t> </a:t>
            </a:r>
            <a:r>
              <a:rPr lang="es-MX" dirty="0" err="1"/>
              <a:t>of</a:t>
            </a:r>
            <a:r>
              <a:rPr lang="es-MX" dirty="0"/>
              <a:t> </a:t>
            </a:r>
            <a:r>
              <a:rPr lang="es-MX" dirty="0" err="1"/>
              <a:t>this</a:t>
            </a:r>
            <a:r>
              <a:rPr lang="es-MX" dirty="0"/>
              <a:t> </a:t>
            </a:r>
            <a:r>
              <a:rPr lang="es-MX" dirty="0" err="1"/>
              <a:t>proposal</a:t>
            </a:r>
            <a:r>
              <a:rPr lang="es-MX" dirty="0"/>
              <a:t> </a:t>
            </a:r>
            <a:r>
              <a:rPr lang="es-MX" dirty="0" err="1"/>
              <a:t>lies</a:t>
            </a:r>
            <a:r>
              <a:rPr lang="es-MX" dirty="0"/>
              <a:t> in </a:t>
            </a:r>
            <a:r>
              <a:rPr lang="es-MX" dirty="0" err="1"/>
              <a:t>its</a:t>
            </a:r>
            <a:r>
              <a:rPr lang="es-MX" dirty="0"/>
              <a:t> </a:t>
            </a:r>
            <a:r>
              <a:rPr lang="es-MX" dirty="0" err="1"/>
              <a:t>ability</a:t>
            </a:r>
            <a:r>
              <a:rPr lang="es-MX" dirty="0"/>
              <a:t> </a:t>
            </a:r>
            <a:r>
              <a:rPr lang="es-MX" dirty="0" err="1"/>
              <a:t>to</a:t>
            </a:r>
            <a:r>
              <a:rPr lang="es-MX" dirty="0"/>
              <a:t> </a:t>
            </a:r>
            <a:r>
              <a:rPr lang="es-MX" dirty="0" err="1"/>
              <a:t>integrate</a:t>
            </a:r>
            <a:r>
              <a:rPr lang="es-MX" dirty="0"/>
              <a:t> </a:t>
            </a:r>
            <a:r>
              <a:rPr lang="es-MX" dirty="0" err="1"/>
              <a:t>compression</a:t>
            </a:r>
            <a:r>
              <a:rPr lang="es-MX" dirty="0"/>
              <a:t> and </a:t>
            </a:r>
            <a:r>
              <a:rPr lang="es-MX" dirty="0" err="1"/>
              <a:t>interpretability</a:t>
            </a:r>
            <a:r>
              <a:rPr lang="es-MX" dirty="0"/>
              <a:t>. </a:t>
            </a:r>
            <a:r>
              <a:rPr lang="es-MX" dirty="0" err="1"/>
              <a:t>Unlike</a:t>
            </a:r>
            <a:r>
              <a:rPr lang="es-MX" dirty="0"/>
              <a:t> </a:t>
            </a:r>
            <a:r>
              <a:rPr lang="es-MX" dirty="0" err="1"/>
              <a:t>traditional</a:t>
            </a:r>
            <a:r>
              <a:rPr lang="es-MX" dirty="0"/>
              <a:t> </a:t>
            </a:r>
            <a:r>
              <a:rPr lang="es-MX" dirty="0" err="1"/>
              <a:t>approaches</a:t>
            </a:r>
            <a:r>
              <a:rPr lang="es-MX" dirty="0"/>
              <a:t>, </a:t>
            </a:r>
            <a:r>
              <a:rPr lang="es-MX" dirty="0" err="1"/>
              <a:t>this</a:t>
            </a:r>
            <a:r>
              <a:rPr lang="es-MX" dirty="0"/>
              <a:t> </a:t>
            </a:r>
            <a:r>
              <a:rPr lang="es-MX" dirty="0" err="1"/>
              <a:t>method</a:t>
            </a:r>
            <a:r>
              <a:rPr lang="es-MX" dirty="0"/>
              <a:t> </a:t>
            </a:r>
            <a:r>
              <a:rPr lang="es-MX" dirty="0" err="1"/>
              <a:t>generates</a:t>
            </a:r>
            <a:r>
              <a:rPr lang="es-MX" dirty="0"/>
              <a:t> a </a:t>
            </a:r>
            <a:r>
              <a:rPr lang="es-MX" dirty="0" err="1"/>
              <a:t>readable</a:t>
            </a:r>
            <a:r>
              <a:rPr lang="es-MX" dirty="0"/>
              <a:t> </a:t>
            </a:r>
            <a:r>
              <a:rPr lang="es-MX" dirty="0" err="1"/>
              <a:t>dictionary</a:t>
            </a:r>
            <a:r>
              <a:rPr lang="es-MX" dirty="0"/>
              <a:t> </a:t>
            </a:r>
            <a:r>
              <a:rPr lang="es-MX" dirty="0" err="1"/>
              <a:t>that</a:t>
            </a:r>
            <a:r>
              <a:rPr lang="es-MX" dirty="0"/>
              <a:t> </a:t>
            </a:r>
            <a:r>
              <a:rPr lang="es-MX" dirty="0" err="1"/>
              <a:t>enables</a:t>
            </a:r>
            <a:r>
              <a:rPr lang="es-MX" dirty="0"/>
              <a:t> </a:t>
            </a:r>
            <a:r>
              <a:rPr lang="es-MX" dirty="0" err="1"/>
              <a:t>the</a:t>
            </a:r>
            <a:r>
              <a:rPr lang="es-MX" dirty="0"/>
              <a:t> </a:t>
            </a:r>
            <a:r>
              <a:rPr lang="es-MX" dirty="0" err="1"/>
              <a:t>analysis</a:t>
            </a:r>
            <a:r>
              <a:rPr lang="es-MX" dirty="0"/>
              <a:t> </a:t>
            </a:r>
            <a:r>
              <a:rPr lang="es-MX" dirty="0" err="1"/>
              <a:t>of</a:t>
            </a:r>
            <a:r>
              <a:rPr lang="es-MX" dirty="0"/>
              <a:t> repetitive </a:t>
            </a:r>
            <a:r>
              <a:rPr lang="es-MX" dirty="0" err="1"/>
              <a:t>patterns</a:t>
            </a:r>
            <a:r>
              <a:rPr lang="es-MX" dirty="0"/>
              <a:t> in DNA </a:t>
            </a:r>
            <a:r>
              <a:rPr lang="es-MX" dirty="0" err="1"/>
              <a:t>sequences</a:t>
            </a:r>
            <a:r>
              <a:rPr lang="es-MX" dirty="0"/>
              <a:t>. Thus, </a:t>
            </a:r>
            <a:r>
              <a:rPr lang="es-MX" dirty="0" err="1"/>
              <a:t>it</a:t>
            </a:r>
            <a:r>
              <a:rPr lang="es-MX" dirty="0"/>
              <a:t> </a:t>
            </a:r>
            <a:r>
              <a:rPr lang="es-MX" dirty="0" err="1"/>
              <a:t>not</a:t>
            </a:r>
            <a:r>
              <a:rPr lang="es-MX" dirty="0"/>
              <a:t> </a:t>
            </a:r>
            <a:r>
              <a:rPr lang="es-MX" dirty="0" err="1"/>
              <a:t>only</a:t>
            </a:r>
            <a:r>
              <a:rPr lang="es-MX" dirty="0"/>
              <a:t> </a:t>
            </a:r>
            <a:r>
              <a:rPr lang="es-MX" dirty="0" err="1"/>
              <a:t>optimizes</a:t>
            </a:r>
            <a:r>
              <a:rPr lang="es-MX" dirty="0"/>
              <a:t> </a:t>
            </a:r>
            <a:r>
              <a:rPr lang="es-MX" dirty="0" err="1"/>
              <a:t>storage</a:t>
            </a:r>
            <a:r>
              <a:rPr lang="es-MX" dirty="0"/>
              <a:t> </a:t>
            </a:r>
            <a:r>
              <a:rPr lang="es-MX" dirty="0" err="1"/>
              <a:t>but</a:t>
            </a:r>
            <a:r>
              <a:rPr lang="es-MX" dirty="0"/>
              <a:t> </a:t>
            </a:r>
            <a:r>
              <a:rPr lang="es-MX" dirty="0" err="1"/>
              <a:t>also</a:t>
            </a:r>
            <a:r>
              <a:rPr lang="es-MX" dirty="0"/>
              <a:t> </a:t>
            </a:r>
            <a:r>
              <a:rPr lang="es-MX" dirty="0" err="1"/>
              <a:t>facilitates</a:t>
            </a:r>
            <a:r>
              <a:rPr lang="es-MX" dirty="0"/>
              <a:t> data </a:t>
            </a:r>
            <a:r>
              <a:rPr lang="es-MX" dirty="0" err="1"/>
              <a:t>exploration</a:t>
            </a:r>
            <a:r>
              <a:rPr lang="es-MX" dirty="0"/>
              <a:t> and </a:t>
            </a:r>
            <a:r>
              <a:rPr lang="es-MX" dirty="0" err="1"/>
              <a:t>analysis</a:t>
            </a:r>
            <a:r>
              <a:rPr lang="es-MX" dirty="0"/>
              <a:t>, </a:t>
            </a:r>
            <a:r>
              <a:rPr lang="es-MX" dirty="0" err="1"/>
              <a:t>expanding</a:t>
            </a:r>
            <a:r>
              <a:rPr lang="es-MX" dirty="0"/>
              <a:t> </a:t>
            </a:r>
            <a:r>
              <a:rPr lang="es-MX" dirty="0" err="1"/>
              <a:t>its</a:t>
            </a:r>
            <a:r>
              <a:rPr lang="es-MX" dirty="0"/>
              <a:t> </a:t>
            </a:r>
            <a:r>
              <a:rPr lang="es-MX" dirty="0" err="1"/>
              <a:t>applicability</a:t>
            </a:r>
            <a:r>
              <a:rPr lang="es-MX" dirty="0"/>
              <a:t> in </a:t>
            </a:r>
            <a:r>
              <a:rPr lang="es-MX" dirty="0" err="1"/>
              <a:t>research</a:t>
            </a:r>
            <a:r>
              <a:rPr lang="es-MX" dirty="0"/>
              <a:t> </a:t>
            </a:r>
            <a:r>
              <a:rPr lang="es-MX" dirty="0" err="1"/>
              <a:t>contexts</a:t>
            </a:r>
            <a:r>
              <a:rPr lang="es-MX" dirty="0"/>
              <a:t>.</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10</a:t>
            </a:fld>
            <a:endParaRPr lang="en-US"/>
          </a:p>
        </p:txBody>
      </p:sp>
    </p:spTree>
    <p:extLst>
      <p:ext uri="{BB962C8B-B14F-4D97-AF65-F5344CB8AC3E}">
        <p14:creationId xmlns:p14="http://schemas.microsoft.com/office/powerpoint/2010/main" val="1140502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R" b="1" dirty="0"/>
              <a:t>ES:</a:t>
            </a:r>
            <a:br>
              <a:rPr lang="es-CR" dirty="0"/>
            </a:br>
            <a:r>
              <a:rPr lang="es-CR" dirty="0"/>
              <a:t>En conclusión, esta propuesta demuestra que es posible combinar modelos de lenguaje con métodos determinísticos para desarrollar un sistema de compresión eficiente, interpretable y confiable. Este enfoque representa una alternativa prometedora en el manejo de grandes volúmenes de datos genómicos.</a:t>
            </a:r>
          </a:p>
          <a:p>
            <a:endParaRPr lang="es-CR" dirty="0"/>
          </a:p>
          <a:p>
            <a:r>
              <a:rPr lang="es-CR" b="1" dirty="0"/>
              <a:t>EN:</a:t>
            </a:r>
            <a:br>
              <a:rPr lang="es-CR" dirty="0"/>
            </a:br>
            <a:r>
              <a:rPr lang="es-CR" dirty="0"/>
              <a:t>In </a:t>
            </a:r>
            <a:r>
              <a:rPr lang="es-CR" dirty="0" err="1"/>
              <a:t>conclusion</a:t>
            </a:r>
            <a:r>
              <a:rPr lang="es-CR" dirty="0"/>
              <a:t>, </a:t>
            </a:r>
            <a:r>
              <a:rPr lang="es-CR" dirty="0" err="1"/>
              <a:t>this</a:t>
            </a:r>
            <a:r>
              <a:rPr lang="es-CR" dirty="0"/>
              <a:t> </a:t>
            </a:r>
            <a:r>
              <a:rPr lang="es-CR" dirty="0" err="1"/>
              <a:t>proposal</a:t>
            </a:r>
            <a:r>
              <a:rPr lang="es-CR" dirty="0"/>
              <a:t> </a:t>
            </a:r>
            <a:r>
              <a:rPr lang="es-CR" dirty="0" err="1"/>
              <a:t>demonstrates</a:t>
            </a:r>
            <a:r>
              <a:rPr lang="es-CR" dirty="0"/>
              <a:t> </a:t>
            </a:r>
            <a:r>
              <a:rPr lang="es-CR" dirty="0" err="1"/>
              <a:t>that</a:t>
            </a:r>
            <a:r>
              <a:rPr lang="es-CR" dirty="0"/>
              <a:t> </a:t>
            </a:r>
            <a:r>
              <a:rPr lang="es-CR" dirty="0" err="1"/>
              <a:t>it</a:t>
            </a:r>
            <a:r>
              <a:rPr lang="es-CR" dirty="0"/>
              <a:t> </a:t>
            </a:r>
            <a:r>
              <a:rPr lang="es-CR" dirty="0" err="1"/>
              <a:t>is</a:t>
            </a:r>
            <a:r>
              <a:rPr lang="es-CR" dirty="0"/>
              <a:t> </a:t>
            </a:r>
            <a:r>
              <a:rPr lang="es-CR" dirty="0" err="1"/>
              <a:t>possible</a:t>
            </a:r>
            <a:r>
              <a:rPr lang="es-CR" dirty="0"/>
              <a:t> </a:t>
            </a:r>
            <a:r>
              <a:rPr lang="es-CR" dirty="0" err="1"/>
              <a:t>to</a:t>
            </a:r>
            <a:r>
              <a:rPr lang="es-CR" dirty="0"/>
              <a:t> combine </a:t>
            </a:r>
            <a:r>
              <a:rPr lang="es-CR" dirty="0" err="1"/>
              <a:t>language</a:t>
            </a:r>
            <a:r>
              <a:rPr lang="es-CR" dirty="0"/>
              <a:t> </a:t>
            </a:r>
            <a:r>
              <a:rPr lang="es-CR" dirty="0" err="1"/>
              <a:t>models</a:t>
            </a:r>
            <a:r>
              <a:rPr lang="es-CR" dirty="0"/>
              <a:t> </a:t>
            </a:r>
            <a:r>
              <a:rPr lang="es-CR" dirty="0" err="1"/>
              <a:t>with</a:t>
            </a:r>
            <a:r>
              <a:rPr lang="es-CR" dirty="0"/>
              <a:t> </a:t>
            </a:r>
            <a:r>
              <a:rPr lang="es-CR" dirty="0" err="1"/>
              <a:t>deterministic</a:t>
            </a:r>
            <a:r>
              <a:rPr lang="es-CR" dirty="0"/>
              <a:t> </a:t>
            </a:r>
            <a:r>
              <a:rPr lang="es-CR" dirty="0" err="1"/>
              <a:t>methods</a:t>
            </a:r>
            <a:r>
              <a:rPr lang="es-CR" dirty="0"/>
              <a:t> </a:t>
            </a:r>
            <a:r>
              <a:rPr lang="es-CR" dirty="0" err="1"/>
              <a:t>to</a:t>
            </a:r>
            <a:r>
              <a:rPr lang="es-CR" dirty="0"/>
              <a:t> </a:t>
            </a:r>
            <a:r>
              <a:rPr lang="es-CR" dirty="0" err="1"/>
              <a:t>develop</a:t>
            </a:r>
            <a:r>
              <a:rPr lang="es-CR" dirty="0"/>
              <a:t> </a:t>
            </a:r>
            <a:r>
              <a:rPr lang="es-CR" dirty="0" err="1"/>
              <a:t>an</a:t>
            </a:r>
            <a:r>
              <a:rPr lang="es-CR" dirty="0"/>
              <a:t> </a:t>
            </a:r>
            <a:r>
              <a:rPr lang="es-CR" dirty="0" err="1"/>
              <a:t>efficient</a:t>
            </a:r>
            <a:r>
              <a:rPr lang="es-CR" dirty="0"/>
              <a:t>, interpretable, and </a:t>
            </a:r>
            <a:r>
              <a:rPr lang="es-CR" dirty="0" err="1"/>
              <a:t>reliable</a:t>
            </a:r>
            <a:r>
              <a:rPr lang="es-CR" dirty="0"/>
              <a:t> </a:t>
            </a:r>
            <a:r>
              <a:rPr lang="es-CR" dirty="0" err="1"/>
              <a:t>compression</a:t>
            </a:r>
            <a:r>
              <a:rPr lang="es-CR" dirty="0"/>
              <a:t> </a:t>
            </a:r>
            <a:r>
              <a:rPr lang="es-CR" dirty="0" err="1"/>
              <a:t>system</a:t>
            </a:r>
            <a:r>
              <a:rPr lang="es-CR" dirty="0"/>
              <a:t>. </a:t>
            </a:r>
            <a:r>
              <a:rPr lang="es-CR" dirty="0" err="1"/>
              <a:t>This</a:t>
            </a:r>
            <a:r>
              <a:rPr lang="es-CR" dirty="0"/>
              <a:t> </a:t>
            </a:r>
            <a:r>
              <a:rPr lang="es-CR" dirty="0" err="1"/>
              <a:t>approach</a:t>
            </a:r>
            <a:r>
              <a:rPr lang="es-CR" dirty="0"/>
              <a:t> </a:t>
            </a:r>
            <a:r>
              <a:rPr lang="es-CR" dirty="0" err="1"/>
              <a:t>represents</a:t>
            </a:r>
            <a:r>
              <a:rPr lang="es-CR" dirty="0"/>
              <a:t> a </a:t>
            </a:r>
            <a:r>
              <a:rPr lang="es-CR" dirty="0" err="1"/>
              <a:t>promising</a:t>
            </a:r>
            <a:r>
              <a:rPr lang="es-CR" dirty="0"/>
              <a:t> alternative </a:t>
            </a:r>
            <a:r>
              <a:rPr lang="es-CR" dirty="0" err="1"/>
              <a:t>for</a:t>
            </a:r>
            <a:r>
              <a:rPr lang="es-CR" dirty="0"/>
              <a:t> </a:t>
            </a:r>
            <a:r>
              <a:rPr lang="es-CR" dirty="0" err="1"/>
              <a:t>managing</a:t>
            </a:r>
            <a:r>
              <a:rPr lang="es-CR" dirty="0"/>
              <a:t> </a:t>
            </a:r>
            <a:r>
              <a:rPr lang="es-CR" dirty="0" err="1"/>
              <a:t>large</a:t>
            </a:r>
            <a:r>
              <a:rPr lang="es-CR" dirty="0"/>
              <a:t> </a:t>
            </a:r>
            <a:r>
              <a:rPr lang="es-CR" dirty="0" err="1"/>
              <a:t>volumes</a:t>
            </a:r>
            <a:r>
              <a:rPr lang="es-CR" dirty="0"/>
              <a:t> </a:t>
            </a:r>
            <a:r>
              <a:rPr lang="es-CR" dirty="0" err="1"/>
              <a:t>of</a:t>
            </a:r>
            <a:r>
              <a:rPr lang="es-CR" dirty="0"/>
              <a:t> </a:t>
            </a:r>
            <a:r>
              <a:rPr lang="es-CR" dirty="0" err="1"/>
              <a:t>genomic</a:t>
            </a:r>
            <a:r>
              <a:rPr lang="es-CR" dirty="0"/>
              <a:t> data.</a:t>
            </a:r>
          </a:p>
          <a:p>
            <a:endParaRPr lang="es-CR"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11</a:t>
            </a:fld>
            <a:endParaRPr lang="en-US"/>
          </a:p>
        </p:txBody>
      </p:sp>
    </p:spTree>
    <p:extLst>
      <p:ext uri="{BB962C8B-B14F-4D97-AF65-F5344CB8AC3E}">
        <p14:creationId xmlns:p14="http://schemas.microsoft.com/office/powerpoint/2010/main" val="3800260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449694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aam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그림 개체 틀 2">
            <a:extLst>
              <a:ext uri="{FF2B5EF4-FFF2-40B4-BE49-F238E27FC236}">
                <a16:creationId xmlns:a16="http://schemas.microsoft.com/office/drawing/2014/main" id="{F3556F45-B52B-4717-BF75-F11DBF16EBCE}"/>
              </a:ext>
            </a:extLst>
          </p:cNvPr>
          <p:cNvSpPr>
            <a:spLocks noGrp="1" noChangeAspect="1"/>
          </p:cNvSpPr>
          <p:nvPr>
            <p:ph type="pic" sz="quarter" idx="16" hasCustomPrompt="1"/>
          </p:nvPr>
        </p:nvSpPr>
        <p:spPr>
          <a:xfrm>
            <a:off x="8683487" y="1821198"/>
            <a:ext cx="2130552" cy="2130552"/>
          </a:xfrm>
          <a:prstGeom prst="ellipse">
            <a:avLst/>
          </a:prstGeom>
          <a:solidFill>
            <a:schemeClr val="bg1">
              <a:lumMod val="95000"/>
            </a:schemeClr>
          </a:solidFill>
          <a:ln w="19050">
            <a:noFill/>
          </a:ln>
        </p:spPr>
        <p:txBody>
          <a:bodyPr anchor="ctr"/>
          <a:lstStyle>
            <a:lvl1pPr marL="0" indent="0" algn="ctr">
              <a:lnSpc>
                <a:spcPct val="100000"/>
              </a:lnSpc>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
        <p:nvSpPr>
          <p:cNvPr id="5" name="그림 개체 틀 2">
            <a:extLst>
              <a:ext uri="{FF2B5EF4-FFF2-40B4-BE49-F238E27FC236}">
                <a16:creationId xmlns:a16="http://schemas.microsoft.com/office/drawing/2014/main" id="{84DB2C7F-4749-4A41-B6AE-569A04DE4B0C}"/>
              </a:ext>
            </a:extLst>
          </p:cNvPr>
          <p:cNvSpPr>
            <a:spLocks noGrp="1" noChangeAspect="1"/>
          </p:cNvSpPr>
          <p:nvPr>
            <p:ph type="pic" sz="quarter" idx="17" hasCustomPrompt="1"/>
          </p:nvPr>
        </p:nvSpPr>
        <p:spPr>
          <a:xfrm>
            <a:off x="5026041" y="1821198"/>
            <a:ext cx="2130552" cy="2130552"/>
          </a:xfrm>
          <a:prstGeom prst="ellipse">
            <a:avLst/>
          </a:prstGeom>
          <a:solidFill>
            <a:schemeClr val="bg1">
              <a:lumMod val="95000"/>
            </a:schemeClr>
          </a:solidFill>
          <a:ln w="19050">
            <a:noFill/>
          </a:ln>
        </p:spPr>
        <p:txBody>
          <a:bodyPr anchor="ctr"/>
          <a:lstStyle>
            <a:lvl1pPr marL="0" indent="0" algn="ctr">
              <a:lnSpc>
                <a:spcPct val="100000"/>
              </a:lnSpc>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
        <p:nvSpPr>
          <p:cNvPr id="6" name="그림 개체 틀 2">
            <a:extLst>
              <a:ext uri="{FF2B5EF4-FFF2-40B4-BE49-F238E27FC236}">
                <a16:creationId xmlns:a16="http://schemas.microsoft.com/office/drawing/2014/main" id="{2F0C0210-4F13-4F65-9A10-5A96A8BAEDFD}"/>
              </a:ext>
            </a:extLst>
          </p:cNvPr>
          <p:cNvSpPr>
            <a:spLocks noGrp="1" noChangeAspect="1"/>
          </p:cNvSpPr>
          <p:nvPr>
            <p:ph type="pic" sz="quarter" idx="18" hasCustomPrompt="1"/>
          </p:nvPr>
        </p:nvSpPr>
        <p:spPr>
          <a:xfrm>
            <a:off x="1368595" y="1821198"/>
            <a:ext cx="2130552" cy="2130552"/>
          </a:xfrm>
          <a:prstGeom prst="ellipse">
            <a:avLst/>
          </a:prstGeom>
          <a:solidFill>
            <a:schemeClr val="bg1">
              <a:lumMod val="95000"/>
            </a:schemeClr>
          </a:solidFill>
          <a:ln w="19050">
            <a:noFill/>
          </a:ln>
        </p:spPr>
        <p:txBody>
          <a:bodyPr anchor="ctr"/>
          <a:lstStyle>
            <a:lvl1pPr marL="0" indent="0" algn="ctr">
              <a:lnSpc>
                <a:spcPct val="100000"/>
              </a:lnSpc>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BB784824-3819-4FB0-B331-34B94213AC25}"/>
              </a:ext>
            </a:extLst>
          </p:cNvPr>
          <p:cNvSpPr/>
          <p:nvPr userDrawn="1"/>
        </p:nvSpPr>
        <p:spPr>
          <a:xfrm>
            <a:off x="642101" y="1011115"/>
            <a:ext cx="7686136" cy="27168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그림 개체 틀 2">
            <a:extLst>
              <a:ext uri="{FF2B5EF4-FFF2-40B4-BE49-F238E27FC236}">
                <a16:creationId xmlns:a16="http://schemas.microsoft.com/office/drawing/2014/main" id="{85877B83-A694-4E4E-B7BC-4DD69E01E3CF}"/>
              </a:ext>
            </a:extLst>
          </p:cNvPr>
          <p:cNvSpPr>
            <a:spLocks noGrp="1"/>
          </p:cNvSpPr>
          <p:nvPr>
            <p:ph type="pic" sz="quarter" idx="11" hasCustomPrompt="1"/>
          </p:nvPr>
        </p:nvSpPr>
        <p:spPr>
          <a:xfrm>
            <a:off x="826496" y="706232"/>
            <a:ext cx="3658673" cy="377837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C994C5-DC19-4F27-B245-44D0FAA7758D}"/>
              </a:ext>
            </a:extLst>
          </p:cNvPr>
          <p:cNvSpPr/>
          <p:nvPr userDrawn="1"/>
        </p:nvSpPr>
        <p:spPr>
          <a:xfrm>
            <a:off x="0" y="0"/>
            <a:ext cx="12192000" cy="4249783"/>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969045BD-DBD0-469D-9DC9-0BC787FF7CCA}"/>
              </a:ext>
            </a:extLst>
          </p:cNvPr>
          <p:cNvGrpSpPr/>
          <p:nvPr userDrawn="1"/>
        </p:nvGrpSpPr>
        <p:grpSpPr>
          <a:xfrm>
            <a:off x="6357379" y="701878"/>
            <a:ext cx="5179940" cy="2846026"/>
            <a:chOff x="-548507" y="477868"/>
            <a:chExt cx="11570449" cy="6357177"/>
          </a:xfrm>
        </p:grpSpPr>
        <p:sp>
          <p:nvSpPr>
            <p:cNvPr id="4" name="Freeform: Shape 4">
              <a:extLst>
                <a:ext uri="{FF2B5EF4-FFF2-40B4-BE49-F238E27FC236}">
                  <a16:creationId xmlns:a16="http://schemas.microsoft.com/office/drawing/2014/main" id="{52E0B34C-1A97-4054-916C-4AAB0FE0DFF0}"/>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5">
              <a:extLst>
                <a:ext uri="{FF2B5EF4-FFF2-40B4-BE49-F238E27FC236}">
                  <a16:creationId xmlns:a16="http://schemas.microsoft.com/office/drawing/2014/main" id="{EE9092A3-7538-45DE-9BD7-FF62E5CF5F51}"/>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6">
              <a:extLst>
                <a:ext uri="{FF2B5EF4-FFF2-40B4-BE49-F238E27FC236}">
                  <a16:creationId xmlns:a16="http://schemas.microsoft.com/office/drawing/2014/main" id="{4E19A0AC-CCD1-40C3-B5FE-11F9B39830BE}"/>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7">
              <a:extLst>
                <a:ext uri="{FF2B5EF4-FFF2-40B4-BE49-F238E27FC236}">
                  <a16:creationId xmlns:a16="http://schemas.microsoft.com/office/drawing/2014/main" id="{BD1A02A2-976E-4FAE-9A61-8BE2B7DF72DF}"/>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8">
              <a:extLst>
                <a:ext uri="{FF2B5EF4-FFF2-40B4-BE49-F238E27FC236}">
                  <a16:creationId xmlns:a16="http://schemas.microsoft.com/office/drawing/2014/main" id="{5FBA3FB7-5249-4508-99BA-B6102133E4F0}"/>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9">
              <a:extLst>
                <a:ext uri="{FF2B5EF4-FFF2-40B4-BE49-F238E27FC236}">
                  <a16:creationId xmlns:a16="http://schemas.microsoft.com/office/drawing/2014/main" id="{4988F48E-6DE4-4F27-8D7B-450E21BD36CE}"/>
                </a:ext>
              </a:extLst>
            </p:cNvPr>
            <p:cNvGrpSpPr/>
            <p:nvPr/>
          </p:nvGrpSpPr>
          <p:grpSpPr>
            <a:xfrm>
              <a:off x="1606" y="6382978"/>
              <a:ext cx="413937" cy="115242"/>
              <a:chOff x="5955" y="6353672"/>
              <a:chExt cx="413937" cy="115242"/>
            </a:xfrm>
          </p:grpSpPr>
          <p:sp>
            <p:nvSpPr>
              <p:cNvPr id="14" name="Rectangle: Rounded Corners 14">
                <a:extLst>
                  <a:ext uri="{FF2B5EF4-FFF2-40B4-BE49-F238E27FC236}">
                    <a16:creationId xmlns:a16="http://schemas.microsoft.com/office/drawing/2014/main" id="{B17DAC18-E851-4091-B093-CD9B6224DFD1}"/>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5">
                <a:extLst>
                  <a:ext uri="{FF2B5EF4-FFF2-40B4-BE49-F238E27FC236}">
                    <a16:creationId xmlns:a16="http://schemas.microsoft.com/office/drawing/2014/main" id="{982BC485-1A81-4F96-9035-23367C2942EC}"/>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0">
              <a:extLst>
                <a:ext uri="{FF2B5EF4-FFF2-40B4-BE49-F238E27FC236}">
                  <a16:creationId xmlns:a16="http://schemas.microsoft.com/office/drawing/2014/main" id="{6E5DC3E6-431D-45B5-998C-7B634901A92D}"/>
                </a:ext>
              </a:extLst>
            </p:cNvPr>
            <p:cNvGrpSpPr/>
            <p:nvPr/>
          </p:nvGrpSpPr>
          <p:grpSpPr>
            <a:xfrm>
              <a:off x="9855291" y="6381600"/>
              <a:ext cx="885989" cy="115242"/>
              <a:chOff x="5955" y="6353672"/>
              <a:chExt cx="413937" cy="115242"/>
            </a:xfrm>
          </p:grpSpPr>
          <p:sp>
            <p:nvSpPr>
              <p:cNvPr id="12" name="Rectangle: Rounded Corners 12">
                <a:extLst>
                  <a:ext uri="{FF2B5EF4-FFF2-40B4-BE49-F238E27FC236}">
                    <a16:creationId xmlns:a16="http://schemas.microsoft.com/office/drawing/2014/main" id="{31CC8DA8-31D8-4268-9C33-8AF1C3C6E5F2}"/>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3">
                <a:extLst>
                  <a:ext uri="{FF2B5EF4-FFF2-40B4-BE49-F238E27FC236}">
                    <a16:creationId xmlns:a16="http://schemas.microsoft.com/office/drawing/2014/main" id="{C12D3079-7AC5-495A-AA91-C84912EED1F8}"/>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1">
              <a:extLst>
                <a:ext uri="{FF2B5EF4-FFF2-40B4-BE49-F238E27FC236}">
                  <a16:creationId xmlns:a16="http://schemas.microsoft.com/office/drawing/2014/main" id="{9CF2ADDC-1B8B-4C33-8508-4E4C7898ED69}"/>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그림 개체 틀 2">
            <a:extLst>
              <a:ext uri="{FF2B5EF4-FFF2-40B4-BE49-F238E27FC236}">
                <a16:creationId xmlns:a16="http://schemas.microsoft.com/office/drawing/2014/main" id="{39B001DF-9016-4E1B-AA17-AB80DE198943}"/>
              </a:ext>
            </a:extLst>
          </p:cNvPr>
          <p:cNvSpPr>
            <a:spLocks noGrp="1"/>
          </p:cNvSpPr>
          <p:nvPr>
            <p:ph type="pic" sz="quarter" idx="11" hasCustomPrompt="1"/>
          </p:nvPr>
        </p:nvSpPr>
        <p:spPr>
          <a:xfrm>
            <a:off x="7053321" y="861723"/>
            <a:ext cx="3814976" cy="2298759"/>
          </a:xfrm>
          <a:prstGeom prst="rect">
            <a:avLst/>
          </a:prstGeom>
          <a:solidFill>
            <a:schemeClr val="bg1">
              <a:lumMod val="95000"/>
            </a:schemeClr>
          </a:solidFill>
          <a:ln w="25400">
            <a:noFill/>
          </a:ln>
          <a:effectLst/>
        </p:spPr>
        <p:txBody>
          <a:bodyPr anchor="ctr"/>
          <a:lstStyle>
            <a:lvl1pPr marL="0" indent="0" algn="ctr">
              <a:buFontTx/>
              <a:buNone/>
              <a:defRPr sz="18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199585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19">
            <a:extLst>
              <a:ext uri="{FF2B5EF4-FFF2-40B4-BE49-F238E27FC236}">
                <a16:creationId xmlns:a16="http://schemas.microsoft.com/office/drawing/2014/main" id="{2BBDE994-BFD7-4DE6-A1D3-EBF95A3F09F3}"/>
              </a:ext>
            </a:extLst>
          </p:cNvPr>
          <p:cNvSpPr>
            <a:spLocks noGrp="1"/>
          </p:cNvSpPr>
          <p:nvPr>
            <p:ph type="pic" idx="14" hasCustomPrompt="1"/>
          </p:nvPr>
        </p:nvSpPr>
        <p:spPr>
          <a:xfrm>
            <a:off x="0" y="0"/>
            <a:ext cx="7155850" cy="6858000"/>
          </a:xfrm>
          <a:custGeom>
            <a:avLst/>
            <a:gdLst>
              <a:gd name="connsiteX0" fmla="*/ 0 w 7155850"/>
              <a:gd name="connsiteY0" fmla="*/ 3024930 h 6858000"/>
              <a:gd name="connsiteX1" fmla="*/ 2358530 w 7155850"/>
              <a:gd name="connsiteY1" fmla="*/ 6858000 h 6858000"/>
              <a:gd name="connsiteX2" fmla="*/ 1329860 w 7155850"/>
              <a:gd name="connsiteY2" fmla="*/ 6858000 h 6858000"/>
              <a:gd name="connsiteX3" fmla="*/ 0 w 7155850"/>
              <a:gd name="connsiteY3" fmla="*/ 4691859 h 6858000"/>
              <a:gd name="connsiteX4" fmla="*/ 1 w 7155850"/>
              <a:gd name="connsiteY4" fmla="*/ 397145 h 6858000"/>
              <a:gd name="connsiteX5" fmla="*/ 3459898 w 7155850"/>
              <a:gd name="connsiteY5" fmla="*/ 6020152 h 6858000"/>
              <a:gd name="connsiteX6" fmla="*/ 2945517 w 7155850"/>
              <a:gd name="connsiteY6" fmla="*/ 6858000 h 6858000"/>
              <a:gd name="connsiteX7" fmla="*/ 1 w 7155850"/>
              <a:gd name="connsiteY7" fmla="*/ 2060197 h 6858000"/>
              <a:gd name="connsiteX8" fmla="*/ 396861 w 7155850"/>
              <a:gd name="connsiteY8" fmla="*/ 0 h 6858000"/>
              <a:gd name="connsiteX9" fmla="*/ 7155850 w 7155850"/>
              <a:gd name="connsiteY9" fmla="*/ 0 h 6858000"/>
              <a:gd name="connsiteX10" fmla="*/ 3780151 w 7155850"/>
              <a:gd name="connsiteY10" fmla="*/ 54985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55850" h="6858000">
                <a:moveTo>
                  <a:pt x="0" y="3024930"/>
                </a:moveTo>
                <a:lnTo>
                  <a:pt x="2358530" y="6858000"/>
                </a:lnTo>
                <a:lnTo>
                  <a:pt x="1329860" y="6858000"/>
                </a:lnTo>
                <a:lnTo>
                  <a:pt x="0" y="4691859"/>
                </a:lnTo>
                <a:close/>
                <a:moveTo>
                  <a:pt x="1" y="397145"/>
                </a:moveTo>
                <a:lnTo>
                  <a:pt x="3459898" y="6020152"/>
                </a:lnTo>
                <a:lnTo>
                  <a:pt x="2945517" y="6858000"/>
                </a:lnTo>
                <a:lnTo>
                  <a:pt x="1" y="2060197"/>
                </a:lnTo>
                <a:close/>
                <a:moveTo>
                  <a:pt x="396861" y="0"/>
                </a:moveTo>
                <a:lnTo>
                  <a:pt x="7155850" y="0"/>
                </a:lnTo>
                <a:lnTo>
                  <a:pt x="3780151" y="5498507"/>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a:t>
            </a:r>
          </a:p>
          <a:p>
            <a:r>
              <a:rPr lang="en-US" altLang="ko-KR" dirty="0"/>
              <a:t>Send To Back </a:t>
            </a:r>
            <a:endParaRPr lang="ko-KR" altLang="en-US" dirty="0"/>
          </a:p>
        </p:txBody>
      </p:sp>
      <p:sp>
        <p:nvSpPr>
          <p:cNvPr id="7" name="Freeform: Shape 15">
            <a:extLst>
              <a:ext uri="{FF2B5EF4-FFF2-40B4-BE49-F238E27FC236}">
                <a16:creationId xmlns:a16="http://schemas.microsoft.com/office/drawing/2014/main" id="{E3E7B99A-9F00-47E6-947A-7C79E89DCE59}"/>
              </a:ext>
            </a:extLst>
          </p:cNvPr>
          <p:cNvSpPr/>
          <p:nvPr userDrawn="1"/>
        </p:nvSpPr>
        <p:spPr>
          <a:xfrm>
            <a:off x="3679724" y="0"/>
            <a:ext cx="3654526" cy="5805796"/>
          </a:xfrm>
          <a:custGeom>
            <a:avLst/>
            <a:gdLst>
              <a:gd name="connsiteX0" fmla="*/ 3470586 w 3654526"/>
              <a:gd name="connsiteY0" fmla="*/ 0 h 5805796"/>
              <a:gd name="connsiteX1" fmla="*/ 3654526 w 3654526"/>
              <a:gd name="connsiteY1" fmla="*/ 0 h 5805796"/>
              <a:gd name="connsiteX2" fmla="*/ 92923 w 3654526"/>
              <a:gd name="connsiteY2" fmla="*/ 5805796 h 5805796"/>
              <a:gd name="connsiteX3" fmla="*/ 0 w 3654526"/>
              <a:gd name="connsiteY3" fmla="*/ 5657428 h 5805796"/>
            </a:gdLst>
            <a:ahLst/>
            <a:cxnLst>
              <a:cxn ang="0">
                <a:pos x="connsiteX0" y="connsiteY0"/>
              </a:cxn>
              <a:cxn ang="0">
                <a:pos x="connsiteX1" y="connsiteY1"/>
              </a:cxn>
              <a:cxn ang="0">
                <a:pos x="connsiteX2" y="connsiteY2"/>
              </a:cxn>
              <a:cxn ang="0">
                <a:pos x="connsiteX3" y="connsiteY3"/>
              </a:cxn>
            </a:cxnLst>
            <a:rect l="l" t="t" r="r" b="b"/>
            <a:pathLst>
              <a:path w="3654526" h="5805796">
                <a:moveTo>
                  <a:pt x="3470586" y="0"/>
                </a:moveTo>
                <a:lnTo>
                  <a:pt x="3654526" y="0"/>
                </a:lnTo>
                <a:lnTo>
                  <a:pt x="92923" y="5805796"/>
                </a:lnTo>
                <a:lnTo>
                  <a:pt x="0" y="565742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095C4AF2-9882-4E94-9973-811C0468B45F}"/>
              </a:ext>
            </a:extLst>
          </p:cNvPr>
          <p:cNvSpPr/>
          <p:nvPr userDrawn="1"/>
        </p:nvSpPr>
        <p:spPr>
          <a:xfrm flipH="1">
            <a:off x="219075" y="1"/>
            <a:ext cx="3605167" cy="5726897"/>
          </a:xfrm>
          <a:custGeom>
            <a:avLst/>
            <a:gdLst>
              <a:gd name="connsiteX0" fmla="*/ 3605167 w 3605167"/>
              <a:gd name="connsiteY0" fmla="*/ 0 h 5726897"/>
              <a:gd name="connsiteX1" fmla="*/ 3421227 w 3605167"/>
              <a:gd name="connsiteY1" fmla="*/ 0 h 5726897"/>
              <a:gd name="connsiteX2" fmla="*/ 0 w 3605167"/>
              <a:gd name="connsiteY2" fmla="*/ 5576967 h 5726897"/>
              <a:gd name="connsiteX3" fmla="*/ 91965 w 3605167"/>
              <a:gd name="connsiteY3" fmla="*/ 5726897 h 5726897"/>
            </a:gdLst>
            <a:ahLst/>
            <a:cxnLst>
              <a:cxn ang="0">
                <a:pos x="connsiteX0" y="connsiteY0"/>
              </a:cxn>
              <a:cxn ang="0">
                <a:pos x="connsiteX1" y="connsiteY1"/>
              </a:cxn>
              <a:cxn ang="0">
                <a:pos x="connsiteX2" y="connsiteY2"/>
              </a:cxn>
              <a:cxn ang="0">
                <a:pos x="connsiteX3" y="connsiteY3"/>
              </a:cxn>
            </a:cxnLst>
            <a:rect l="l" t="t" r="r" b="b"/>
            <a:pathLst>
              <a:path w="3605167" h="5726897">
                <a:moveTo>
                  <a:pt x="3605167" y="0"/>
                </a:moveTo>
                <a:lnTo>
                  <a:pt x="3421227" y="0"/>
                </a:lnTo>
                <a:lnTo>
                  <a:pt x="0" y="5576967"/>
                </a:lnTo>
                <a:lnTo>
                  <a:pt x="91965" y="57268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5283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3F395361-1C95-48E5-9933-F20FEA6CE89E}"/>
              </a:ext>
            </a:extLst>
          </p:cNvPr>
          <p:cNvSpPr>
            <a:spLocks noGrp="1"/>
          </p:cNvSpPr>
          <p:nvPr>
            <p:ph type="pic" idx="16" hasCustomPrompt="1"/>
          </p:nvPr>
        </p:nvSpPr>
        <p:spPr>
          <a:xfrm>
            <a:off x="4403035" y="0"/>
            <a:ext cx="7788965" cy="6858000"/>
          </a:xfrm>
          <a:custGeom>
            <a:avLst/>
            <a:gdLst>
              <a:gd name="connsiteX0" fmla="*/ 3894482 w 7788965"/>
              <a:gd name="connsiteY0" fmla="*/ 2146852 h 6858000"/>
              <a:gd name="connsiteX1" fmla="*/ 7788964 w 7788965"/>
              <a:gd name="connsiteY1" fmla="*/ 6858000 h 6858000"/>
              <a:gd name="connsiteX2" fmla="*/ 0 w 7788965"/>
              <a:gd name="connsiteY2" fmla="*/ 6858000 h 6858000"/>
              <a:gd name="connsiteX3" fmla="*/ 0 w 7788965"/>
              <a:gd name="connsiteY3" fmla="*/ 6857999 h 6858000"/>
              <a:gd name="connsiteX4" fmla="*/ 5734705 w 7788965"/>
              <a:gd name="connsiteY4" fmla="*/ 0 h 6858000"/>
              <a:gd name="connsiteX5" fmla="*/ 7788965 w 7788965"/>
              <a:gd name="connsiteY5" fmla="*/ 0 h 6858000"/>
              <a:gd name="connsiteX6" fmla="*/ 7788965 w 7788965"/>
              <a:gd name="connsiteY6" fmla="*/ 6641351 h 6858000"/>
              <a:gd name="connsiteX7" fmla="*/ 4000566 w 7788965"/>
              <a:gd name="connsiteY7" fmla="*/ 2078313 h 6858000"/>
              <a:gd name="connsiteX8" fmla="*/ 2214158 w 7788965"/>
              <a:gd name="connsiteY8" fmla="*/ 0 h 6858000"/>
              <a:gd name="connsiteX9" fmla="*/ 5574803 w 7788965"/>
              <a:gd name="connsiteY9" fmla="*/ 0 h 6858000"/>
              <a:gd name="connsiteX10" fmla="*/ 3894480 w 7788965"/>
              <a:gd name="connsiteY10" fmla="*/ 2032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88965" h="6858000">
                <a:moveTo>
                  <a:pt x="3894482" y="2146852"/>
                </a:moveTo>
                <a:lnTo>
                  <a:pt x="7788964" y="6858000"/>
                </a:lnTo>
                <a:lnTo>
                  <a:pt x="0" y="6858000"/>
                </a:lnTo>
                <a:lnTo>
                  <a:pt x="0" y="6857999"/>
                </a:lnTo>
                <a:close/>
                <a:moveTo>
                  <a:pt x="5734705" y="0"/>
                </a:moveTo>
                <a:lnTo>
                  <a:pt x="7788965" y="0"/>
                </a:lnTo>
                <a:lnTo>
                  <a:pt x="7788965" y="6641351"/>
                </a:lnTo>
                <a:lnTo>
                  <a:pt x="4000566" y="2078313"/>
                </a:lnTo>
                <a:close/>
                <a:moveTo>
                  <a:pt x="2214158" y="0"/>
                </a:moveTo>
                <a:lnTo>
                  <a:pt x="5574803" y="0"/>
                </a:lnTo>
                <a:lnTo>
                  <a:pt x="3894480" y="2032683"/>
                </a:ln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1105E10B-FFD0-4677-B2E6-14CA2F4D8F80}"/>
              </a:ext>
            </a:extLst>
          </p:cNvPr>
          <p:cNvSpPr>
            <a:spLocks noGrp="1"/>
          </p:cNvSpPr>
          <p:nvPr>
            <p:ph type="pic" sz="quarter" idx="14" hasCustomPrompt="1"/>
          </p:nvPr>
        </p:nvSpPr>
        <p:spPr>
          <a:xfrm>
            <a:off x="0" y="1"/>
            <a:ext cx="12192000" cy="4519748"/>
          </a:xfrm>
          <a:custGeom>
            <a:avLst/>
            <a:gdLst>
              <a:gd name="connsiteX0" fmla="*/ 0 w 9144000"/>
              <a:gd name="connsiteY0" fmla="*/ 0 h 1556792"/>
              <a:gd name="connsiteX1" fmla="*/ 9144000 w 9144000"/>
              <a:gd name="connsiteY1" fmla="*/ 0 h 1556792"/>
              <a:gd name="connsiteX2" fmla="*/ 9144000 w 9144000"/>
              <a:gd name="connsiteY2" fmla="*/ 1556792 h 1556792"/>
              <a:gd name="connsiteX3" fmla="*/ 0 w 9144000"/>
              <a:gd name="connsiteY3" fmla="*/ 1556792 h 1556792"/>
              <a:gd name="connsiteX4" fmla="*/ 0 w 9144000"/>
              <a:gd name="connsiteY4" fmla="*/ 0 h 1556792"/>
              <a:gd name="connsiteX0" fmla="*/ 0 w 9144000"/>
              <a:gd name="connsiteY0" fmla="*/ 0 h 3176042"/>
              <a:gd name="connsiteX1" fmla="*/ 9144000 w 9144000"/>
              <a:gd name="connsiteY1" fmla="*/ 0 h 3176042"/>
              <a:gd name="connsiteX2" fmla="*/ 9144000 w 9144000"/>
              <a:gd name="connsiteY2" fmla="*/ 3176042 h 3176042"/>
              <a:gd name="connsiteX3" fmla="*/ 0 w 9144000"/>
              <a:gd name="connsiteY3" fmla="*/ 1556792 h 3176042"/>
              <a:gd name="connsiteX4" fmla="*/ 0 w 9144000"/>
              <a:gd name="connsiteY4" fmla="*/ 0 h 3176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3176042">
                <a:moveTo>
                  <a:pt x="0" y="0"/>
                </a:moveTo>
                <a:lnTo>
                  <a:pt x="9144000" y="0"/>
                </a:lnTo>
                <a:lnTo>
                  <a:pt x="9144000" y="3176042"/>
                </a:lnTo>
                <a:lnTo>
                  <a:pt x="0" y="1556792"/>
                </a:lnTo>
                <a:lnTo>
                  <a:pt x="0" y="0"/>
                </a:lnTo>
                <a:close/>
              </a:path>
            </a:pathLst>
          </a:cu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750974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8FDFBF2D-779E-46A7-8456-27FAF63EA8EA}"/>
              </a:ext>
            </a:extLst>
          </p:cNvPr>
          <p:cNvSpPr>
            <a:spLocks noGrp="1"/>
          </p:cNvSpPr>
          <p:nvPr>
            <p:ph type="pic" sz="quarter" idx="16" hasCustomPrompt="1"/>
          </p:nvPr>
        </p:nvSpPr>
        <p:spPr>
          <a:xfrm>
            <a:off x="-1" y="0"/>
            <a:ext cx="4570491" cy="6858000"/>
          </a:xfrm>
          <a:prstGeom prst="rect">
            <a:avLst/>
          </a:prstGeom>
          <a:solidFill>
            <a:schemeClr val="bg1">
              <a:lumMod val="95000"/>
            </a:schemeClr>
          </a:solidFill>
          <a:ln w="19050">
            <a:noFill/>
          </a:ln>
        </p:spPr>
        <p:txBody>
          <a:bodyPr anchor="ctr"/>
          <a:lstStyle>
            <a:lvl1pPr marL="0" indent="0" algn="ctr">
              <a:lnSpc>
                <a:spcPct val="100000"/>
              </a:lnSpc>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theme" Target="../theme/theme2.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6" r:id="rId13"/>
    <p:sldLayoutId id="2147483685" r:id="rId14"/>
    <p:sldLayoutId id="2147483684" r:id="rId15"/>
    <p:sldLayoutId id="2147483689" r:id="rId16"/>
    <p:sldLayoutId id="2147483688" r:id="rId17"/>
    <p:sldLayoutId id="2147483687" r:id="rId18"/>
    <p:sldLayoutId id="2147483671" r:id="rId19"/>
    <p:sldLayoutId id="2147483672"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hart" Target="../charts/chart1.xml"/><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FCF83935-F37D-234B-9DA2-E905CFC1DAF2}"/>
              </a:ext>
            </a:extLst>
          </p:cNvPr>
          <p:cNvSpPr txBox="1">
            <a:spLocks/>
          </p:cNvSpPr>
          <p:nvPr/>
        </p:nvSpPr>
        <p:spPr>
          <a:xfrm>
            <a:off x="3909609" y="5401586"/>
            <a:ext cx="4697900" cy="572918"/>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CR" sz="1400" i="1" dirty="0">
                <a:solidFill>
                  <a:schemeClr val="bg1"/>
                </a:solidFill>
                <a:latin typeface="Arial" panose="020B0604020202020204" pitchFamily="34" charset="0"/>
                <a:ea typeface="+mj-ea"/>
                <a:cs typeface="Arial" panose="020B0604020202020204" pitchFamily="34" charset="0"/>
              </a:rPr>
              <a:t>A </a:t>
            </a:r>
            <a:r>
              <a:rPr lang="es-CR" sz="1400" i="1" dirty="0" err="1">
                <a:solidFill>
                  <a:schemeClr val="bg1"/>
                </a:solidFill>
                <a:latin typeface="Arial" panose="020B0604020202020204" pitchFamily="34" charset="0"/>
                <a:ea typeface="+mj-ea"/>
                <a:cs typeface="Arial" panose="020B0604020202020204" pitchFamily="34" charset="0"/>
              </a:rPr>
              <a:t>hybrid</a:t>
            </a:r>
            <a:r>
              <a:rPr lang="es-CR" sz="1400" i="1" dirty="0">
                <a:solidFill>
                  <a:schemeClr val="bg1"/>
                </a:solidFill>
                <a:latin typeface="Arial" panose="020B0604020202020204" pitchFamily="34" charset="0"/>
                <a:ea typeface="+mj-ea"/>
                <a:cs typeface="Arial" panose="020B0604020202020204" pitchFamily="34" charset="0"/>
              </a:rPr>
              <a:t> </a:t>
            </a:r>
            <a:r>
              <a:rPr lang="es-CR" sz="1400" i="1" dirty="0" err="1">
                <a:solidFill>
                  <a:schemeClr val="bg1"/>
                </a:solidFill>
                <a:latin typeface="Arial" panose="020B0604020202020204" pitchFamily="34" charset="0"/>
                <a:ea typeface="+mj-ea"/>
                <a:cs typeface="Arial" panose="020B0604020202020204" pitchFamily="34" charset="0"/>
              </a:rPr>
              <a:t>architecture</a:t>
            </a:r>
            <a:r>
              <a:rPr lang="es-CR" sz="1400" i="1" dirty="0">
                <a:solidFill>
                  <a:schemeClr val="bg1"/>
                </a:solidFill>
                <a:latin typeface="Arial" panose="020B0604020202020204" pitchFamily="34" charset="0"/>
                <a:ea typeface="+mj-ea"/>
                <a:cs typeface="Arial" panose="020B0604020202020204" pitchFamily="34" charset="0"/>
              </a:rPr>
              <a:t> </a:t>
            </a:r>
            <a:r>
              <a:rPr lang="es-CR" sz="1400" i="1" dirty="0" err="1">
                <a:solidFill>
                  <a:schemeClr val="bg1"/>
                </a:solidFill>
                <a:latin typeface="Arial" panose="020B0604020202020204" pitchFamily="34" charset="0"/>
                <a:ea typeface="+mj-ea"/>
                <a:cs typeface="Arial" panose="020B0604020202020204" pitchFamily="34" charset="0"/>
              </a:rPr>
              <a:t>to</a:t>
            </a:r>
            <a:r>
              <a:rPr lang="es-CR" sz="1400" i="1" dirty="0">
                <a:solidFill>
                  <a:schemeClr val="bg1"/>
                </a:solidFill>
                <a:latin typeface="Arial" panose="020B0604020202020204" pitchFamily="34" charset="0"/>
                <a:ea typeface="+mj-ea"/>
                <a:cs typeface="Arial" panose="020B0604020202020204" pitchFamily="34" charset="0"/>
              </a:rPr>
              <a:t> </a:t>
            </a:r>
            <a:r>
              <a:rPr lang="es-CR" sz="1400" i="1" dirty="0" err="1">
                <a:solidFill>
                  <a:schemeClr val="bg1"/>
                </a:solidFill>
                <a:latin typeface="Arial" panose="020B0604020202020204" pitchFamily="34" charset="0"/>
                <a:ea typeface="+mj-ea"/>
                <a:cs typeface="Arial" panose="020B0604020202020204" pitchFamily="34" charset="0"/>
              </a:rPr>
              <a:t>detect</a:t>
            </a:r>
            <a:r>
              <a:rPr lang="es-CR" sz="1400" i="1" dirty="0">
                <a:solidFill>
                  <a:schemeClr val="bg1"/>
                </a:solidFill>
                <a:latin typeface="Arial" panose="020B0604020202020204" pitchFamily="34" charset="0"/>
                <a:ea typeface="+mj-ea"/>
                <a:cs typeface="Arial" panose="020B0604020202020204" pitchFamily="34" charset="0"/>
              </a:rPr>
              <a:t> repetitive </a:t>
            </a:r>
            <a:r>
              <a:rPr lang="es-CR" sz="1400" i="1" dirty="0" err="1">
                <a:solidFill>
                  <a:schemeClr val="bg1"/>
                </a:solidFill>
                <a:latin typeface="Arial" panose="020B0604020202020204" pitchFamily="34" charset="0"/>
                <a:ea typeface="+mj-ea"/>
                <a:cs typeface="Arial" panose="020B0604020202020204" pitchFamily="34" charset="0"/>
              </a:rPr>
              <a:t>patterns</a:t>
            </a:r>
            <a:r>
              <a:rPr lang="es-CR" sz="1400" i="1" dirty="0">
                <a:solidFill>
                  <a:schemeClr val="bg1"/>
                </a:solidFill>
                <a:latin typeface="Arial" panose="020B0604020202020204" pitchFamily="34" charset="0"/>
                <a:ea typeface="+mj-ea"/>
                <a:cs typeface="Arial" panose="020B0604020202020204" pitchFamily="34" charset="0"/>
              </a:rPr>
              <a:t> in DNA </a:t>
            </a:r>
            <a:r>
              <a:rPr lang="es-CR" sz="1400" i="1" dirty="0" err="1">
                <a:solidFill>
                  <a:schemeClr val="bg1"/>
                </a:solidFill>
                <a:latin typeface="Arial" panose="020B0604020202020204" pitchFamily="34" charset="0"/>
                <a:ea typeface="+mj-ea"/>
                <a:cs typeface="Arial" panose="020B0604020202020204" pitchFamily="34" charset="0"/>
              </a:rPr>
              <a:t>sequences</a:t>
            </a:r>
            <a:r>
              <a:rPr lang="es-CR" sz="1400" i="1" dirty="0">
                <a:solidFill>
                  <a:schemeClr val="bg1"/>
                </a:solidFill>
                <a:latin typeface="Arial" panose="020B0604020202020204" pitchFamily="34" charset="0"/>
                <a:ea typeface="+mj-ea"/>
                <a:cs typeface="Arial" panose="020B0604020202020204" pitchFamily="34" charset="0"/>
              </a:rPr>
              <a:t> </a:t>
            </a:r>
            <a:r>
              <a:rPr lang="es-CR" sz="1400" i="1" dirty="0" err="1">
                <a:solidFill>
                  <a:schemeClr val="bg1"/>
                </a:solidFill>
                <a:latin typeface="Arial" panose="020B0604020202020204" pitchFamily="34" charset="0"/>
                <a:ea typeface="+mj-ea"/>
                <a:cs typeface="Arial" panose="020B0604020202020204" pitchFamily="34" charset="0"/>
              </a:rPr>
              <a:t>with</a:t>
            </a:r>
            <a:r>
              <a:rPr lang="es-CR" sz="1400" i="1" dirty="0">
                <a:solidFill>
                  <a:schemeClr val="bg1"/>
                </a:solidFill>
                <a:latin typeface="Arial" panose="020B0604020202020204" pitchFamily="34" charset="0"/>
                <a:ea typeface="+mj-ea"/>
                <a:cs typeface="Arial" panose="020B0604020202020204" pitchFamily="34" charset="0"/>
              </a:rPr>
              <a:t> reversible </a:t>
            </a:r>
            <a:r>
              <a:rPr lang="es-CR" sz="1400" i="1" dirty="0" err="1">
                <a:solidFill>
                  <a:schemeClr val="bg1"/>
                </a:solidFill>
                <a:latin typeface="Arial" panose="020B0604020202020204" pitchFamily="34" charset="0"/>
                <a:ea typeface="+mj-ea"/>
                <a:cs typeface="Arial" panose="020B0604020202020204" pitchFamily="34" charset="0"/>
              </a:rPr>
              <a:t>compression</a:t>
            </a:r>
            <a:endParaRPr lang="es-CR" sz="1400" i="1" dirty="0">
              <a:solidFill>
                <a:schemeClr val="bg1"/>
              </a:solidFill>
              <a:latin typeface="Arial" panose="020B0604020202020204" pitchFamily="34" charset="0"/>
              <a:ea typeface="+mj-ea"/>
              <a:cs typeface="Arial" panose="020B0604020202020204" pitchFamily="34" charset="0"/>
            </a:endParaRPr>
          </a:p>
        </p:txBody>
      </p:sp>
      <p:sp>
        <p:nvSpPr>
          <p:cNvPr id="4" name="Rectángulo 3">
            <a:extLst>
              <a:ext uri="{FF2B5EF4-FFF2-40B4-BE49-F238E27FC236}">
                <a16:creationId xmlns:a16="http://schemas.microsoft.com/office/drawing/2014/main" id="{6B10A9DC-BA6F-B259-FBAA-C99810FF72BC}"/>
              </a:ext>
            </a:extLst>
          </p:cNvPr>
          <p:cNvSpPr/>
          <p:nvPr/>
        </p:nvSpPr>
        <p:spPr>
          <a:xfrm>
            <a:off x="772159" y="71121"/>
            <a:ext cx="10972800" cy="4826000"/>
          </a:xfrm>
          <a:prstGeom prst="rect">
            <a:avLst/>
          </a:prstGeom>
          <a:solidFill>
            <a:schemeClr val="dk1">
              <a:alpha val="84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R" dirty="0"/>
          </a:p>
        </p:txBody>
      </p:sp>
      <p:sp>
        <p:nvSpPr>
          <p:cNvPr id="2" name="Título 1">
            <a:extLst>
              <a:ext uri="{FF2B5EF4-FFF2-40B4-BE49-F238E27FC236}">
                <a16:creationId xmlns:a16="http://schemas.microsoft.com/office/drawing/2014/main" id="{A78A8E27-ED7F-A0CD-D78D-AD3066A14BAA}"/>
              </a:ext>
            </a:extLst>
          </p:cNvPr>
          <p:cNvSpPr txBox="1">
            <a:spLocks/>
          </p:cNvSpPr>
          <p:nvPr/>
        </p:nvSpPr>
        <p:spPr>
          <a:xfrm>
            <a:off x="2706592" y="2814918"/>
            <a:ext cx="6778815" cy="2107603"/>
          </a:xfrm>
          <a:prstGeom prst="rect">
            <a:avLst/>
          </a:prstGeom>
        </p:spPr>
        <p:txBody>
          <a:bodyPr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R" sz="5000" b="1" dirty="0">
                <a:solidFill>
                  <a:schemeClr val="bg1"/>
                </a:solidFill>
                <a:latin typeface="Times New Roman" panose="02020603050405020304" pitchFamily="18" charset="0"/>
                <a:cs typeface="Times New Roman" panose="02020603050405020304" pitchFamily="18" charset="0"/>
              </a:rPr>
              <a:t>FASTQ File </a:t>
            </a:r>
            <a:r>
              <a:rPr lang="es-CR" sz="5000" b="1" dirty="0" err="1">
                <a:solidFill>
                  <a:schemeClr val="bg1"/>
                </a:solidFill>
                <a:latin typeface="Times New Roman" panose="02020603050405020304" pitchFamily="18" charset="0"/>
                <a:cs typeface="Times New Roman" panose="02020603050405020304" pitchFamily="18" charset="0"/>
              </a:rPr>
              <a:t>Compression</a:t>
            </a:r>
            <a:r>
              <a:rPr lang="es-CR" sz="5000" b="1" dirty="0">
                <a:solidFill>
                  <a:schemeClr val="bg1"/>
                </a:solidFill>
                <a:latin typeface="Times New Roman" panose="02020603050405020304" pitchFamily="18" charset="0"/>
                <a:cs typeface="Times New Roman" panose="02020603050405020304" pitchFamily="18" charset="0"/>
              </a:rPr>
              <a:t> </a:t>
            </a:r>
            <a:r>
              <a:rPr lang="es-CR" sz="5000" b="1" dirty="0" err="1">
                <a:solidFill>
                  <a:schemeClr val="bg1"/>
                </a:solidFill>
                <a:latin typeface="Times New Roman" panose="02020603050405020304" pitchFamily="18" charset="0"/>
                <a:cs typeface="Times New Roman" panose="02020603050405020304" pitchFamily="18" charset="0"/>
              </a:rPr>
              <a:t>using</a:t>
            </a:r>
            <a:r>
              <a:rPr lang="es-CR" sz="5000" b="1" dirty="0">
                <a:solidFill>
                  <a:schemeClr val="bg1"/>
                </a:solidFill>
                <a:latin typeface="Times New Roman" panose="02020603050405020304" pitchFamily="18" charset="0"/>
                <a:cs typeface="Times New Roman" panose="02020603050405020304" pitchFamily="18" charset="0"/>
              </a:rPr>
              <a:t> </a:t>
            </a:r>
            <a:r>
              <a:rPr lang="es-CR" sz="5000" b="1" dirty="0" err="1">
                <a:solidFill>
                  <a:schemeClr val="bg1"/>
                </a:solidFill>
                <a:latin typeface="Times New Roman" panose="02020603050405020304" pitchFamily="18" charset="0"/>
                <a:cs typeface="Times New Roman" panose="02020603050405020304" pitchFamily="18" charset="0"/>
              </a:rPr>
              <a:t>LLMs</a:t>
            </a:r>
            <a:endParaRPr lang="es-CR" sz="5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200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a:extLst>
              <a:ext uri="{FF2B5EF4-FFF2-40B4-BE49-F238E27FC236}">
                <a16:creationId xmlns:a16="http://schemas.microsoft.com/office/drawing/2014/main" id="{54C27974-976E-7290-5C9E-6CE0CC11EB7E}"/>
              </a:ext>
            </a:extLst>
          </p:cNvPr>
          <p:cNvSpPr/>
          <p:nvPr/>
        </p:nvSpPr>
        <p:spPr>
          <a:xfrm>
            <a:off x="0" y="0"/>
            <a:ext cx="12111318" cy="68580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CR"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90FAFA6-58E6-487A-AD0A-625D73874EDB}"/>
              </a:ext>
            </a:extLst>
          </p:cNvPr>
          <p:cNvSpPr txBox="1"/>
          <p:nvPr/>
        </p:nvSpPr>
        <p:spPr>
          <a:xfrm>
            <a:off x="0" y="77522"/>
            <a:ext cx="12192000" cy="861774"/>
          </a:xfrm>
          <a:prstGeom prst="rect">
            <a:avLst/>
          </a:prstGeom>
          <a:noFill/>
        </p:spPr>
        <p:txBody>
          <a:bodyPr wrap="square" rtlCol="0" anchor="ctr">
            <a:spAutoFit/>
          </a:bodyPr>
          <a:lstStyle/>
          <a:p>
            <a:pPr algn="ctr"/>
            <a:r>
              <a:rPr lang="en-US" altLang="ko-KR" sz="5000" dirty="0">
                <a:solidFill>
                  <a:schemeClr val="bg1"/>
                </a:solidFill>
                <a:latin typeface="Arial" panose="020B0604020202020204" pitchFamily="34" charset="0"/>
                <a:cs typeface="Arial" panose="020B0604020202020204" pitchFamily="34" charset="0"/>
              </a:rPr>
              <a:t>Agenda</a:t>
            </a:r>
            <a:endParaRPr lang="ko-KR" altLang="en-US" sz="5000" dirty="0">
              <a:solidFill>
                <a:schemeClr val="bg1"/>
              </a:solidFill>
              <a:latin typeface="Arial" panose="020B0604020202020204" pitchFamily="34" charset="0"/>
              <a:cs typeface="Arial" panose="020B0604020202020204" pitchFamily="34" charset="0"/>
            </a:endParaRPr>
          </a:p>
        </p:txBody>
      </p:sp>
      <p:grpSp>
        <p:nvGrpSpPr>
          <p:cNvPr id="9" name="Group 34">
            <a:extLst>
              <a:ext uri="{FF2B5EF4-FFF2-40B4-BE49-F238E27FC236}">
                <a16:creationId xmlns:a16="http://schemas.microsoft.com/office/drawing/2014/main" id="{45DD36F2-11E5-49B2-BD35-2DE3003A8B25}"/>
              </a:ext>
            </a:extLst>
          </p:cNvPr>
          <p:cNvGrpSpPr/>
          <p:nvPr/>
        </p:nvGrpSpPr>
        <p:grpSpPr>
          <a:xfrm>
            <a:off x="1143467" y="815863"/>
            <a:ext cx="7290156" cy="612834"/>
            <a:chOff x="6751980" y="1666119"/>
            <a:chExt cx="6538375" cy="852783"/>
          </a:xfrm>
        </p:grpSpPr>
        <p:sp>
          <p:nvSpPr>
            <p:cNvPr id="10" name="TextBox 9">
              <a:extLst>
                <a:ext uri="{FF2B5EF4-FFF2-40B4-BE49-F238E27FC236}">
                  <a16:creationId xmlns:a16="http://schemas.microsoft.com/office/drawing/2014/main" id="{0B0C933E-084C-4A76-96EE-44F55EDED2F5}"/>
                </a:ext>
              </a:extLst>
            </p:cNvPr>
            <p:cNvSpPr txBox="1"/>
            <p:nvPr/>
          </p:nvSpPr>
          <p:spPr>
            <a:xfrm>
              <a:off x="6770451" y="2090618"/>
              <a:ext cx="6519904" cy="428284"/>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Rapid growth of FASTQ data leads to high costs and contains unused redundancy.</a:t>
              </a:r>
              <a:endParaRPr lang="en-US" altLang="ko-KR" sz="1400"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8B8D9DCC-8284-42BD-9ED5-6AE289AFC430}"/>
                </a:ext>
              </a:extLst>
            </p:cNvPr>
            <p:cNvSpPr txBox="1"/>
            <p:nvPr/>
          </p:nvSpPr>
          <p:spPr>
            <a:xfrm>
              <a:off x="6751980" y="1666119"/>
              <a:ext cx="4507692" cy="428284"/>
            </a:xfrm>
            <a:prstGeom prst="rect">
              <a:avLst/>
            </a:prstGeom>
            <a:noFill/>
          </p:spPr>
          <p:txBody>
            <a:bodyPr wrap="square" lIns="108000" rIns="108000" rtlCol="0">
              <a:spAutoFit/>
            </a:bodyPr>
            <a:lstStyle/>
            <a:p>
              <a:r>
                <a:rPr lang="en-US" altLang="ko-KR" sz="1400" b="1" dirty="0">
                  <a:solidFill>
                    <a:schemeClr val="bg1"/>
                  </a:solidFill>
                  <a:latin typeface="Arial" panose="020B0604020202020204" pitchFamily="34" charset="0"/>
                  <a:cs typeface="Arial" panose="020B0604020202020204" pitchFamily="34" charset="0"/>
                </a:rPr>
                <a:t>The Problem</a:t>
              </a:r>
              <a:endParaRPr lang="ko-KR" altLang="en-US" sz="1400" b="1" dirty="0">
                <a:solidFill>
                  <a:schemeClr val="bg1"/>
                </a:solidFill>
                <a:latin typeface="Arial" panose="020B0604020202020204" pitchFamily="34" charset="0"/>
                <a:cs typeface="Arial" panose="020B0604020202020204" pitchFamily="34" charset="0"/>
              </a:endParaRPr>
            </a:p>
          </p:txBody>
        </p:sp>
      </p:grpSp>
      <p:grpSp>
        <p:nvGrpSpPr>
          <p:cNvPr id="13" name="Group 38">
            <a:extLst>
              <a:ext uri="{FF2B5EF4-FFF2-40B4-BE49-F238E27FC236}">
                <a16:creationId xmlns:a16="http://schemas.microsoft.com/office/drawing/2014/main" id="{24E03A32-5C4E-49E3-AC9F-CEE661867957}"/>
              </a:ext>
            </a:extLst>
          </p:cNvPr>
          <p:cNvGrpSpPr/>
          <p:nvPr/>
        </p:nvGrpSpPr>
        <p:grpSpPr>
          <a:xfrm>
            <a:off x="1110196" y="1629472"/>
            <a:ext cx="7285165" cy="803944"/>
            <a:chOff x="6751979" y="1666120"/>
            <a:chExt cx="6293269" cy="1215679"/>
          </a:xfrm>
        </p:grpSpPr>
        <p:sp>
          <p:nvSpPr>
            <p:cNvPr id="14" name="TextBox 13">
              <a:extLst>
                <a:ext uri="{FF2B5EF4-FFF2-40B4-BE49-F238E27FC236}">
                  <a16:creationId xmlns:a16="http://schemas.microsoft.com/office/drawing/2014/main" id="{AB0AB112-7915-4169-87F7-7CBD54E098B0}"/>
                </a:ext>
              </a:extLst>
            </p:cNvPr>
            <p:cNvSpPr txBox="1"/>
            <p:nvPr/>
          </p:nvSpPr>
          <p:spPr>
            <a:xfrm>
              <a:off x="6770451" y="2090615"/>
              <a:ext cx="6274797" cy="791184"/>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Format that stores DNA sequence, identifier, and quality, where most compression value lies in the sequence.</a:t>
              </a:r>
              <a:endParaRPr lang="en-US" altLang="ko-KR" sz="14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0578C84-9C71-4F74-90E0-0179A3F55094}"/>
                </a:ext>
              </a:extLst>
            </p:cNvPr>
            <p:cNvSpPr txBox="1"/>
            <p:nvPr/>
          </p:nvSpPr>
          <p:spPr>
            <a:xfrm>
              <a:off x="6751979" y="1666120"/>
              <a:ext cx="4507692" cy="465403"/>
            </a:xfrm>
            <a:prstGeom prst="rect">
              <a:avLst/>
            </a:prstGeom>
            <a:noFill/>
          </p:spPr>
          <p:txBody>
            <a:bodyPr wrap="square" lIns="108000" rIns="108000" rtlCol="0">
              <a:spAutoFit/>
            </a:bodyPr>
            <a:lstStyle/>
            <a:p>
              <a:r>
                <a:rPr lang="es-CR" sz="1400" b="1" dirty="0" err="1">
                  <a:solidFill>
                    <a:schemeClr val="bg1"/>
                  </a:solidFill>
                  <a:latin typeface="Arial" panose="020B0604020202020204" pitchFamily="34" charset="0"/>
                  <a:cs typeface="Arial" panose="020B0604020202020204" pitchFamily="34" charset="0"/>
                </a:rPr>
                <a:t>What</a:t>
              </a:r>
              <a:r>
                <a:rPr lang="es-CR" sz="1400" b="1" dirty="0">
                  <a:solidFill>
                    <a:schemeClr val="bg1"/>
                  </a:solidFill>
                  <a:latin typeface="Arial" panose="020B0604020202020204" pitchFamily="34" charset="0"/>
                  <a:cs typeface="Arial" panose="020B0604020202020204" pitchFamily="34" charset="0"/>
                </a:rPr>
                <a:t> </a:t>
              </a:r>
              <a:r>
                <a:rPr lang="es-CR" sz="1400" b="1" dirty="0" err="1">
                  <a:solidFill>
                    <a:schemeClr val="bg1"/>
                  </a:solidFill>
                  <a:latin typeface="Arial" panose="020B0604020202020204" pitchFamily="34" charset="0"/>
                  <a:cs typeface="Arial" panose="020B0604020202020204" pitchFamily="34" charset="0"/>
                </a:rPr>
                <a:t>is</a:t>
              </a:r>
              <a:r>
                <a:rPr lang="es-CR" sz="1400" b="1" dirty="0">
                  <a:solidFill>
                    <a:schemeClr val="bg1"/>
                  </a:solidFill>
                  <a:latin typeface="Arial" panose="020B0604020202020204" pitchFamily="34" charset="0"/>
                  <a:cs typeface="Arial" panose="020B0604020202020204" pitchFamily="34" charset="0"/>
                </a:rPr>
                <a:t> FASTQ?</a:t>
              </a:r>
              <a:endParaRPr lang="ko-KR" altLang="en-US" sz="1400" b="1" dirty="0">
                <a:solidFill>
                  <a:schemeClr val="bg1"/>
                </a:solidFill>
                <a:latin typeface="Arial" panose="020B0604020202020204" pitchFamily="34" charset="0"/>
                <a:cs typeface="Arial" panose="020B0604020202020204" pitchFamily="34" charset="0"/>
              </a:endParaRPr>
            </a:p>
          </p:txBody>
        </p:sp>
      </p:grpSp>
      <p:grpSp>
        <p:nvGrpSpPr>
          <p:cNvPr id="17" name="Group 42">
            <a:extLst>
              <a:ext uri="{FF2B5EF4-FFF2-40B4-BE49-F238E27FC236}">
                <a16:creationId xmlns:a16="http://schemas.microsoft.com/office/drawing/2014/main" id="{35EF662A-BC3C-41A4-90C5-FB9AACD25209}"/>
              </a:ext>
            </a:extLst>
          </p:cNvPr>
          <p:cNvGrpSpPr/>
          <p:nvPr/>
        </p:nvGrpSpPr>
        <p:grpSpPr>
          <a:xfrm>
            <a:off x="1131579" y="2466472"/>
            <a:ext cx="7290156" cy="588501"/>
            <a:chOff x="6751979" y="1666120"/>
            <a:chExt cx="4526164" cy="889898"/>
          </a:xfrm>
        </p:grpSpPr>
        <p:sp>
          <p:nvSpPr>
            <p:cNvPr id="18" name="TextBox 17">
              <a:extLst>
                <a:ext uri="{FF2B5EF4-FFF2-40B4-BE49-F238E27FC236}">
                  <a16:creationId xmlns:a16="http://schemas.microsoft.com/office/drawing/2014/main" id="{8E7DF941-D4C5-4D7D-9CFD-DD2F6F5563EC}"/>
                </a:ext>
              </a:extLst>
            </p:cNvPr>
            <p:cNvSpPr txBox="1"/>
            <p:nvPr/>
          </p:nvSpPr>
          <p:spPr>
            <a:xfrm>
              <a:off x="6770451" y="2090615"/>
              <a:ext cx="4507692" cy="465403"/>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Detect repetitive patterns and replace them with tokens using a reversible dictionary.</a:t>
              </a:r>
              <a:endParaRPr lang="en-US" altLang="ko-KR" sz="1400"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BB21BB5F-CDC8-46F1-93B6-C8BAFCFFE335}"/>
                </a:ext>
              </a:extLst>
            </p:cNvPr>
            <p:cNvSpPr txBox="1"/>
            <p:nvPr/>
          </p:nvSpPr>
          <p:spPr>
            <a:xfrm>
              <a:off x="6751979" y="1666120"/>
              <a:ext cx="4507692" cy="465403"/>
            </a:xfrm>
            <a:prstGeom prst="rect">
              <a:avLst/>
            </a:prstGeom>
            <a:noFill/>
          </p:spPr>
          <p:txBody>
            <a:bodyPr wrap="square" lIns="108000" rIns="108000" rtlCol="0">
              <a:spAutoFit/>
            </a:bodyPr>
            <a:lstStyle/>
            <a:p>
              <a:r>
                <a:rPr lang="es-CR" sz="1400" b="1" dirty="0">
                  <a:solidFill>
                    <a:schemeClr val="bg1"/>
                  </a:solidFill>
                  <a:latin typeface="Arial" panose="020B0604020202020204" pitchFamily="34" charset="0"/>
                  <a:cs typeface="Arial" panose="020B0604020202020204" pitchFamily="34" charset="0"/>
                </a:rPr>
                <a:t>Core Idea</a:t>
              </a:r>
              <a:endParaRPr lang="ko-KR" altLang="en-US" sz="1400" b="1" dirty="0">
                <a:solidFill>
                  <a:schemeClr val="bg1"/>
                </a:solidFill>
                <a:latin typeface="Arial" panose="020B0604020202020204" pitchFamily="34" charset="0"/>
                <a:cs typeface="Arial" panose="020B0604020202020204" pitchFamily="34" charset="0"/>
              </a:endParaRPr>
            </a:p>
          </p:txBody>
        </p:sp>
      </p:grpSp>
      <p:grpSp>
        <p:nvGrpSpPr>
          <p:cNvPr id="21" name="Group 46">
            <a:extLst>
              <a:ext uri="{FF2B5EF4-FFF2-40B4-BE49-F238E27FC236}">
                <a16:creationId xmlns:a16="http://schemas.microsoft.com/office/drawing/2014/main" id="{2FFB56F9-CDD6-4E31-8899-475279997F25}"/>
              </a:ext>
            </a:extLst>
          </p:cNvPr>
          <p:cNvGrpSpPr/>
          <p:nvPr/>
        </p:nvGrpSpPr>
        <p:grpSpPr>
          <a:xfrm>
            <a:off x="1161331" y="3213025"/>
            <a:ext cx="7233833" cy="614105"/>
            <a:chOff x="6751979" y="1666120"/>
            <a:chExt cx="4526164" cy="851000"/>
          </a:xfrm>
        </p:grpSpPr>
        <p:sp>
          <p:nvSpPr>
            <p:cNvPr id="22" name="TextBox 21">
              <a:extLst>
                <a:ext uri="{FF2B5EF4-FFF2-40B4-BE49-F238E27FC236}">
                  <a16:creationId xmlns:a16="http://schemas.microsoft.com/office/drawing/2014/main" id="{753F01FD-538A-4B5B-A37C-9084A65B3F56}"/>
                </a:ext>
              </a:extLst>
            </p:cNvPr>
            <p:cNvSpPr txBox="1"/>
            <p:nvPr/>
          </p:nvSpPr>
          <p:spPr>
            <a:xfrm>
              <a:off x="6770451" y="2090616"/>
              <a:ext cx="4507692" cy="426504"/>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LLMs suggest candidate patterns that are later validated deterministically.</a:t>
              </a:r>
              <a:endParaRPr lang="en-US" altLang="ko-KR" sz="1400" dirty="0">
                <a:solidFill>
                  <a:schemeClr val="bg1"/>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27043EE3-6800-4EB3-9459-E52474F63A5B}"/>
                </a:ext>
              </a:extLst>
            </p:cNvPr>
            <p:cNvSpPr txBox="1"/>
            <p:nvPr/>
          </p:nvSpPr>
          <p:spPr>
            <a:xfrm>
              <a:off x="6751979" y="1666120"/>
              <a:ext cx="4507692" cy="426504"/>
            </a:xfrm>
            <a:prstGeom prst="rect">
              <a:avLst/>
            </a:prstGeom>
            <a:noFill/>
          </p:spPr>
          <p:txBody>
            <a:bodyPr wrap="square" lIns="108000" rIns="108000" rtlCol="0">
              <a:spAutoFit/>
            </a:bodyPr>
            <a:lstStyle/>
            <a:p>
              <a:r>
                <a:rPr lang="es-CR" sz="1400" b="1" dirty="0">
                  <a:solidFill>
                    <a:schemeClr val="bg1"/>
                  </a:solidFill>
                  <a:latin typeface="Arial" panose="020B0604020202020204" pitchFamily="34" charset="0"/>
                  <a:cs typeface="Arial" panose="020B0604020202020204" pitchFamily="34" charset="0"/>
                </a:rPr>
                <a:t>Role </a:t>
              </a:r>
              <a:r>
                <a:rPr lang="es-CR" sz="1400" b="1" dirty="0" err="1">
                  <a:solidFill>
                    <a:schemeClr val="bg1"/>
                  </a:solidFill>
                  <a:latin typeface="Arial" panose="020B0604020202020204" pitchFamily="34" charset="0"/>
                  <a:cs typeface="Arial" panose="020B0604020202020204" pitchFamily="34" charset="0"/>
                </a:rPr>
                <a:t>of</a:t>
              </a:r>
              <a:r>
                <a:rPr lang="es-CR" sz="1400" b="1" dirty="0">
                  <a:solidFill>
                    <a:schemeClr val="bg1"/>
                  </a:solidFill>
                  <a:latin typeface="Arial" panose="020B0604020202020204" pitchFamily="34" charset="0"/>
                  <a:cs typeface="Arial" panose="020B0604020202020204" pitchFamily="34" charset="0"/>
                </a:rPr>
                <a:t> </a:t>
              </a:r>
              <a:r>
                <a:rPr lang="es-CR" sz="1400" b="1" dirty="0" err="1">
                  <a:solidFill>
                    <a:schemeClr val="bg1"/>
                  </a:solidFill>
                  <a:latin typeface="Arial" panose="020B0604020202020204" pitchFamily="34" charset="0"/>
                  <a:cs typeface="Arial" panose="020B0604020202020204" pitchFamily="34" charset="0"/>
                </a:rPr>
                <a:t>LLMs</a:t>
              </a:r>
              <a:endParaRPr lang="ko-KR" altLang="en-US" sz="1400" b="1" dirty="0">
                <a:solidFill>
                  <a:schemeClr val="bg1"/>
                </a:solidFill>
                <a:latin typeface="Arial" panose="020B0604020202020204" pitchFamily="34" charset="0"/>
                <a:cs typeface="Arial" panose="020B0604020202020204" pitchFamily="34" charset="0"/>
              </a:endParaRPr>
            </a:p>
          </p:txBody>
        </p:sp>
      </p:grpSp>
      <p:grpSp>
        <p:nvGrpSpPr>
          <p:cNvPr id="25" name="Group 46">
            <a:extLst>
              <a:ext uri="{FF2B5EF4-FFF2-40B4-BE49-F238E27FC236}">
                <a16:creationId xmlns:a16="http://schemas.microsoft.com/office/drawing/2014/main" id="{7DD9A375-850C-C91C-24A6-6CB860F026D2}"/>
              </a:ext>
            </a:extLst>
          </p:cNvPr>
          <p:cNvGrpSpPr/>
          <p:nvPr/>
        </p:nvGrpSpPr>
        <p:grpSpPr>
          <a:xfrm>
            <a:off x="1148650" y="3908521"/>
            <a:ext cx="7602878" cy="816431"/>
            <a:chOff x="6751979" y="1666121"/>
            <a:chExt cx="4526164" cy="1181988"/>
          </a:xfrm>
        </p:grpSpPr>
        <p:sp>
          <p:nvSpPr>
            <p:cNvPr id="26" name="TextBox 21">
              <a:extLst>
                <a:ext uri="{FF2B5EF4-FFF2-40B4-BE49-F238E27FC236}">
                  <a16:creationId xmlns:a16="http://schemas.microsoft.com/office/drawing/2014/main" id="{85DF3731-F4B0-53BE-C833-CFD33D66A950}"/>
                </a:ext>
              </a:extLst>
            </p:cNvPr>
            <p:cNvSpPr txBox="1"/>
            <p:nvPr/>
          </p:nvSpPr>
          <p:spPr>
            <a:xfrm>
              <a:off x="6770451" y="2090617"/>
              <a:ext cx="4507692" cy="757492"/>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Modular pipeline that processes sequences, detects patterns, and applies controlled compression.</a:t>
              </a:r>
              <a:endParaRPr lang="en-US" altLang="ko-KR" sz="1400" dirty="0">
                <a:solidFill>
                  <a:schemeClr val="bg1"/>
                </a:solidFill>
                <a:latin typeface="Arial" panose="020B0604020202020204" pitchFamily="34" charset="0"/>
                <a:cs typeface="Arial" panose="020B0604020202020204" pitchFamily="34" charset="0"/>
              </a:endParaRPr>
            </a:p>
          </p:txBody>
        </p:sp>
        <p:sp>
          <p:nvSpPr>
            <p:cNvPr id="27" name="TextBox 22">
              <a:extLst>
                <a:ext uri="{FF2B5EF4-FFF2-40B4-BE49-F238E27FC236}">
                  <a16:creationId xmlns:a16="http://schemas.microsoft.com/office/drawing/2014/main" id="{A20A2CAB-02FA-68FC-93AA-EFB8D754CA22}"/>
                </a:ext>
              </a:extLst>
            </p:cNvPr>
            <p:cNvSpPr txBox="1"/>
            <p:nvPr/>
          </p:nvSpPr>
          <p:spPr>
            <a:xfrm>
              <a:off x="6751979" y="1666121"/>
              <a:ext cx="4507692" cy="445584"/>
            </a:xfrm>
            <a:prstGeom prst="rect">
              <a:avLst/>
            </a:prstGeom>
            <a:noFill/>
          </p:spPr>
          <p:txBody>
            <a:bodyPr wrap="square" lIns="108000" rIns="108000" rtlCol="0">
              <a:spAutoFit/>
            </a:bodyPr>
            <a:lstStyle/>
            <a:p>
              <a:r>
                <a:rPr lang="es-CR" sz="1400" dirty="0" err="1">
                  <a:solidFill>
                    <a:schemeClr val="bg1"/>
                  </a:solidFill>
                  <a:latin typeface="Arial" panose="020B0604020202020204" pitchFamily="34" charset="0"/>
                  <a:cs typeface="Arial" panose="020B0604020202020204" pitchFamily="34" charset="0"/>
                </a:rPr>
                <a:t>System</a:t>
              </a:r>
              <a:r>
                <a:rPr lang="es-CR" sz="1400" dirty="0">
                  <a:solidFill>
                    <a:schemeClr val="bg1"/>
                  </a:solidFill>
                  <a:latin typeface="Arial" panose="020B0604020202020204" pitchFamily="34" charset="0"/>
                  <a:cs typeface="Arial" panose="020B0604020202020204" pitchFamily="34" charset="0"/>
                </a:rPr>
                <a:t> </a:t>
              </a:r>
              <a:r>
                <a:rPr lang="es-CR" sz="1400" dirty="0" err="1">
                  <a:solidFill>
                    <a:schemeClr val="bg1"/>
                  </a:solidFill>
                  <a:latin typeface="Arial" panose="020B0604020202020204" pitchFamily="34" charset="0"/>
                  <a:cs typeface="Arial" panose="020B0604020202020204" pitchFamily="34" charset="0"/>
                </a:rPr>
                <a:t>Architecture</a:t>
              </a:r>
              <a:endParaRPr lang="ko-KR" altLang="en-US" sz="1400" b="1" dirty="0">
                <a:solidFill>
                  <a:schemeClr val="bg1"/>
                </a:solidFill>
                <a:latin typeface="Arial" panose="020B0604020202020204" pitchFamily="34" charset="0"/>
                <a:cs typeface="Arial" panose="020B0604020202020204" pitchFamily="34" charset="0"/>
              </a:endParaRPr>
            </a:p>
          </p:txBody>
        </p:sp>
      </p:grpSp>
      <p:grpSp>
        <p:nvGrpSpPr>
          <p:cNvPr id="28" name="Group 46">
            <a:extLst>
              <a:ext uri="{FF2B5EF4-FFF2-40B4-BE49-F238E27FC236}">
                <a16:creationId xmlns:a16="http://schemas.microsoft.com/office/drawing/2014/main" id="{F0D6435D-8D89-6FC3-BCA9-899AE30D3954}"/>
              </a:ext>
            </a:extLst>
          </p:cNvPr>
          <p:cNvGrpSpPr/>
          <p:nvPr/>
        </p:nvGrpSpPr>
        <p:grpSpPr>
          <a:xfrm>
            <a:off x="1135643" y="5417040"/>
            <a:ext cx="7582213" cy="551683"/>
            <a:chOff x="6751979" y="1666120"/>
            <a:chExt cx="4526164" cy="960155"/>
          </a:xfrm>
        </p:grpSpPr>
        <p:sp>
          <p:nvSpPr>
            <p:cNvPr id="29" name="TextBox 21">
              <a:extLst>
                <a:ext uri="{FF2B5EF4-FFF2-40B4-BE49-F238E27FC236}">
                  <a16:creationId xmlns:a16="http://schemas.microsoft.com/office/drawing/2014/main" id="{CF39C097-5B51-5487-EE8E-902E38667876}"/>
                </a:ext>
              </a:extLst>
            </p:cNvPr>
            <p:cNvSpPr txBox="1"/>
            <p:nvPr/>
          </p:nvSpPr>
          <p:spPr>
            <a:xfrm>
              <a:off x="6770451" y="2090617"/>
              <a:ext cx="4507692" cy="535658"/>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Beyond compression, it enables interpretation and analysis of repeated DNA patterns.</a:t>
              </a:r>
              <a:endParaRPr lang="en-US" altLang="ko-KR" sz="1400" dirty="0">
                <a:solidFill>
                  <a:schemeClr val="bg1"/>
                </a:solidFill>
                <a:latin typeface="Arial" panose="020B0604020202020204" pitchFamily="34" charset="0"/>
                <a:cs typeface="Arial" panose="020B0604020202020204" pitchFamily="34" charset="0"/>
              </a:endParaRPr>
            </a:p>
          </p:txBody>
        </p:sp>
        <p:sp>
          <p:nvSpPr>
            <p:cNvPr id="30" name="TextBox 22">
              <a:extLst>
                <a:ext uri="{FF2B5EF4-FFF2-40B4-BE49-F238E27FC236}">
                  <a16:creationId xmlns:a16="http://schemas.microsoft.com/office/drawing/2014/main" id="{F07EB898-0DC7-E001-B260-00ACB8EFBCA3}"/>
                </a:ext>
              </a:extLst>
            </p:cNvPr>
            <p:cNvSpPr txBox="1"/>
            <p:nvPr/>
          </p:nvSpPr>
          <p:spPr>
            <a:xfrm>
              <a:off x="6751979" y="1666120"/>
              <a:ext cx="4507692" cy="535658"/>
            </a:xfrm>
            <a:prstGeom prst="rect">
              <a:avLst/>
            </a:prstGeom>
            <a:noFill/>
          </p:spPr>
          <p:txBody>
            <a:bodyPr wrap="square" lIns="108000" rIns="108000" rtlCol="0">
              <a:spAutoFit/>
            </a:bodyPr>
            <a:lstStyle/>
            <a:p>
              <a:r>
                <a:rPr lang="es-CR" sz="1400" b="1" dirty="0" err="1">
                  <a:solidFill>
                    <a:schemeClr val="bg1"/>
                  </a:solidFill>
                  <a:latin typeface="Arial" panose="020B0604020202020204" pitchFamily="34" charset="0"/>
                  <a:cs typeface="Arial" panose="020B0604020202020204" pitchFamily="34" charset="0"/>
                </a:rPr>
                <a:t>Technical</a:t>
              </a:r>
              <a:r>
                <a:rPr lang="es-CR" sz="1400" b="1" dirty="0">
                  <a:solidFill>
                    <a:schemeClr val="bg1"/>
                  </a:solidFill>
                  <a:latin typeface="Arial" panose="020B0604020202020204" pitchFamily="34" charset="0"/>
                  <a:cs typeface="Arial" panose="020B0604020202020204" pitchFamily="34" charset="0"/>
                </a:rPr>
                <a:t> </a:t>
              </a:r>
              <a:r>
                <a:rPr lang="es-CR" sz="1400" b="1" dirty="0" err="1">
                  <a:solidFill>
                    <a:schemeClr val="bg1"/>
                  </a:solidFill>
                  <a:latin typeface="Arial" panose="020B0604020202020204" pitchFamily="34" charset="0"/>
                  <a:cs typeface="Arial" panose="020B0604020202020204" pitchFamily="34" charset="0"/>
                </a:rPr>
                <a:t>Value</a:t>
              </a:r>
              <a:endParaRPr lang="ko-KR" altLang="en-US" sz="1400" b="1" dirty="0">
                <a:solidFill>
                  <a:schemeClr val="bg1"/>
                </a:solidFill>
                <a:latin typeface="Arial" panose="020B0604020202020204" pitchFamily="34" charset="0"/>
                <a:cs typeface="Arial" panose="020B0604020202020204" pitchFamily="34" charset="0"/>
              </a:endParaRPr>
            </a:p>
          </p:txBody>
        </p:sp>
      </p:grpSp>
      <p:sp>
        <p:nvSpPr>
          <p:cNvPr id="31" name="Lágrima 30">
            <a:extLst>
              <a:ext uri="{FF2B5EF4-FFF2-40B4-BE49-F238E27FC236}">
                <a16:creationId xmlns:a16="http://schemas.microsoft.com/office/drawing/2014/main" id="{F4059A96-D146-42D1-29A4-56CDA8109CB3}"/>
              </a:ext>
            </a:extLst>
          </p:cNvPr>
          <p:cNvSpPr/>
          <p:nvPr/>
        </p:nvSpPr>
        <p:spPr>
          <a:xfrm>
            <a:off x="475260" y="1042341"/>
            <a:ext cx="466165" cy="369963"/>
          </a:xfrm>
          <a:prstGeom prst="teardrop">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sz="1400" dirty="0">
                <a:latin typeface="Arial" panose="020B0604020202020204" pitchFamily="34" charset="0"/>
                <a:cs typeface="Arial" panose="020B0604020202020204" pitchFamily="34" charset="0"/>
              </a:rPr>
              <a:t>1</a:t>
            </a:r>
          </a:p>
        </p:txBody>
      </p:sp>
      <p:sp>
        <p:nvSpPr>
          <p:cNvPr id="32" name="Lágrima 31">
            <a:extLst>
              <a:ext uri="{FF2B5EF4-FFF2-40B4-BE49-F238E27FC236}">
                <a16:creationId xmlns:a16="http://schemas.microsoft.com/office/drawing/2014/main" id="{0A1DEB4D-6E66-F35C-4E7F-66B409705881}"/>
              </a:ext>
            </a:extLst>
          </p:cNvPr>
          <p:cNvSpPr/>
          <p:nvPr/>
        </p:nvSpPr>
        <p:spPr>
          <a:xfrm>
            <a:off x="473188" y="1857487"/>
            <a:ext cx="466165" cy="369963"/>
          </a:xfrm>
          <a:prstGeom prst="teardrop">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sz="1400" dirty="0">
                <a:latin typeface="Arial" panose="020B0604020202020204" pitchFamily="34" charset="0"/>
                <a:cs typeface="Arial" panose="020B0604020202020204" pitchFamily="34" charset="0"/>
              </a:rPr>
              <a:t>2</a:t>
            </a:r>
          </a:p>
        </p:txBody>
      </p:sp>
      <p:sp>
        <p:nvSpPr>
          <p:cNvPr id="33" name="Lágrima 32">
            <a:extLst>
              <a:ext uri="{FF2B5EF4-FFF2-40B4-BE49-F238E27FC236}">
                <a16:creationId xmlns:a16="http://schemas.microsoft.com/office/drawing/2014/main" id="{50355588-3CA4-CC85-E229-6DE917387412}"/>
              </a:ext>
            </a:extLst>
          </p:cNvPr>
          <p:cNvSpPr/>
          <p:nvPr/>
        </p:nvSpPr>
        <p:spPr>
          <a:xfrm>
            <a:off x="473188" y="2720145"/>
            <a:ext cx="466165" cy="369963"/>
          </a:xfrm>
          <a:prstGeom prst="teardrop">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sz="1400" dirty="0">
                <a:latin typeface="Arial" panose="020B0604020202020204" pitchFamily="34" charset="0"/>
                <a:cs typeface="Arial" panose="020B0604020202020204" pitchFamily="34" charset="0"/>
              </a:rPr>
              <a:t>3</a:t>
            </a:r>
          </a:p>
        </p:txBody>
      </p:sp>
      <p:sp>
        <p:nvSpPr>
          <p:cNvPr id="34" name="Lágrima 33">
            <a:extLst>
              <a:ext uri="{FF2B5EF4-FFF2-40B4-BE49-F238E27FC236}">
                <a16:creationId xmlns:a16="http://schemas.microsoft.com/office/drawing/2014/main" id="{C40ADCF3-914D-2375-1507-83DA91C619F3}"/>
              </a:ext>
            </a:extLst>
          </p:cNvPr>
          <p:cNvSpPr/>
          <p:nvPr/>
        </p:nvSpPr>
        <p:spPr>
          <a:xfrm>
            <a:off x="510763" y="3491679"/>
            <a:ext cx="466165" cy="369963"/>
          </a:xfrm>
          <a:prstGeom prst="teardrop">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sz="1400" dirty="0">
                <a:latin typeface="Arial" panose="020B0604020202020204" pitchFamily="34" charset="0"/>
                <a:cs typeface="Arial" panose="020B0604020202020204" pitchFamily="34" charset="0"/>
              </a:rPr>
              <a:t>4</a:t>
            </a:r>
          </a:p>
        </p:txBody>
      </p:sp>
      <p:sp>
        <p:nvSpPr>
          <p:cNvPr id="35" name="Lágrima 34">
            <a:extLst>
              <a:ext uri="{FF2B5EF4-FFF2-40B4-BE49-F238E27FC236}">
                <a16:creationId xmlns:a16="http://schemas.microsoft.com/office/drawing/2014/main" id="{9164AEBF-E50C-7C8E-0032-0A79DF89B0B0}"/>
              </a:ext>
            </a:extLst>
          </p:cNvPr>
          <p:cNvSpPr/>
          <p:nvPr/>
        </p:nvSpPr>
        <p:spPr>
          <a:xfrm>
            <a:off x="490258" y="4182667"/>
            <a:ext cx="466165" cy="369963"/>
          </a:xfrm>
          <a:prstGeom prst="teardrop">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sz="1400" dirty="0">
                <a:latin typeface="Arial" panose="020B0604020202020204" pitchFamily="34" charset="0"/>
                <a:cs typeface="Arial" panose="020B0604020202020204" pitchFamily="34" charset="0"/>
              </a:rPr>
              <a:t>5</a:t>
            </a:r>
          </a:p>
        </p:txBody>
      </p:sp>
      <p:sp>
        <p:nvSpPr>
          <p:cNvPr id="36" name="Lágrima 35">
            <a:extLst>
              <a:ext uri="{FF2B5EF4-FFF2-40B4-BE49-F238E27FC236}">
                <a16:creationId xmlns:a16="http://schemas.microsoft.com/office/drawing/2014/main" id="{63FC3B1A-F2FE-6153-0AB3-BB0F9B9F09AC}"/>
              </a:ext>
            </a:extLst>
          </p:cNvPr>
          <p:cNvSpPr/>
          <p:nvPr/>
        </p:nvSpPr>
        <p:spPr>
          <a:xfrm>
            <a:off x="490258" y="5558135"/>
            <a:ext cx="466165" cy="369963"/>
          </a:xfrm>
          <a:prstGeom prst="teardrop">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sz="1400" dirty="0">
                <a:latin typeface="Arial" panose="020B0604020202020204" pitchFamily="34" charset="0"/>
                <a:cs typeface="Arial" panose="020B0604020202020204" pitchFamily="34" charset="0"/>
              </a:rPr>
              <a:t>7</a:t>
            </a:r>
          </a:p>
        </p:txBody>
      </p:sp>
      <p:grpSp>
        <p:nvGrpSpPr>
          <p:cNvPr id="37" name="Group 46">
            <a:extLst>
              <a:ext uri="{FF2B5EF4-FFF2-40B4-BE49-F238E27FC236}">
                <a16:creationId xmlns:a16="http://schemas.microsoft.com/office/drawing/2014/main" id="{B135C3BE-119B-53AB-40FD-B72C480FB1C6}"/>
              </a:ext>
            </a:extLst>
          </p:cNvPr>
          <p:cNvGrpSpPr/>
          <p:nvPr/>
        </p:nvGrpSpPr>
        <p:grpSpPr>
          <a:xfrm>
            <a:off x="1169021" y="4663387"/>
            <a:ext cx="7602878" cy="600989"/>
            <a:chOff x="6751979" y="1666120"/>
            <a:chExt cx="4526164" cy="870082"/>
          </a:xfrm>
        </p:grpSpPr>
        <p:sp>
          <p:nvSpPr>
            <p:cNvPr id="38" name="TextBox 21">
              <a:extLst>
                <a:ext uri="{FF2B5EF4-FFF2-40B4-BE49-F238E27FC236}">
                  <a16:creationId xmlns:a16="http://schemas.microsoft.com/office/drawing/2014/main" id="{272EBF91-99CF-E089-407E-39FBA9D42622}"/>
                </a:ext>
              </a:extLst>
            </p:cNvPr>
            <p:cNvSpPr txBox="1"/>
            <p:nvPr/>
          </p:nvSpPr>
          <p:spPr>
            <a:xfrm>
              <a:off x="6770451" y="2090618"/>
              <a:ext cx="4507692" cy="445584"/>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Ensures exact compression through verification and restoration of the original data.</a:t>
              </a:r>
              <a:endParaRPr lang="en-US" altLang="ko-KR" sz="1400" dirty="0">
                <a:solidFill>
                  <a:schemeClr val="bg1"/>
                </a:solidFill>
                <a:latin typeface="Arial" panose="020B0604020202020204" pitchFamily="34" charset="0"/>
                <a:cs typeface="Arial" panose="020B0604020202020204" pitchFamily="34" charset="0"/>
              </a:endParaRPr>
            </a:p>
          </p:txBody>
        </p:sp>
        <p:sp>
          <p:nvSpPr>
            <p:cNvPr id="39" name="TextBox 22">
              <a:extLst>
                <a:ext uri="{FF2B5EF4-FFF2-40B4-BE49-F238E27FC236}">
                  <a16:creationId xmlns:a16="http://schemas.microsoft.com/office/drawing/2014/main" id="{083665AB-D6B9-1693-E790-6C3448959623}"/>
                </a:ext>
              </a:extLst>
            </p:cNvPr>
            <p:cNvSpPr txBox="1"/>
            <p:nvPr/>
          </p:nvSpPr>
          <p:spPr>
            <a:xfrm>
              <a:off x="6751979" y="1666120"/>
              <a:ext cx="4507692" cy="445584"/>
            </a:xfrm>
            <a:prstGeom prst="rect">
              <a:avLst/>
            </a:prstGeom>
            <a:noFill/>
          </p:spPr>
          <p:txBody>
            <a:bodyPr wrap="square" lIns="108000" rIns="108000" rtlCol="0">
              <a:spAutoFit/>
            </a:bodyPr>
            <a:lstStyle/>
            <a:p>
              <a:r>
                <a:rPr lang="es-CR" sz="1400" b="1" dirty="0" err="1">
                  <a:solidFill>
                    <a:schemeClr val="bg1"/>
                  </a:solidFill>
                  <a:latin typeface="Arial" panose="020B0604020202020204" pitchFamily="34" charset="0"/>
                  <a:cs typeface="Arial" panose="020B0604020202020204" pitchFamily="34" charset="0"/>
                </a:rPr>
                <a:t>Validation</a:t>
              </a:r>
              <a:r>
                <a:rPr lang="es-CR" sz="1400" b="1" dirty="0">
                  <a:solidFill>
                    <a:schemeClr val="bg1"/>
                  </a:solidFill>
                  <a:latin typeface="Arial" panose="020B0604020202020204" pitchFamily="34" charset="0"/>
                  <a:cs typeface="Arial" panose="020B0604020202020204" pitchFamily="34" charset="0"/>
                </a:rPr>
                <a:t> and Integrity</a:t>
              </a:r>
              <a:endParaRPr lang="ko-KR" altLang="en-US" sz="1400" b="1" dirty="0">
                <a:solidFill>
                  <a:schemeClr val="bg1"/>
                </a:solidFill>
                <a:latin typeface="Arial" panose="020B0604020202020204" pitchFamily="34" charset="0"/>
                <a:cs typeface="Arial" panose="020B0604020202020204" pitchFamily="34" charset="0"/>
              </a:endParaRPr>
            </a:p>
          </p:txBody>
        </p:sp>
      </p:grpSp>
      <p:sp>
        <p:nvSpPr>
          <p:cNvPr id="40" name="Lágrima 39">
            <a:extLst>
              <a:ext uri="{FF2B5EF4-FFF2-40B4-BE49-F238E27FC236}">
                <a16:creationId xmlns:a16="http://schemas.microsoft.com/office/drawing/2014/main" id="{0ABD20D7-2696-8CC4-B9B4-CDBF25D32642}"/>
              </a:ext>
            </a:extLst>
          </p:cNvPr>
          <p:cNvSpPr/>
          <p:nvPr/>
        </p:nvSpPr>
        <p:spPr>
          <a:xfrm>
            <a:off x="490258" y="4880276"/>
            <a:ext cx="466165" cy="369963"/>
          </a:xfrm>
          <a:prstGeom prst="teardrop">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sz="1400" dirty="0">
                <a:latin typeface="Arial" panose="020B0604020202020204" pitchFamily="34" charset="0"/>
                <a:cs typeface="Arial" panose="020B0604020202020204" pitchFamily="34" charset="0"/>
              </a:rPr>
              <a:t>6</a:t>
            </a:r>
          </a:p>
        </p:txBody>
      </p:sp>
    </p:spTree>
    <p:extLst>
      <p:ext uri="{BB962C8B-B14F-4D97-AF65-F5344CB8AC3E}">
        <p14:creationId xmlns:p14="http://schemas.microsoft.com/office/powerpoint/2010/main" val="3148822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sz="5000" dirty="0"/>
              <a:t>The Problem</a:t>
            </a:r>
          </a:p>
        </p:txBody>
      </p:sp>
      <p:sp>
        <p:nvSpPr>
          <p:cNvPr id="3" name="Rectangle: Rounded Corners 1">
            <a:extLst>
              <a:ext uri="{FF2B5EF4-FFF2-40B4-BE49-F238E27FC236}">
                <a16:creationId xmlns:a16="http://schemas.microsoft.com/office/drawing/2014/main" id="{74111EE0-9418-4B57-BC72-153F4A19E14A}"/>
              </a:ext>
            </a:extLst>
          </p:cNvPr>
          <p:cNvSpPr/>
          <p:nvPr/>
        </p:nvSpPr>
        <p:spPr>
          <a:xfrm>
            <a:off x="785208" y="2778162"/>
            <a:ext cx="2331218" cy="2313791"/>
          </a:xfrm>
          <a:prstGeom prst="roundRect">
            <a:avLst>
              <a:gd name="adj" fmla="val 10633"/>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Freeform: Shape 2">
            <a:extLst>
              <a:ext uri="{FF2B5EF4-FFF2-40B4-BE49-F238E27FC236}">
                <a16:creationId xmlns:a16="http://schemas.microsoft.com/office/drawing/2014/main" id="{F137D631-6B78-4DD7-BD78-F5B49C59A8A5}"/>
              </a:ext>
            </a:extLst>
          </p:cNvPr>
          <p:cNvSpPr/>
          <p:nvPr/>
        </p:nvSpPr>
        <p:spPr>
          <a:xfrm>
            <a:off x="1003080" y="1919133"/>
            <a:ext cx="1895475" cy="2790825"/>
          </a:xfrm>
          <a:custGeom>
            <a:avLst/>
            <a:gdLst>
              <a:gd name="connsiteX0" fmla="*/ 0 w 1895475"/>
              <a:gd name="connsiteY0" fmla="*/ 450533 h 2790825"/>
              <a:gd name="connsiteX1" fmla="*/ 317183 w 1895475"/>
              <a:gd name="connsiteY1" fmla="*/ 133350 h 2790825"/>
              <a:gd name="connsiteX2" fmla="*/ 317183 w 1895475"/>
              <a:gd name="connsiteY2" fmla="*/ 133350 h 2790825"/>
              <a:gd name="connsiteX3" fmla="*/ 317183 w 1895475"/>
              <a:gd name="connsiteY3" fmla="*/ 133350 h 2790825"/>
              <a:gd name="connsiteX4" fmla="*/ 1586865 w 1895475"/>
              <a:gd name="connsiteY4" fmla="*/ 0 h 2790825"/>
              <a:gd name="connsiteX5" fmla="*/ 1904048 w 1895475"/>
              <a:gd name="connsiteY5" fmla="*/ 317183 h 2790825"/>
              <a:gd name="connsiteX6" fmla="*/ 1827848 w 1895475"/>
              <a:gd name="connsiteY6" fmla="*/ 2110740 h 2790825"/>
              <a:gd name="connsiteX7" fmla="*/ 1510665 w 1895475"/>
              <a:gd name="connsiteY7" fmla="*/ 2427923 h 2790825"/>
              <a:gd name="connsiteX8" fmla="*/ 745808 w 1895475"/>
              <a:gd name="connsiteY8" fmla="*/ 2427923 h 2790825"/>
              <a:gd name="connsiteX9" fmla="*/ 650558 w 1895475"/>
              <a:gd name="connsiteY9" fmla="*/ 2792730 h 2790825"/>
              <a:gd name="connsiteX10" fmla="*/ 413385 w 1895475"/>
              <a:gd name="connsiteY10" fmla="*/ 2427923 h 2790825"/>
              <a:gd name="connsiteX11" fmla="*/ 413385 w 1895475"/>
              <a:gd name="connsiteY11" fmla="*/ 2427923 h 2790825"/>
              <a:gd name="connsiteX12" fmla="*/ 96203 w 1895475"/>
              <a:gd name="connsiteY12" fmla="*/ 2110740 h 2790825"/>
              <a:gd name="connsiteX13" fmla="*/ 0 w 1895475"/>
              <a:gd name="connsiteY13" fmla="*/ 450533 h 2790825"/>
              <a:gd name="connsiteX14" fmla="*/ 0 w 1895475"/>
              <a:gd name="connsiteY14" fmla="*/ 450533 h 279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5475" h="2790825">
                <a:moveTo>
                  <a:pt x="0" y="450533"/>
                </a:moveTo>
                <a:cubicBezTo>
                  <a:pt x="0" y="275273"/>
                  <a:pt x="141923" y="133350"/>
                  <a:pt x="317183" y="133350"/>
                </a:cubicBezTo>
                <a:lnTo>
                  <a:pt x="317183" y="133350"/>
                </a:lnTo>
                <a:lnTo>
                  <a:pt x="317183" y="133350"/>
                </a:lnTo>
                <a:lnTo>
                  <a:pt x="1586865" y="0"/>
                </a:lnTo>
                <a:cubicBezTo>
                  <a:pt x="1762125" y="0"/>
                  <a:pt x="1904048" y="141923"/>
                  <a:pt x="1904048" y="317183"/>
                </a:cubicBezTo>
                <a:lnTo>
                  <a:pt x="1827848" y="2110740"/>
                </a:lnTo>
                <a:cubicBezTo>
                  <a:pt x="1827848" y="2286000"/>
                  <a:pt x="1685925" y="2427923"/>
                  <a:pt x="1510665" y="2427923"/>
                </a:cubicBezTo>
                <a:lnTo>
                  <a:pt x="745808" y="2427923"/>
                </a:lnTo>
                <a:lnTo>
                  <a:pt x="650558" y="2792730"/>
                </a:lnTo>
                <a:lnTo>
                  <a:pt x="413385" y="2427923"/>
                </a:lnTo>
                <a:lnTo>
                  <a:pt x="413385" y="2427923"/>
                </a:lnTo>
                <a:cubicBezTo>
                  <a:pt x="238125" y="2427923"/>
                  <a:pt x="96203" y="2286000"/>
                  <a:pt x="96203" y="2110740"/>
                </a:cubicBezTo>
                <a:lnTo>
                  <a:pt x="0" y="450533"/>
                </a:lnTo>
                <a:lnTo>
                  <a:pt x="0" y="450533"/>
                </a:lnTo>
                <a:close/>
              </a:path>
            </a:pathLst>
          </a:custGeom>
          <a:gradFill flip="none" rotWithShape="1">
            <a:gsLst>
              <a:gs pos="0">
                <a:schemeClr val="bg1">
                  <a:lumMod val="85000"/>
                </a:schemeClr>
              </a:gs>
              <a:gs pos="100000">
                <a:schemeClr val="bg1"/>
              </a:gs>
            </a:gsLst>
            <a:lin ang="13500000" scaled="1"/>
            <a:tileRect/>
          </a:gradFill>
          <a:ln>
            <a:gradFill flip="none" rotWithShape="1">
              <a:gsLst>
                <a:gs pos="0">
                  <a:schemeClr val="bg1"/>
                </a:gs>
                <a:gs pos="100000">
                  <a:schemeClr val="bg1">
                    <a:lumMod val="75000"/>
                  </a:schemeClr>
                </a:gs>
              </a:gsLst>
              <a:lin ang="8100000" scaled="1"/>
              <a:tileRect/>
            </a:gradFill>
          </a:ln>
          <a:effectLst>
            <a:outerShdw blurRad="127000" dist="38100" dir="8100000" algn="tr" rotWithShape="0">
              <a:prstClr val="black">
                <a:alpha val="33000"/>
              </a:prstClr>
            </a:outerShdw>
          </a:effectLst>
        </p:spPr>
        <p:txBody>
          <a:bodyPr vert="horz" wrap="square" lIns="91440" tIns="45720" rIns="91440" bIns="45720" numCol="1" anchor="t" anchorCtr="0" compatLnSpc="1">
            <a:prstTxWarp prst="textNoShape">
              <a:avLst/>
            </a:prstTxWarp>
          </a:bodyPr>
          <a:lstStyle/>
          <a:p>
            <a:endParaRPr lang="en-US" sz="2700"/>
          </a:p>
        </p:txBody>
      </p:sp>
      <p:sp>
        <p:nvSpPr>
          <p:cNvPr id="9" name="TextBox 8">
            <a:extLst>
              <a:ext uri="{FF2B5EF4-FFF2-40B4-BE49-F238E27FC236}">
                <a16:creationId xmlns:a16="http://schemas.microsoft.com/office/drawing/2014/main" id="{0E72E06A-6701-4DCC-AF80-34C7578A8FBA}"/>
              </a:ext>
            </a:extLst>
          </p:cNvPr>
          <p:cNvSpPr txBox="1"/>
          <p:nvPr/>
        </p:nvSpPr>
        <p:spPr>
          <a:xfrm>
            <a:off x="1232097" y="2852379"/>
            <a:ext cx="1438214" cy="954107"/>
          </a:xfrm>
          <a:prstGeom prst="rect">
            <a:avLst/>
          </a:prstGeom>
          <a:noFill/>
        </p:spPr>
        <p:txBody>
          <a:bodyPr wrap="square" lIns="0" rIns="0" rtlCol="0">
            <a:spAutoFit/>
          </a:bodyPr>
          <a:lstStyle/>
          <a:p>
            <a:pPr algn="ctr"/>
            <a:r>
              <a:rPr lang="en-US" altLang="ko-KR" sz="1400" dirty="0">
                <a:cs typeface="Arial" pitchFamily="34" charset="0"/>
              </a:rPr>
              <a:t>FASTQ file grow rapidly in sequencing pipelines</a:t>
            </a:r>
            <a:endParaRPr lang="ko-KR" altLang="en-US" sz="1400" dirty="0">
              <a:cs typeface="Arial" pitchFamily="34" charset="0"/>
            </a:endParaRPr>
          </a:p>
        </p:txBody>
      </p:sp>
      <p:sp>
        <p:nvSpPr>
          <p:cNvPr id="10" name="Rectangle: Rounded Corners 8">
            <a:extLst>
              <a:ext uri="{FF2B5EF4-FFF2-40B4-BE49-F238E27FC236}">
                <a16:creationId xmlns:a16="http://schemas.microsoft.com/office/drawing/2014/main" id="{18CF7171-43D6-47BC-B00E-6897DFA03959}"/>
              </a:ext>
            </a:extLst>
          </p:cNvPr>
          <p:cNvSpPr/>
          <p:nvPr/>
        </p:nvSpPr>
        <p:spPr>
          <a:xfrm>
            <a:off x="3548664" y="2778162"/>
            <a:ext cx="2331218" cy="2313791"/>
          </a:xfrm>
          <a:prstGeom prst="roundRect">
            <a:avLst>
              <a:gd name="adj" fmla="val 1063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9">
            <a:extLst>
              <a:ext uri="{FF2B5EF4-FFF2-40B4-BE49-F238E27FC236}">
                <a16:creationId xmlns:a16="http://schemas.microsoft.com/office/drawing/2014/main" id="{AC89C220-DA58-4DB0-BF8A-AB58FB1AB19C}"/>
              </a:ext>
            </a:extLst>
          </p:cNvPr>
          <p:cNvSpPr/>
          <p:nvPr/>
        </p:nvSpPr>
        <p:spPr>
          <a:xfrm>
            <a:off x="3766536" y="1919133"/>
            <a:ext cx="1895475" cy="2790825"/>
          </a:xfrm>
          <a:custGeom>
            <a:avLst/>
            <a:gdLst>
              <a:gd name="connsiteX0" fmla="*/ 0 w 1895475"/>
              <a:gd name="connsiteY0" fmla="*/ 450533 h 2790825"/>
              <a:gd name="connsiteX1" fmla="*/ 317183 w 1895475"/>
              <a:gd name="connsiteY1" fmla="*/ 133350 h 2790825"/>
              <a:gd name="connsiteX2" fmla="*/ 317183 w 1895475"/>
              <a:gd name="connsiteY2" fmla="*/ 133350 h 2790825"/>
              <a:gd name="connsiteX3" fmla="*/ 317183 w 1895475"/>
              <a:gd name="connsiteY3" fmla="*/ 133350 h 2790825"/>
              <a:gd name="connsiteX4" fmla="*/ 1586865 w 1895475"/>
              <a:gd name="connsiteY4" fmla="*/ 0 h 2790825"/>
              <a:gd name="connsiteX5" fmla="*/ 1904048 w 1895475"/>
              <a:gd name="connsiteY5" fmla="*/ 317183 h 2790825"/>
              <a:gd name="connsiteX6" fmla="*/ 1827848 w 1895475"/>
              <a:gd name="connsiteY6" fmla="*/ 2110740 h 2790825"/>
              <a:gd name="connsiteX7" fmla="*/ 1510665 w 1895475"/>
              <a:gd name="connsiteY7" fmla="*/ 2427923 h 2790825"/>
              <a:gd name="connsiteX8" fmla="*/ 745808 w 1895475"/>
              <a:gd name="connsiteY8" fmla="*/ 2427923 h 2790825"/>
              <a:gd name="connsiteX9" fmla="*/ 650558 w 1895475"/>
              <a:gd name="connsiteY9" fmla="*/ 2792730 h 2790825"/>
              <a:gd name="connsiteX10" fmla="*/ 413385 w 1895475"/>
              <a:gd name="connsiteY10" fmla="*/ 2427923 h 2790825"/>
              <a:gd name="connsiteX11" fmla="*/ 413385 w 1895475"/>
              <a:gd name="connsiteY11" fmla="*/ 2427923 h 2790825"/>
              <a:gd name="connsiteX12" fmla="*/ 96203 w 1895475"/>
              <a:gd name="connsiteY12" fmla="*/ 2110740 h 2790825"/>
              <a:gd name="connsiteX13" fmla="*/ 0 w 1895475"/>
              <a:gd name="connsiteY13" fmla="*/ 450533 h 2790825"/>
              <a:gd name="connsiteX14" fmla="*/ 0 w 1895475"/>
              <a:gd name="connsiteY14" fmla="*/ 450533 h 279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5475" h="2790825">
                <a:moveTo>
                  <a:pt x="0" y="450533"/>
                </a:moveTo>
                <a:cubicBezTo>
                  <a:pt x="0" y="275273"/>
                  <a:pt x="141923" y="133350"/>
                  <a:pt x="317183" y="133350"/>
                </a:cubicBezTo>
                <a:lnTo>
                  <a:pt x="317183" y="133350"/>
                </a:lnTo>
                <a:lnTo>
                  <a:pt x="317183" y="133350"/>
                </a:lnTo>
                <a:lnTo>
                  <a:pt x="1586865" y="0"/>
                </a:lnTo>
                <a:cubicBezTo>
                  <a:pt x="1762125" y="0"/>
                  <a:pt x="1904048" y="141923"/>
                  <a:pt x="1904048" y="317183"/>
                </a:cubicBezTo>
                <a:lnTo>
                  <a:pt x="1827848" y="2110740"/>
                </a:lnTo>
                <a:cubicBezTo>
                  <a:pt x="1827848" y="2286000"/>
                  <a:pt x="1685925" y="2427923"/>
                  <a:pt x="1510665" y="2427923"/>
                </a:cubicBezTo>
                <a:lnTo>
                  <a:pt x="745808" y="2427923"/>
                </a:lnTo>
                <a:lnTo>
                  <a:pt x="650558" y="2792730"/>
                </a:lnTo>
                <a:lnTo>
                  <a:pt x="413385" y="2427923"/>
                </a:lnTo>
                <a:lnTo>
                  <a:pt x="413385" y="2427923"/>
                </a:lnTo>
                <a:cubicBezTo>
                  <a:pt x="238125" y="2427923"/>
                  <a:pt x="96203" y="2286000"/>
                  <a:pt x="96203" y="2110740"/>
                </a:cubicBezTo>
                <a:lnTo>
                  <a:pt x="0" y="450533"/>
                </a:lnTo>
                <a:lnTo>
                  <a:pt x="0" y="450533"/>
                </a:lnTo>
                <a:close/>
              </a:path>
            </a:pathLst>
          </a:custGeom>
          <a:gradFill flip="none" rotWithShape="1">
            <a:gsLst>
              <a:gs pos="0">
                <a:schemeClr val="bg1">
                  <a:lumMod val="85000"/>
                </a:schemeClr>
              </a:gs>
              <a:gs pos="100000">
                <a:schemeClr val="bg1"/>
              </a:gs>
            </a:gsLst>
            <a:lin ang="13500000" scaled="1"/>
            <a:tileRect/>
          </a:gradFill>
          <a:ln>
            <a:gradFill flip="none" rotWithShape="1">
              <a:gsLst>
                <a:gs pos="0">
                  <a:schemeClr val="bg1"/>
                </a:gs>
                <a:gs pos="100000">
                  <a:schemeClr val="bg1">
                    <a:lumMod val="75000"/>
                  </a:schemeClr>
                </a:gs>
              </a:gsLst>
              <a:lin ang="8100000" scaled="1"/>
              <a:tileRect/>
            </a:gradFill>
          </a:ln>
          <a:effectLst>
            <a:outerShdw blurRad="127000" dist="38100" dir="8100000" algn="tr" rotWithShape="0">
              <a:prstClr val="black">
                <a:alpha val="33000"/>
              </a:prstClr>
            </a:outerShdw>
          </a:effectLst>
        </p:spPr>
        <p:txBody>
          <a:bodyPr vert="horz" wrap="square" lIns="91440" tIns="45720" rIns="91440" bIns="45720" numCol="1" anchor="t" anchorCtr="0" compatLnSpc="1">
            <a:prstTxWarp prst="textNoShape">
              <a:avLst/>
            </a:prstTxWarp>
          </a:bodyPr>
          <a:lstStyle/>
          <a:p>
            <a:endParaRPr lang="en-US" sz="2700"/>
          </a:p>
        </p:txBody>
      </p:sp>
      <p:sp>
        <p:nvSpPr>
          <p:cNvPr id="15" name="TextBox 14">
            <a:extLst>
              <a:ext uri="{FF2B5EF4-FFF2-40B4-BE49-F238E27FC236}">
                <a16:creationId xmlns:a16="http://schemas.microsoft.com/office/drawing/2014/main" id="{977A231E-509F-4C5C-A48E-9E0BD1448112}"/>
              </a:ext>
            </a:extLst>
          </p:cNvPr>
          <p:cNvSpPr txBox="1"/>
          <p:nvPr/>
        </p:nvSpPr>
        <p:spPr>
          <a:xfrm>
            <a:off x="3995553" y="2852379"/>
            <a:ext cx="1438214" cy="738664"/>
          </a:xfrm>
          <a:prstGeom prst="rect">
            <a:avLst/>
          </a:prstGeom>
          <a:noFill/>
        </p:spPr>
        <p:txBody>
          <a:bodyPr wrap="square" lIns="0" rIns="0" rtlCol="0">
            <a:spAutoFit/>
          </a:bodyPr>
          <a:lstStyle/>
          <a:p>
            <a:pPr algn="ctr"/>
            <a:r>
              <a:rPr lang="en-US" altLang="ko-KR" sz="1400" dirty="0">
                <a:cs typeface="Arial" pitchFamily="34" charset="0"/>
              </a:rPr>
              <a:t>Generates high costs in storage and data transfer</a:t>
            </a:r>
            <a:endParaRPr lang="ko-KR" altLang="en-US" sz="1400" dirty="0">
              <a:cs typeface="Arial" pitchFamily="34" charset="0"/>
            </a:endParaRPr>
          </a:p>
        </p:txBody>
      </p:sp>
      <p:sp>
        <p:nvSpPr>
          <p:cNvPr id="16" name="Rectangle: Rounded Corners 14">
            <a:extLst>
              <a:ext uri="{FF2B5EF4-FFF2-40B4-BE49-F238E27FC236}">
                <a16:creationId xmlns:a16="http://schemas.microsoft.com/office/drawing/2014/main" id="{04B10F39-71EF-4194-9744-2DC50F81122D}"/>
              </a:ext>
            </a:extLst>
          </p:cNvPr>
          <p:cNvSpPr/>
          <p:nvPr/>
        </p:nvSpPr>
        <p:spPr>
          <a:xfrm>
            <a:off x="6312120" y="2778162"/>
            <a:ext cx="2331218" cy="2313791"/>
          </a:xfrm>
          <a:prstGeom prst="roundRect">
            <a:avLst>
              <a:gd name="adj" fmla="val 1063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5">
            <a:extLst>
              <a:ext uri="{FF2B5EF4-FFF2-40B4-BE49-F238E27FC236}">
                <a16:creationId xmlns:a16="http://schemas.microsoft.com/office/drawing/2014/main" id="{8F9EAD76-9B71-467A-82B1-BE8C214E689F}"/>
              </a:ext>
            </a:extLst>
          </p:cNvPr>
          <p:cNvSpPr/>
          <p:nvPr/>
        </p:nvSpPr>
        <p:spPr>
          <a:xfrm>
            <a:off x="6529992" y="1919133"/>
            <a:ext cx="1895475" cy="2790825"/>
          </a:xfrm>
          <a:custGeom>
            <a:avLst/>
            <a:gdLst>
              <a:gd name="connsiteX0" fmla="*/ 0 w 1895475"/>
              <a:gd name="connsiteY0" fmla="*/ 450533 h 2790825"/>
              <a:gd name="connsiteX1" fmla="*/ 317183 w 1895475"/>
              <a:gd name="connsiteY1" fmla="*/ 133350 h 2790825"/>
              <a:gd name="connsiteX2" fmla="*/ 317183 w 1895475"/>
              <a:gd name="connsiteY2" fmla="*/ 133350 h 2790825"/>
              <a:gd name="connsiteX3" fmla="*/ 317183 w 1895475"/>
              <a:gd name="connsiteY3" fmla="*/ 133350 h 2790825"/>
              <a:gd name="connsiteX4" fmla="*/ 1586865 w 1895475"/>
              <a:gd name="connsiteY4" fmla="*/ 0 h 2790825"/>
              <a:gd name="connsiteX5" fmla="*/ 1904048 w 1895475"/>
              <a:gd name="connsiteY5" fmla="*/ 317183 h 2790825"/>
              <a:gd name="connsiteX6" fmla="*/ 1827848 w 1895475"/>
              <a:gd name="connsiteY6" fmla="*/ 2110740 h 2790825"/>
              <a:gd name="connsiteX7" fmla="*/ 1510665 w 1895475"/>
              <a:gd name="connsiteY7" fmla="*/ 2427923 h 2790825"/>
              <a:gd name="connsiteX8" fmla="*/ 745808 w 1895475"/>
              <a:gd name="connsiteY8" fmla="*/ 2427923 h 2790825"/>
              <a:gd name="connsiteX9" fmla="*/ 650558 w 1895475"/>
              <a:gd name="connsiteY9" fmla="*/ 2792730 h 2790825"/>
              <a:gd name="connsiteX10" fmla="*/ 413385 w 1895475"/>
              <a:gd name="connsiteY10" fmla="*/ 2427923 h 2790825"/>
              <a:gd name="connsiteX11" fmla="*/ 413385 w 1895475"/>
              <a:gd name="connsiteY11" fmla="*/ 2427923 h 2790825"/>
              <a:gd name="connsiteX12" fmla="*/ 96203 w 1895475"/>
              <a:gd name="connsiteY12" fmla="*/ 2110740 h 2790825"/>
              <a:gd name="connsiteX13" fmla="*/ 0 w 1895475"/>
              <a:gd name="connsiteY13" fmla="*/ 450533 h 2790825"/>
              <a:gd name="connsiteX14" fmla="*/ 0 w 1895475"/>
              <a:gd name="connsiteY14" fmla="*/ 450533 h 279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5475" h="2790825">
                <a:moveTo>
                  <a:pt x="0" y="450533"/>
                </a:moveTo>
                <a:cubicBezTo>
                  <a:pt x="0" y="275273"/>
                  <a:pt x="141923" y="133350"/>
                  <a:pt x="317183" y="133350"/>
                </a:cubicBezTo>
                <a:lnTo>
                  <a:pt x="317183" y="133350"/>
                </a:lnTo>
                <a:lnTo>
                  <a:pt x="317183" y="133350"/>
                </a:lnTo>
                <a:lnTo>
                  <a:pt x="1586865" y="0"/>
                </a:lnTo>
                <a:cubicBezTo>
                  <a:pt x="1762125" y="0"/>
                  <a:pt x="1904048" y="141923"/>
                  <a:pt x="1904048" y="317183"/>
                </a:cubicBezTo>
                <a:lnTo>
                  <a:pt x="1827848" y="2110740"/>
                </a:lnTo>
                <a:cubicBezTo>
                  <a:pt x="1827848" y="2286000"/>
                  <a:pt x="1685925" y="2427923"/>
                  <a:pt x="1510665" y="2427923"/>
                </a:cubicBezTo>
                <a:lnTo>
                  <a:pt x="745808" y="2427923"/>
                </a:lnTo>
                <a:lnTo>
                  <a:pt x="650558" y="2792730"/>
                </a:lnTo>
                <a:lnTo>
                  <a:pt x="413385" y="2427923"/>
                </a:lnTo>
                <a:lnTo>
                  <a:pt x="413385" y="2427923"/>
                </a:lnTo>
                <a:cubicBezTo>
                  <a:pt x="238125" y="2427923"/>
                  <a:pt x="96203" y="2286000"/>
                  <a:pt x="96203" y="2110740"/>
                </a:cubicBezTo>
                <a:lnTo>
                  <a:pt x="0" y="450533"/>
                </a:lnTo>
                <a:lnTo>
                  <a:pt x="0" y="450533"/>
                </a:lnTo>
                <a:close/>
              </a:path>
            </a:pathLst>
          </a:custGeom>
          <a:gradFill flip="none" rotWithShape="1">
            <a:gsLst>
              <a:gs pos="0">
                <a:schemeClr val="bg1">
                  <a:lumMod val="85000"/>
                </a:schemeClr>
              </a:gs>
              <a:gs pos="100000">
                <a:schemeClr val="bg1"/>
              </a:gs>
            </a:gsLst>
            <a:lin ang="13500000" scaled="1"/>
            <a:tileRect/>
          </a:gradFill>
          <a:ln>
            <a:gradFill flip="none" rotWithShape="1">
              <a:gsLst>
                <a:gs pos="0">
                  <a:schemeClr val="bg1"/>
                </a:gs>
                <a:gs pos="100000">
                  <a:schemeClr val="bg1">
                    <a:lumMod val="75000"/>
                  </a:schemeClr>
                </a:gs>
              </a:gsLst>
              <a:lin ang="8100000" scaled="1"/>
              <a:tileRect/>
            </a:gradFill>
          </a:ln>
          <a:effectLst>
            <a:outerShdw blurRad="127000" dist="38100" dir="8100000" algn="tr" rotWithShape="0">
              <a:prstClr val="black">
                <a:alpha val="33000"/>
              </a:prstClr>
            </a:outerShdw>
          </a:effectLst>
        </p:spPr>
        <p:txBody>
          <a:bodyPr vert="horz" wrap="square" lIns="91440" tIns="45720" rIns="91440" bIns="45720" numCol="1" anchor="t" anchorCtr="0" compatLnSpc="1">
            <a:prstTxWarp prst="textNoShape">
              <a:avLst/>
            </a:prstTxWarp>
          </a:bodyPr>
          <a:lstStyle/>
          <a:p>
            <a:endParaRPr lang="en-US" sz="2700"/>
          </a:p>
        </p:txBody>
      </p:sp>
      <p:sp>
        <p:nvSpPr>
          <p:cNvPr id="21" name="TextBox 20">
            <a:extLst>
              <a:ext uri="{FF2B5EF4-FFF2-40B4-BE49-F238E27FC236}">
                <a16:creationId xmlns:a16="http://schemas.microsoft.com/office/drawing/2014/main" id="{089C5501-416E-41DE-993A-E375105553CF}"/>
              </a:ext>
            </a:extLst>
          </p:cNvPr>
          <p:cNvSpPr txBox="1"/>
          <p:nvPr/>
        </p:nvSpPr>
        <p:spPr>
          <a:xfrm>
            <a:off x="6759009" y="2852379"/>
            <a:ext cx="1438214" cy="954107"/>
          </a:xfrm>
          <a:prstGeom prst="rect">
            <a:avLst/>
          </a:prstGeom>
          <a:noFill/>
        </p:spPr>
        <p:txBody>
          <a:bodyPr wrap="square" lIns="0" rIns="0" rtlCol="0">
            <a:spAutoFit/>
          </a:bodyPr>
          <a:lstStyle/>
          <a:p>
            <a:pPr algn="ctr"/>
            <a:r>
              <a:rPr lang="en-US" altLang="ko-KR" sz="1400" dirty="0">
                <a:cs typeface="Arial" pitchFamily="34" charset="0"/>
              </a:rPr>
              <a:t>Contains structural redundancy (DNA repetitions)</a:t>
            </a:r>
            <a:endParaRPr lang="ko-KR" altLang="en-US" sz="1400" dirty="0">
              <a:cs typeface="Arial" pitchFamily="34" charset="0"/>
            </a:endParaRPr>
          </a:p>
        </p:txBody>
      </p:sp>
      <p:sp>
        <p:nvSpPr>
          <p:cNvPr id="22" name="Rectangle: Rounded Corners 20">
            <a:extLst>
              <a:ext uri="{FF2B5EF4-FFF2-40B4-BE49-F238E27FC236}">
                <a16:creationId xmlns:a16="http://schemas.microsoft.com/office/drawing/2014/main" id="{A19F8EE5-221F-4191-8FEF-F575652D8453}"/>
              </a:ext>
            </a:extLst>
          </p:cNvPr>
          <p:cNvSpPr/>
          <p:nvPr/>
        </p:nvSpPr>
        <p:spPr>
          <a:xfrm>
            <a:off x="9075575" y="2778162"/>
            <a:ext cx="2331218" cy="2313791"/>
          </a:xfrm>
          <a:prstGeom prst="roundRect">
            <a:avLst>
              <a:gd name="adj" fmla="val 10633"/>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Freeform: Shape 21">
            <a:extLst>
              <a:ext uri="{FF2B5EF4-FFF2-40B4-BE49-F238E27FC236}">
                <a16:creationId xmlns:a16="http://schemas.microsoft.com/office/drawing/2014/main" id="{EA520A32-E22F-4FC2-9058-D139F360000A}"/>
              </a:ext>
            </a:extLst>
          </p:cNvPr>
          <p:cNvSpPr/>
          <p:nvPr/>
        </p:nvSpPr>
        <p:spPr>
          <a:xfrm>
            <a:off x="9293447" y="1919133"/>
            <a:ext cx="1895475" cy="2790825"/>
          </a:xfrm>
          <a:custGeom>
            <a:avLst/>
            <a:gdLst>
              <a:gd name="connsiteX0" fmla="*/ 0 w 1895475"/>
              <a:gd name="connsiteY0" fmla="*/ 450533 h 2790825"/>
              <a:gd name="connsiteX1" fmla="*/ 317183 w 1895475"/>
              <a:gd name="connsiteY1" fmla="*/ 133350 h 2790825"/>
              <a:gd name="connsiteX2" fmla="*/ 317183 w 1895475"/>
              <a:gd name="connsiteY2" fmla="*/ 133350 h 2790825"/>
              <a:gd name="connsiteX3" fmla="*/ 317183 w 1895475"/>
              <a:gd name="connsiteY3" fmla="*/ 133350 h 2790825"/>
              <a:gd name="connsiteX4" fmla="*/ 1586865 w 1895475"/>
              <a:gd name="connsiteY4" fmla="*/ 0 h 2790825"/>
              <a:gd name="connsiteX5" fmla="*/ 1904048 w 1895475"/>
              <a:gd name="connsiteY5" fmla="*/ 317183 h 2790825"/>
              <a:gd name="connsiteX6" fmla="*/ 1827848 w 1895475"/>
              <a:gd name="connsiteY6" fmla="*/ 2110740 h 2790825"/>
              <a:gd name="connsiteX7" fmla="*/ 1510665 w 1895475"/>
              <a:gd name="connsiteY7" fmla="*/ 2427923 h 2790825"/>
              <a:gd name="connsiteX8" fmla="*/ 745808 w 1895475"/>
              <a:gd name="connsiteY8" fmla="*/ 2427923 h 2790825"/>
              <a:gd name="connsiteX9" fmla="*/ 650558 w 1895475"/>
              <a:gd name="connsiteY9" fmla="*/ 2792730 h 2790825"/>
              <a:gd name="connsiteX10" fmla="*/ 413385 w 1895475"/>
              <a:gd name="connsiteY10" fmla="*/ 2427923 h 2790825"/>
              <a:gd name="connsiteX11" fmla="*/ 413385 w 1895475"/>
              <a:gd name="connsiteY11" fmla="*/ 2427923 h 2790825"/>
              <a:gd name="connsiteX12" fmla="*/ 96203 w 1895475"/>
              <a:gd name="connsiteY12" fmla="*/ 2110740 h 2790825"/>
              <a:gd name="connsiteX13" fmla="*/ 0 w 1895475"/>
              <a:gd name="connsiteY13" fmla="*/ 450533 h 2790825"/>
              <a:gd name="connsiteX14" fmla="*/ 0 w 1895475"/>
              <a:gd name="connsiteY14" fmla="*/ 450533 h 279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5475" h="2790825">
                <a:moveTo>
                  <a:pt x="0" y="450533"/>
                </a:moveTo>
                <a:cubicBezTo>
                  <a:pt x="0" y="275273"/>
                  <a:pt x="141923" y="133350"/>
                  <a:pt x="317183" y="133350"/>
                </a:cubicBezTo>
                <a:lnTo>
                  <a:pt x="317183" y="133350"/>
                </a:lnTo>
                <a:lnTo>
                  <a:pt x="317183" y="133350"/>
                </a:lnTo>
                <a:lnTo>
                  <a:pt x="1586865" y="0"/>
                </a:lnTo>
                <a:cubicBezTo>
                  <a:pt x="1762125" y="0"/>
                  <a:pt x="1904048" y="141923"/>
                  <a:pt x="1904048" y="317183"/>
                </a:cubicBezTo>
                <a:lnTo>
                  <a:pt x="1827848" y="2110740"/>
                </a:lnTo>
                <a:cubicBezTo>
                  <a:pt x="1827848" y="2286000"/>
                  <a:pt x="1685925" y="2427923"/>
                  <a:pt x="1510665" y="2427923"/>
                </a:cubicBezTo>
                <a:lnTo>
                  <a:pt x="745808" y="2427923"/>
                </a:lnTo>
                <a:lnTo>
                  <a:pt x="650558" y="2792730"/>
                </a:lnTo>
                <a:lnTo>
                  <a:pt x="413385" y="2427923"/>
                </a:lnTo>
                <a:lnTo>
                  <a:pt x="413385" y="2427923"/>
                </a:lnTo>
                <a:cubicBezTo>
                  <a:pt x="238125" y="2427923"/>
                  <a:pt x="96203" y="2286000"/>
                  <a:pt x="96203" y="2110740"/>
                </a:cubicBezTo>
                <a:lnTo>
                  <a:pt x="0" y="450533"/>
                </a:lnTo>
                <a:lnTo>
                  <a:pt x="0" y="450533"/>
                </a:lnTo>
                <a:close/>
              </a:path>
            </a:pathLst>
          </a:custGeom>
          <a:gradFill flip="none" rotWithShape="1">
            <a:gsLst>
              <a:gs pos="0">
                <a:schemeClr val="bg1">
                  <a:lumMod val="85000"/>
                </a:schemeClr>
              </a:gs>
              <a:gs pos="100000">
                <a:schemeClr val="bg1"/>
              </a:gs>
            </a:gsLst>
            <a:lin ang="13500000" scaled="1"/>
            <a:tileRect/>
          </a:gradFill>
          <a:ln>
            <a:gradFill flip="none" rotWithShape="1">
              <a:gsLst>
                <a:gs pos="0">
                  <a:schemeClr val="bg1"/>
                </a:gs>
                <a:gs pos="100000">
                  <a:schemeClr val="bg1">
                    <a:lumMod val="75000"/>
                  </a:schemeClr>
                </a:gs>
              </a:gsLst>
              <a:lin ang="8100000" scaled="1"/>
              <a:tileRect/>
            </a:gradFill>
          </a:ln>
          <a:effectLst>
            <a:outerShdw blurRad="127000" dist="38100" dir="8100000" algn="tr" rotWithShape="0">
              <a:prstClr val="black">
                <a:alpha val="33000"/>
              </a:prstClr>
            </a:outerShdw>
          </a:effectLst>
        </p:spPr>
        <p:txBody>
          <a:bodyPr vert="horz" wrap="square" lIns="91440" tIns="45720" rIns="91440" bIns="45720" numCol="1" anchor="t" anchorCtr="0" compatLnSpc="1">
            <a:prstTxWarp prst="textNoShape">
              <a:avLst/>
            </a:prstTxWarp>
          </a:bodyPr>
          <a:lstStyle/>
          <a:p>
            <a:endParaRPr lang="en-US" sz="2700"/>
          </a:p>
        </p:txBody>
      </p:sp>
      <p:sp>
        <p:nvSpPr>
          <p:cNvPr id="27" name="TextBox 26">
            <a:extLst>
              <a:ext uri="{FF2B5EF4-FFF2-40B4-BE49-F238E27FC236}">
                <a16:creationId xmlns:a16="http://schemas.microsoft.com/office/drawing/2014/main" id="{642681D6-1498-44F3-B5A7-CF84DBC52FE0}"/>
              </a:ext>
            </a:extLst>
          </p:cNvPr>
          <p:cNvSpPr txBox="1"/>
          <p:nvPr/>
        </p:nvSpPr>
        <p:spPr>
          <a:xfrm>
            <a:off x="9522464" y="2852379"/>
            <a:ext cx="1438214" cy="954107"/>
          </a:xfrm>
          <a:prstGeom prst="rect">
            <a:avLst/>
          </a:prstGeom>
          <a:noFill/>
        </p:spPr>
        <p:txBody>
          <a:bodyPr wrap="square" lIns="0" rIns="0" rtlCol="0">
            <a:spAutoFit/>
          </a:bodyPr>
          <a:lstStyle/>
          <a:p>
            <a:pPr algn="ctr"/>
            <a:r>
              <a:rPr lang="en-US" altLang="ko-KR" sz="1400" dirty="0">
                <a:cs typeface="Arial" pitchFamily="34" charset="0"/>
              </a:rPr>
              <a:t>Traditional compressors do no explain what they compress</a:t>
            </a:r>
            <a:endParaRPr lang="ko-KR" altLang="en-US" sz="1400" dirty="0">
              <a:cs typeface="Arial" pitchFamily="34" charset="0"/>
            </a:endParaRPr>
          </a:p>
        </p:txBody>
      </p:sp>
      <p:sp>
        <p:nvSpPr>
          <p:cNvPr id="31" name="Oval 21">
            <a:extLst>
              <a:ext uri="{FF2B5EF4-FFF2-40B4-BE49-F238E27FC236}">
                <a16:creationId xmlns:a16="http://schemas.microsoft.com/office/drawing/2014/main" id="{28333FC6-7B9E-47AF-9F38-4EA200D0990A}"/>
              </a:ext>
            </a:extLst>
          </p:cNvPr>
          <p:cNvSpPr/>
          <p:nvPr/>
        </p:nvSpPr>
        <p:spPr>
          <a:xfrm rot="20700000">
            <a:off x="1629827" y="2164485"/>
            <a:ext cx="474711" cy="416049"/>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32" name="Isosceles Triangle 22">
            <a:extLst>
              <a:ext uri="{FF2B5EF4-FFF2-40B4-BE49-F238E27FC236}">
                <a16:creationId xmlns:a16="http://schemas.microsoft.com/office/drawing/2014/main" id="{CD107B61-E01A-40AB-908B-391FC511E9A0}"/>
              </a:ext>
            </a:extLst>
          </p:cNvPr>
          <p:cNvSpPr/>
          <p:nvPr/>
        </p:nvSpPr>
        <p:spPr>
          <a:xfrm rot="19800000">
            <a:off x="4474656" y="2118230"/>
            <a:ext cx="465009" cy="464931"/>
          </a:xfrm>
          <a:custGeom>
            <a:avLst/>
            <a:gdLst/>
            <a:ahLst/>
            <a:cxnLst/>
            <a:rect l="l" t="t" r="r" b="b"/>
            <a:pathLst>
              <a:path w="3948369" h="3947711">
                <a:moveTo>
                  <a:pt x="1024184" y="1327019"/>
                </a:moveTo>
                <a:cubicBezTo>
                  <a:pt x="953964" y="1286477"/>
                  <a:pt x="864174" y="1310536"/>
                  <a:pt x="823632" y="1380756"/>
                </a:cubicBezTo>
                <a:cubicBezTo>
                  <a:pt x="783091" y="1450976"/>
                  <a:pt x="807150" y="1540767"/>
                  <a:pt x="877370" y="1581308"/>
                </a:cubicBezTo>
                <a:cubicBezTo>
                  <a:pt x="947590" y="1621850"/>
                  <a:pt x="1037380" y="1597790"/>
                  <a:pt x="1077922" y="1527570"/>
                </a:cubicBezTo>
                <a:cubicBezTo>
                  <a:pt x="1118463" y="1457350"/>
                  <a:pt x="1094404" y="1367560"/>
                  <a:pt x="1024184" y="1327019"/>
                </a:cubicBezTo>
                <a:close/>
                <a:moveTo>
                  <a:pt x="3610643" y="2228121"/>
                </a:moveTo>
                <a:cubicBezTo>
                  <a:pt x="3600833" y="2220477"/>
                  <a:pt x="3589363" y="2214630"/>
                  <a:pt x="3576595" y="2211209"/>
                </a:cubicBezTo>
                <a:cubicBezTo>
                  <a:pt x="3525522" y="2197524"/>
                  <a:pt x="3473024" y="2227833"/>
                  <a:pt x="3459339" y="2278906"/>
                </a:cubicBezTo>
                <a:cubicBezTo>
                  <a:pt x="3445654" y="2329979"/>
                  <a:pt x="3475964" y="2382476"/>
                  <a:pt x="3527037" y="2396161"/>
                </a:cubicBezTo>
                <a:cubicBezTo>
                  <a:pt x="3578110" y="2409846"/>
                  <a:pt x="3630607" y="2379537"/>
                  <a:pt x="3644292" y="2328464"/>
                </a:cubicBezTo>
                <a:cubicBezTo>
                  <a:pt x="3654556" y="2290159"/>
                  <a:pt x="3640073" y="2251053"/>
                  <a:pt x="3610643" y="2228121"/>
                </a:cubicBezTo>
                <a:close/>
                <a:moveTo>
                  <a:pt x="3948369" y="2177025"/>
                </a:moveTo>
                <a:lnTo>
                  <a:pt x="3902391" y="2247588"/>
                </a:lnTo>
                <a:cubicBezTo>
                  <a:pt x="3840166" y="2207044"/>
                  <a:pt x="3769677" y="2184131"/>
                  <a:pt x="3697935" y="2180296"/>
                </a:cubicBezTo>
                <a:cubicBezTo>
                  <a:pt x="3737123" y="2226403"/>
                  <a:pt x="3753617" y="2290363"/>
                  <a:pt x="3736768" y="2353243"/>
                </a:cubicBezTo>
                <a:cubicBezTo>
                  <a:pt x="3709398" y="2455390"/>
                  <a:pt x="3604404" y="2516008"/>
                  <a:pt x="3502258" y="2488638"/>
                </a:cubicBezTo>
                <a:cubicBezTo>
                  <a:pt x="3400111" y="2461268"/>
                  <a:pt x="3339493" y="2356274"/>
                  <a:pt x="3366863" y="2254127"/>
                </a:cubicBezTo>
                <a:cubicBezTo>
                  <a:pt x="3381032" y="2201247"/>
                  <a:pt x="3416004" y="2159497"/>
                  <a:pt x="3460818" y="2135698"/>
                </a:cubicBezTo>
                <a:cubicBezTo>
                  <a:pt x="3436032" y="2129730"/>
                  <a:pt x="3409996" y="2129302"/>
                  <a:pt x="3383900" y="2133133"/>
                </a:cubicBezTo>
                <a:cubicBezTo>
                  <a:pt x="3331988" y="2140756"/>
                  <a:pt x="3285146" y="2164460"/>
                  <a:pt x="3249703" y="2200200"/>
                </a:cubicBezTo>
                <a:cubicBezTo>
                  <a:pt x="3299772" y="2410806"/>
                  <a:pt x="3262997" y="2663063"/>
                  <a:pt x="3111944" y="2983361"/>
                </a:cubicBezTo>
                <a:cubicBezTo>
                  <a:pt x="2900481" y="3337269"/>
                  <a:pt x="2604169" y="3479398"/>
                  <a:pt x="2264290" y="3473876"/>
                </a:cubicBezTo>
                <a:lnTo>
                  <a:pt x="1854414" y="3947711"/>
                </a:lnTo>
                <a:lnTo>
                  <a:pt x="1615515" y="3809782"/>
                </a:lnTo>
                <a:lnTo>
                  <a:pt x="1764774" y="3379707"/>
                </a:lnTo>
                <a:cubicBezTo>
                  <a:pt x="1587770" y="3319643"/>
                  <a:pt x="1405350" y="3232972"/>
                  <a:pt x="1221865" y="3127037"/>
                </a:cubicBezTo>
                <a:cubicBezTo>
                  <a:pt x="1120271" y="3068382"/>
                  <a:pt x="1025311" y="3004264"/>
                  <a:pt x="938291" y="2935309"/>
                </a:cubicBezTo>
                <a:lnTo>
                  <a:pt x="509476" y="3157353"/>
                </a:lnTo>
                <a:lnTo>
                  <a:pt x="247593" y="2999226"/>
                </a:lnTo>
                <a:lnTo>
                  <a:pt x="599626" y="2603610"/>
                </a:lnTo>
                <a:cubicBezTo>
                  <a:pt x="384783" y="2338553"/>
                  <a:pt x="289709" y="2193107"/>
                  <a:pt x="174176" y="1843897"/>
                </a:cubicBezTo>
                <a:lnTo>
                  <a:pt x="0" y="1381252"/>
                </a:lnTo>
                <a:lnTo>
                  <a:pt x="107522" y="1111013"/>
                </a:lnTo>
                <a:cubicBezTo>
                  <a:pt x="159316" y="1021302"/>
                  <a:pt x="259400" y="1099908"/>
                  <a:pt x="349113" y="1151702"/>
                </a:cubicBezTo>
                <a:lnTo>
                  <a:pt x="486246" y="1217020"/>
                </a:lnTo>
                <a:cubicBezTo>
                  <a:pt x="628225" y="1148493"/>
                  <a:pt x="768311" y="1094036"/>
                  <a:pt x="908721" y="1057007"/>
                </a:cubicBezTo>
                <a:cubicBezTo>
                  <a:pt x="1011476" y="947354"/>
                  <a:pt x="1021990" y="857768"/>
                  <a:pt x="976491" y="611195"/>
                </a:cubicBezTo>
                <a:cubicBezTo>
                  <a:pt x="1335325" y="817429"/>
                  <a:pt x="1326102" y="899150"/>
                  <a:pt x="1389221" y="1007976"/>
                </a:cubicBezTo>
                <a:cubicBezTo>
                  <a:pt x="1615807" y="1002289"/>
                  <a:pt x="1836555" y="1044211"/>
                  <a:pt x="2066828" y="1133629"/>
                </a:cubicBezTo>
                <a:cubicBezTo>
                  <a:pt x="2047082" y="1203277"/>
                  <a:pt x="2048342" y="1275855"/>
                  <a:pt x="2067080" y="1343672"/>
                </a:cubicBezTo>
                <a:cubicBezTo>
                  <a:pt x="2009772" y="1325329"/>
                  <a:pt x="1950048" y="1312156"/>
                  <a:pt x="1888409" y="1302802"/>
                </a:cubicBezTo>
                <a:lnTo>
                  <a:pt x="1831983" y="1466454"/>
                </a:lnTo>
                <a:cubicBezTo>
                  <a:pt x="2171713" y="1545279"/>
                  <a:pt x="2334158" y="1639067"/>
                  <a:pt x="2533793" y="1871644"/>
                </a:cubicBezTo>
                <a:lnTo>
                  <a:pt x="2655130" y="1752801"/>
                </a:lnTo>
                <a:cubicBezTo>
                  <a:pt x="2623271" y="1710443"/>
                  <a:pt x="2589631" y="1671169"/>
                  <a:pt x="2553401" y="1635762"/>
                </a:cubicBezTo>
                <a:cubicBezTo>
                  <a:pt x="2626342" y="1620812"/>
                  <a:pt x="2694472" y="1585039"/>
                  <a:pt x="2748239" y="1530606"/>
                </a:cubicBezTo>
                <a:cubicBezTo>
                  <a:pt x="2959801" y="1699876"/>
                  <a:pt x="3152007" y="1908367"/>
                  <a:pt x="3223775" y="2111154"/>
                </a:cubicBezTo>
                <a:cubicBezTo>
                  <a:pt x="3265103" y="2076949"/>
                  <a:pt x="3316077" y="2055387"/>
                  <a:pt x="3371292" y="2047279"/>
                </a:cubicBezTo>
                <a:cubicBezTo>
                  <a:pt x="3454199" y="2035105"/>
                  <a:pt x="3536665" y="2054733"/>
                  <a:pt x="3603728" y="2099347"/>
                </a:cubicBezTo>
                <a:cubicBezTo>
                  <a:pt x="3679156" y="2088543"/>
                  <a:pt x="3756158" y="2095770"/>
                  <a:pt x="3828792" y="2119628"/>
                </a:cubicBezTo>
                <a:cubicBezTo>
                  <a:pt x="3870454" y="2133311"/>
                  <a:pt x="3910678" y="2152466"/>
                  <a:pt x="3948369" y="2177025"/>
                </a:cubicBezTo>
                <a:close/>
                <a:moveTo>
                  <a:pt x="2661401" y="883270"/>
                </a:moveTo>
                <a:cubicBezTo>
                  <a:pt x="2838812" y="985699"/>
                  <a:pt x="2899598" y="1212554"/>
                  <a:pt x="2797170" y="1389966"/>
                </a:cubicBezTo>
                <a:cubicBezTo>
                  <a:pt x="2694741" y="1567377"/>
                  <a:pt x="2467885" y="1628163"/>
                  <a:pt x="2290474" y="1525735"/>
                </a:cubicBezTo>
                <a:cubicBezTo>
                  <a:pt x="2113063" y="1423306"/>
                  <a:pt x="2052277" y="1196450"/>
                  <a:pt x="2154705" y="1019039"/>
                </a:cubicBezTo>
                <a:cubicBezTo>
                  <a:pt x="2257134" y="841627"/>
                  <a:pt x="2483990" y="780842"/>
                  <a:pt x="2661401" y="883270"/>
                </a:cubicBezTo>
                <a:close/>
                <a:moveTo>
                  <a:pt x="2494139" y="49756"/>
                </a:moveTo>
                <a:cubicBezTo>
                  <a:pt x="2671551" y="152184"/>
                  <a:pt x="2732337" y="379040"/>
                  <a:pt x="2629908" y="556451"/>
                </a:cubicBezTo>
                <a:cubicBezTo>
                  <a:pt x="2527480" y="733863"/>
                  <a:pt x="2300624" y="794648"/>
                  <a:pt x="2123212" y="692220"/>
                </a:cubicBezTo>
                <a:cubicBezTo>
                  <a:pt x="1945801" y="589791"/>
                  <a:pt x="1885015" y="362936"/>
                  <a:pt x="1987444" y="185524"/>
                </a:cubicBezTo>
                <a:cubicBezTo>
                  <a:pt x="2089872" y="8113"/>
                  <a:pt x="2316728" y="-52673"/>
                  <a:pt x="2494139" y="497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pic>
        <p:nvPicPr>
          <p:cNvPr id="36" name="Imagen 35">
            <a:extLst>
              <a:ext uri="{FF2B5EF4-FFF2-40B4-BE49-F238E27FC236}">
                <a16:creationId xmlns:a16="http://schemas.microsoft.com/office/drawing/2014/main" id="{3499E356-BF9D-DE55-9A2C-703592A0725A}"/>
              </a:ext>
            </a:extLst>
          </p:cNvPr>
          <p:cNvPicPr>
            <a:picLocks noChangeAspect="1"/>
          </p:cNvPicPr>
          <p:nvPr/>
        </p:nvPicPr>
        <p:blipFill>
          <a:blip r:embed="rId3"/>
          <a:stretch>
            <a:fillRect/>
          </a:stretch>
        </p:blipFill>
        <p:spPr>
          <a:xfrm>
            <a:off x="9984009" y="2204526"/>
            <a:ext cx="514350" cy="514350"/>
          </a:xfrm>
          <a:prstGeom prst="rect">
            <a:avLst/>
          </a:prstGeom>
        </p:spPr>
      </p:pic>
      <p:sp>
        <p:nvSpPr>
          <p:cNvPr id="37" name="Block Arc 41">
            <a:extLst>
              <a:ext uri="{FF2B5EF4-FFF2-40B4-BE49-F238E27FC236}">
                <a16:creationId xmlns:a16="http://schemas.microsoft.com/office/drawing/2014/main" id="{FDF12258-C35A-E3A0-8811-34555EDECD2C}"/>
              </a:ext>
            </a:extLst>
          </p:cNvPr>
          <p:cNvSpPr/>
          <p:nvPr/>
        </p:nvSpPr>
        <p:spPr>
          <a:xfrm>
            <a:off x="7196067" y="2065464"/>
            <a:ext cx="563324" cy="570461"/>
          </a:xfrm>
          <a:custGeom>
            <a:avLst/>
            <a:gdLst/>
            <a:ahLst/>
            <a:cxnLst/>
            <a:rect l="l" t="t" r="r" b="b"/>
            <a:pathLst>
              <a:path w="2844151" h="2880180">
                <a:moveTo>
                  <a:pt x="2390187" y="1502145"/>
                </a:moveTo>
                <a:lnTo>
                  <a:pt x="2844151" y="1530794"/>
                </a:lnTo>
                <a:cubicBezTo>
                  <a:pt x="2804784" y="2154619"/>
                  <a:pt x="2367464" y="2681809"/>
                  <a:pt x="1761650" y="2835749"/>
                </a:cubicBezTo>
                <a:cubicBezTo>
                  <a:pt x="1191486" y="2980631"/>
                  <a:pt x="594633" y="2763755"/>
                  <a:pt x="252983" y="2293680"/>
                </a:cubicBezTo>
                <a:lnTo>
                  <a:pt x="102982" y="2380283"/>
                </a:lnTo>
                <a:lnTo>
                  <a:pt x="104524" y="1603708"/>
                </a:lnTo>
                <a:lnTo>
                  <a:pt x="777828" y="1990661"/>
                </a:lnTo>
                <a:lnTo>
                  <a:pt x="648358" y="2065410"/>
                </a:lnTo>
                <a:cubicBezTo>
                  <a:pt x="886760" y="2358087"/>
                  <a:pt x="1276546" y="2489694"/>
                  <a:pt x="1649627" y="2394891"/>
                </a:cubicBezTo>
                <a:cubicBezTo>
                  <a:pt x="2064076" y="2289577"/>
                  <a:pt x="2363256" y="1928916"/>
                  <a:pt x="2390187" y="1502145"/>
                </a:cubicBezTo>
                <a:close/>
                <a:moveTo>
                  <a:pt x="1424249" y="58"/>
                </a:moveTo>
                <a:cubicBezTo>
                  <a:pt x="1880498" y="-4073"/>
                  <a:pt x="2318325" y="209551"/>
                  <a:pt x="2591169" y="586524"/>
                </a:cubicBezTo>
                <a:lnTo>
                  <a:pt x="2741170" y="499921"/>
                </a:lnTo>
                <a:lnTo>
                  <a:pt x="2739628" y="1276497"/>
                </a:lnTo>
                <a:lnTo>
                  <a:pt x="2066324" y="889544"/>
                </a:lnTo>
                <a:lnTo>
                  <a:pt x="2195793" y="814795"/>
                </a:lnTo>
                <a:cubicBezTo>
                  <a:pt x="1957391" y="522118"/>
                  <a:pt x="1567606" y="390511"/>
                  <a:pt x="1194524" y="485313"/>
                </a:cubicBezTo>
                <a:cubicBezTo>
                  <a:pt x="780075" y="590627"/>
                  <a:pt x="480895" y="951288"/>
                  <a:pt x="453964" y="1378059"/>
                </a:cubicBezTo>
                <a:lnTo>
                  <a:pt x="0" y="1349410"/>
                </a:lnTo>
                <a:cubicBezTo>
                  <a:pt x="39367" y="725585"/>
                  <a:pt x="476687" y="198395"/>
                  <a:pt x="1082501" y="44455"/>
                </a:cubicBezTo>
                <a:cubicBezTo>
                  <a:pt x="1196091" y="15591"/>
                  <a:pt x="1310740" y="1086"/>
                  <a:pt x="1424249" y="58"/>
                </a:cubicBezTo>
                <a:close/>
              </a:path>
            </a:pathLst>
          </a:cu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8" name="CuadroTexto 37">
            <a:extLst>
              <a:ext uri="{FF2B5EF4-FFF2-40B4-BE49-F238E27FC236}">
                <a16:creationId xmlns:a16="http://schemas.microsoft.com/office/drawing/2014/main" id="{BA4BD134-EF94-42AA-A9C7-D60E014CC697}"/>
              </a:ext>
            </a:extLst>
          </p:cNvPr>
          <p:cNvSpPr txBox="1"/>
          <p:nvPr/>
        </p:nvSpPr>
        <p:spPr>
          <a:xfrm>
            <a:off x="1867182" y="6364602"/>
            <a:ext cx="8731623" cy="307777"/>
          </a:xfrm>
          <a:prstGeom prst="rect">
            <a:avLst/>
          </a:prstGeom>
          <a:noFill/>
        </p:spPr>
        <p:txBody>
          <a:bodyPr wrap="square" rtlCol="0">
            <a:spAutoFit/>
          </a:bodyPr>
          <a:lstStyle/>
          <a:p>
            <a:r>
              <a:rPr lang="es-CR" sz="1400" b="1" dirty="0">
                <a:solidFill>
                  <a:schemeClr val="bg1"/>
                </a:solidFill>
                <a:latin typeface="Arial" panose="020B0604020202020204" pitchFamily="34" charset="0"/>
                <a:cs typeface="Arial" panose="020B0604020202020204" pitchFamily="34" charset="0"/>
              </a:rPr>
              <a:t>Key notes: </a:t>
            </a:r>
            <a:r>
              <a:rPr lang="es-CR" sz="1400" dirty="0" err="1">
                <a:solidFill>
                  <a:schemeClr val="bg1"/>
                </a:solidFill>
                <a:latin typeface="Arial" panose="020B0604020202020204" pitchFamily="34" charset="0"/>
                <a:cs typeface="Arial" panose="020B0604020202020204" pitchFamily="34" charset="0"/>
              </a:rPr>
              <a:t>LLMs</a:t>
            </a:r>
            <a:r>
              <a:rPr lang="es-CR" sz="1400" dirty="0">
                <a:solidFill>
                  <a:schemeClr val="bg1"/>
                </a:solidFill>
                <a:latin typeface="Arial" panose="020B0604020202020204" pitchFamily="34" charset="0"/>
                <a:cs typeface="Arial" panose="020B0604020202020204" pitchFamily="34" charset="0"/>
              </a:rPr>
              <a:t> can </a:t>
            </a:r>
            <a:r>
              <a:rPr lang="es-CR" sz="1400" dirty="0" err="1">
                <a:solidFill>
                  <a:schemeClr val="bg1"/>
                </a:solidFill>
                <a:latin typeface="Arial" panose="020B0604020202020204" pitchFamily="34" charset="0"/>
                <a:cs typeface="Arial" panose="020B0604020202020204" pitchFamily="34" charset="0"/>
              </a:rPr>
              <a:t>support</a:t>
            </a:r>
            <a:r>
              <a:rPr lang="es-CR" sz="1400" dirty="0">
                <a:solidFill>
                  <a:schemeClr val="bg1"/>
                </a:solidFill>
                <a:latin typeface="Arial" panose="020B0604020202020204" pitchFamily="34" charset="0"/>
                <a:cs typeface="Arial" panose="020B0604020202020204" pitchFamily="34" charset="0"/>
              </a:rPr>
              <a:t> </a:t>
            </a:r>
            <a:r>
              <a:rPr lang="es-CR" sz="1400" dirty="0" err="1">
                <a:solidFill>
                  <a:schemeClr val="bg1"/>
                </a:solidFill>
                <a:latin typeface="Arial" panose="020B0604020202020204" pitchFamily="34" charset="0"/>
                <a:cs typeface="Arial" panose="020B0604020202020204" pitchFamily="34" charset="0"/>
              </a:rPr>
              <a:t>compression</a:t>
            </a:r>
            <a:r>
              <a:rPr lang="es-CR" sz="1400" dirty="0">
                <a:solidFill>
                  <a:schemeClr val="bg1"/>
                </a:solidFill>
                <a:latin typeface="Arial" panose="020B0604020202020204" pitchFamily="34" charset="0"/>
                <a:cs typeface="Arial" panose="020B0604020202020204" pitchFamily="34" charset="0"/>
              </a:rPr>
              <a:t>, </a:t>
            </a:r>
            <a:r>
              <a:rPr lang="es-CR" sz="1400" dirty="0" err="1">
                <a:solidFill>
                  <a:schemeClr val="bg1"/>
                </a:solidFill>
                <a:latin typeface="Arial" panose="020B0604020202020204" pitchFamily="34" charset="0"/>
                <a:cs typeface="Arial" panose="020B0604020202020204" pitchFamily="34" charset="0"/>
              </a:rPr>
              <a:t>but</a:t>
            </a:r>
            <a:r>
              <a:rPr lang="es-CR" sz="1400" dirty="0">
                <a:solidFill>
                  <a:schemeClr val="bg1"/>
                </a:solidFill>
                <a:latin typeface="Arial" panose="020B0604020202020204" pitchFamily="34" charset="0"/>
                <a:cs typeface="Arial" panose="020B0604020202020204" pitchFamily="34" charset="0"/>
              </a:rPr>
              <a:t> </a:t>
            </a:r>
            <a:r>
              <a:rPr lang="es-CR" sz="1400" dirty="0" err="1">
                <a:solidFill>
                  <a:schemeClr val="bg1"/>
                </a:solidFill>
                <a:latin typeface="Arial" panose="020B0604020202020204" pitchFamily="34" charset="0"/>
                <a:cs typeface="Arial" panose="020B0604020202020204" pitchFamily="34" charset="0"/>
              </a:rPr>
              <a:t>only</a:t>
            </a:r>
            <a:r>
              <a:rPr lang="es-CR" sz="1400" dirty="0">
                <a:solidFill>
                  <a:schemeClr val="bg1"/>
                </a:solidFill>
                <a:latin typeface="Arial" panose="020B0604020202020204" pitchFamily="34" charset="0"/>
                <a:cs typeface="Arial" panose="020B0604020202020204" pitchFamily="34" charset="0"/>
              </a:rPr>
              <a:t> </a:t>
            </a:r>
            <a:r>
              <a:rPr lang="es-CR" sz="1400" dirty="0" err="1">
                <a:solidFill>
                  <a:schemeClr val="bg1"/>
                </a:solidFill>
                <a:latin typeface="Arial" panose="020B0604020202020204" pitchFamily="34" charset="0"/>
                <a:cs typeface="Arial" panose="020B0604020202020204" pitchFamily="34" charset="0"/>
              </a:rPr>
              <a:t>when</a:t>
            </a:r>
            <a:r>
              <a:rPr lang="es-CR" sz="1400" dirty="0">
                <a:solidFill>
                  <a:schemeClr val="bg1"/>
                </a:solidFill>
                <a:latin typeface="Arial" panose="020B0604020202020204" pitchFamily="34" charset="0"/>
                <a:cs typeface="Arial" panose="020B0604020202020204" pitchFamily="34" charset="0"/>
              </a:rPr>
              <a:t> </a:t>
            </a:r>
            <a:r>
              <a:rPr lang="es-CR" sz="1400" dirty="0" err="1">
                <a:solidFill>
                  <a:schemeClr val="bg1"/>
                </a:solidFill>
                <a:latin typeface="Arial" panose="020B0604020202020204" pitchFamily="34" charset="0"/>
                <a:cs typeface="Arial" panose="020B0604020202020204" pitchFamily="34" charset="0"/>
              </a:rPr>
              <a:t>their</a:t>
            </a:r>
            <a:r>
              <a:rPr lang="es-CR" sz="1400" dirty="0">
                <a:solidFill>
                  <a:schemeClr val="bg1"/>
                </a:solidFill>
                <a:latin typeface="Arial" panose="020B0604020202020204" pitchFamily="34" charset="0"/>
                <a:cs typeface="Arial" panose="020B0604020202020204" pitchFamily="34" charset="0"/>
              </a:rPr>
              <a:t> </a:t>
            </a:r>
            <a:r>
              <a:rPr lang="es-CR" sz="1400" dirty="0" err="1">
                <a:solidFill>
                  <a:schemeClr val="bg1"/>
                </a:solidFill>
                <a:latin typeface="Arial" panose="020B0604020202020204" pitchFamily="34" charset="0"/>
                <a:cs typeface="Arial" panose="020B0604020202020204" pitchFamily="34" charset="0"/>
              </a:rPr>
              <a:t>results</a:t>
            </a:r>
            <a:r>
              <a:rPr lang="es-CR" sz="1400" dirty="0">
                <a:solidFill>
                  <a:schemeClr val="bg1"/>
                </a:solidFill>
                <a:latin typeface="Arial" panose="020B0604020202020204" pitchFamily="34" charset="0"/>
                <a:cs typeface="Arial" panose="020B0604020202020204" pitchFamily="34" charset="0"/>
              </a:rPr>
              <a:t> are </a:t>
            </a:r>
            <a:r>
              <a:rPr lang="es-CR" sz="1400" dirty="0" err="1">
                <a:solidFill>
                  <a:schemeClr val="bg1"/>
                </a:solidFill>
                <a:latin typeface="Arial" panose="020B0604020202020204" pitchFamily="34" charset="0"/>
                <a:cs typeface="Arial" panose="020B0604020202020204" pitchFamily="34" charset="0"/>
              </a:rPr>
              <a:t>validated</a:t>
            </a:r>
            <a:r>
              <a:rPr lang="es-CR" sz="1400" dirty="0">
                <a:solidFill>
                  <a:schemeClr val="bg1"/>
                </a:solidFill>
                <a:latin typeface="Arial" panose="020B0604020202020204" pitchFamily="34" charset="0"/>
                <a:cs typeface="Arial" panose="020B0604020202020204" pitchFamily="34" charset="0"/>
              </a:rPr>
              <a:t> </a:t>
            </a:r>
            <a:r>
              <a:rPr lang="es-CR" sz="1400" dirty="0" err="1">
                <a:solidFill>
                  <a:schemeClr val="bg1"/>
                </a:solidFill>
                <a:latin typeface="Arial" panose="020B0604020202020204" pitchFamily="34" charset="0"/>
                <a:cs typeface="Arial" panose="020B0604020202020204" pitchFamily="34" charset="0"/>
              </a:rPr>
              <a:t>deterministically</a:t>
            </a:r>
            <a:endParaRPr lang="es-CR" sz="1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9224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sz="5000" dirty="0">
                <a:latin typeface="Arial" panose="020B0604020202020204" pitchFamily="34" charset="0"/>
              </a:rPr>
              <a:t>What is a FASTQ file?</a:t>
            </a:r>
          </a:p>
        </p:txBody>
      </p:sp>
      <p:sp>
        <p:nvSpPr>
          <p:cNvPr id="3" name="Isosceles Triangle 2">
            <a:extLst>
              <a:ext uri="{FF2B5EF4-FFF2-40B4-BE49-F238E27FC236}">
                <a16:creationId xmlns:a16="http://schemas.microsoft.com/office/drawing/2014/main" id="{8C48F2D3-5AFA-4A2C-879B-451D06D5A607}"/>
              </a:ext>
            </a:extLst>
          </p:cNvPr>
          <p:cNvSpPr/>
          <p:nvPr/>
        </p:nvSpPr>
        <p:spPr>
          <a:xfrm rot="10800000">
            <a:off x="5560319" y="2503501"/>
            <a:ext cx="4336715" cy="3430794"/>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4">
            <a:extLst>
              <a:ext uri="{FF2B5EF4-FFF2-40B4-BE49-F238E27FC236}">
                <a16:creationId xmlns:a16="http://schemas.microsoft.com/office/drawing/2014/main" id="{9CB9E51F-418E-4A60-9A4F-E728D43C1EC8}"/>
              </a:ext>
            </a:extLst>
          </p:cNvPr>
          <p:cNvSpPr/>
          <p:nvPr/>
        </p:nvSpPr>
        <p:spPr>
          <a:xfrm>
            <a:off x="5322170" y="2503501"/>
            <a:ext cx="4737372" cy="5622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5">
            <a:extLst>
              <a:ext uri="{FF2B5EF4-FFF2-40B4-BE49-F238E27FC236}">
                <a16:creationId xmlns:a16="http://schemas.microsoft.com/office/drawing/2014/main" id="{30E52C8F-67CD-448C-9A0D-7FCE02B4BDFC}"/>
              </a:ext>
            </a:extLst>
          </p:cNvPr>
          <p:cNvSpPr/>
          <p:nvPr/>
        </p:nvSpPr>
        <p:spPr>
          <a:xfrm>
            <a:off x="5759915" y="3311658"/>
            <a:ext cx="3861882" cy="5622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6">
            <a:extLst>
              <a:ext uri="{FF2B5EF4-FFF2-40B4-BE49-F238E27FC236}">
                <a16:creationId xmlns:a16="http://schemas.microsoft.com/office/drawing/2014/main" id="{73E54A83-7A42-45DE-9A1E-5EE6F14716CD}"/>
              </a:ext>
            </a:extLst>
          </p:cNvPr>
          <p:cNvSpPr/>
          <p:nvPr/>
        </p:nvSpPr>
        <p:spPr>
          <a:xfrm>
            <a:off x="6197660" y="4119815"/>
            <a:ext cx="2986392" cy="562244"/>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7">
            <a:extLst>
              <a:ext uri="{FF2B5EF4-FFF2-40B4-BE49-F238E27FC236}">
                <a16:creationId xmlns:a16="http://schemas.microsoft.com/office/drawing/2014/main" id="{02ABB453-E902-4DEF-8EA0-ABA9971D225F}"/>
              </a:ext>
            </a:extLst>
          </p:cNvPr>
          <p:cNvSpPr/>
          <p:nvPr/>
        </p:nvSpPr>
        <p:spPr>
          <a:xfrm>
            <a:off x="6606221" y="4927972"/>
            <a:ext cx="2169270" cy="562244"/>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CDBA7B0F-0733-49FD-BB18-BA9DA73CD7C2}"/>
              </a:ext>
            </a:extLst>
          </p:cNvPr>
          <p:cNvSpPr txBox="1"/>
          <p:nvPr/>
        </p:nvSpPr>
        <p:spPr>
          <a:xfrm>
            <a:off x="5359990" y="2630735"/>
            <a:ext cx="4737371" cy="307777"/>
          </a:xfrm>
          <a:prstGeom prst="rect">
            <a:avLst/>
          </a:prstGeom>
          <a:noFill/>
        </p:spPr>
        <p:txBody>
          <a:bodyPr wrap="square" rtlCol="0">
            <a:spAutoFit/>
          </a:bodyPr>
          <a:lstStyle/>
          <a:p>
            <a:pPr algn="ctr"/>
            <a:r>
              <a:rPr lang="en-US" altLang="ko-KR" sz="1400" b="1" dirty="0">
                <a:solidFill>
                  <a:schemeClr val="bg1"/>
                </a:solidFill>
                <a:cs typeface="Arial" pitchFamily="34" charset="0"/>
              </a:rPr>
              <a:t>@READ_001</a:t>
            </a:r>
            <a:endParaRPr lang="ko-KR" altLang="en-US" sz="1400" b="1" dirty="0">
              <a:solidFill>
                <a:schemeClr val="bg1"/>
              </a:solidFill>
              <a:cs typeface="Arial" pitchFamily="34" charset="0"/>
            </a:endParaRPr>
          </a:p>
        </p:txBody>
      </p:sp>
      <p:sp>
        <p:nvSpPr>
          <p:cNvPr id="10" name="TextBox 9">
            <a:extLst>
              <a:ext uri="{FF2B5EF4-FFF2-40B4-BE49-F238E27FC236}">
                <a16:creationId xmlns:a16="http://schemas.microsoft.com/office/drawing/2014/main" id="{0C495316-1B0D-4623-8D7D-975A42AD537F}"/>
              </a:ext>
            </a:extLst>
          </p:cNvPr>
          <p:cNvSpPr txBox="1"/>
          <p:nvPr/>
        </p:nvSpPr>
        <p:spPr>
          <a:xfrm>
            <a:off x="5759915" y="3438892"/>
            <a:ext cx="3861882" cy="307777"/>
          </a:xfrm>
          <a:prstGeom prst="rect">
            <a:avLst/>
          </a:prstGeom>
          <a:noFill/>
        </p:spPr>
        <p:txBody>
          <a:bodyPr wrap="square" rtlCol="0">
            <a:spAutoFit/>
          </a:bodyPr>
          <a:lstStyle/>
          <a:p>
            <a:pPr algn="ctr"/>
            <a:r>
              <a:rPr lang="en-US" altLang="ko-KR" sz="1400" b="1" dirty="0">
                <a:solidFill>
                  <a:schemeClr val="bg1"/>
                </a:solidFill>
                <a:cs typeface="Arial" pitchFamily="34" charset="0"/>
              </a:rPr>
              <a:t>ACGTACGTACGTNNN</a:t>
            </a:r>
            <a:endParaRPr lang="ko-KR" altLang="en-US" sz="1400" b="1" dirty="0">
              <a:solidFill>
                <a:schemeClr val="bg1"/>
              </a:solidFill>
              <a:cs typeface="Arial" pitchFamily="34" charset="0"/>
            </a:endParaRPr>
          </a:p>
        </p:txBody>
      </p:sp>
      <p:sp>
        <p:nvSpPr>
          <p:cNvPr id="11" name="TextBox 10">
            <a:extLst>
              <a:ext uri="{FF2B5EF4-FFF2-40B4-BE49-F238E27FC236}">
                <a16:creationId xmlns:a16="http://schemas.microsoft.com/office/drawing/2014/main" id="{A025547A-375B-47DF-8FB6-9408B3620097}"/>
              </a:ext>
            </a:extLst>
          </p:cNvPr>
          <p:cNvSpPr txBox="1"/>
          <p:nvPr/>
        </p:nvSpPr>
        <p:spPr>
          <a:xfrm>
            <a:off x="6197660" y="4247049"/>
            <a:ext cx="2986392" cy="307777"/>
          </a:xfrm>
          <a:prstGeom prst="rect">
            <a:avLst/>
          </a:prstGeom>
          <a:noFill/>
        </p:spPr>
        <p:txBody>
          <a:bodyPr wrap="square" rtlCol="0">
            <a:spAutoFit/>
          </a:bodyPr>
          <a:lstStyle/>
          <a:p>
            <a:pPr algn="ctr"/>
            <a:r>
              <a:rPr lang="en-US" altLang="ko-KR" sz="1400" b="1" dirty="0">
                <a:solidFill>
                  <a:schemeClr val="bg1"/>
                </a:solidFill>
                <a:cs typeface="Arial" pitchFamily="34" charset="0"/>
              </a:rPr>
              <a:t>+</a:t>
            </a:r>
            <a:endParaRPr lang="ko-KR" altLang="en-US" sz="1400" b="1" dirty="0">
              <a:solidFill>
                <a:schemeClr val="bg1"/>
              </a:solidFill>
              <a:cs typeface="Arial" pitchFamily="34" charset="0"/>
            </a:endParaRPr>
          </a:p>
        </p:txBody>
      </p:sp>
      <p:sp>
        <p:nvSpPr>
          <p:cNvPr id="12" name="TextBox 11">
            <a:extLst>
              <a:ext uri="{FF2B5EF4-FFF2-40B4-BE49-F238E27FC236}">
                <a16:creationId xmlns:a16="http://schemas.microsoft.com/office/drawing/2014/main" id="{27E83903-5BED-4E00-857E-561CFCFE85DF}"/>
              </a:ext>
            </a:extLst>
          </p:cNvPr>
          <p:cNvSpPr txBox="1"/>
          <p:nvPr/>
        </p:nvSpPr>
        <p:spPr>
          <a:xfrm>
            <a:off x="6606221" y="5055206"/>
            <a:ext cx="2169270" cy="307777"/>
          </a:xfrm>
          <a:prstGeom prst="rect">
            <a:avLst/>
          </a:prstGeom>
          <a:noFill/>
        </p:spPr>
        <p:txBody>
          <a:bodyPr wrap="square" rtlCol="0">
            <a:spAutoFit/>
          </a:bodyPr>
          <a:lstStyle/>
          <a:p>
            <a:pPr algn="ctr"/>
            <a:r>
              <a:rPr lang="es-CR" sz="1400" b="1" dirty="0">
                <a:solidFill>
                  <a:schemeClr val="bg1"/>
                </a:solidFill>
                <a:latin typeface="Arial" panose="020B0604020202020204" pitchFamily="34" charset="0"/>
                <a:cs typeface="Arial" panose="020B0604020202020204" pitchFamily="34" charset="0"/>
              </a:rPr>
              <a:t>IIIIHHHHJJJJIII</a:t>
            </a:r>
            <a:endParaRPr lang="ko-KR" altLang="en-US" sz="1400" b="1" dirty="0">
              <a:solidFill>
                <a:schemeClr val="bg1"/>
              </a:solidFill>
              <a:latin typeface="Arial" panose="020B0604020202020204" pitchFamily="34" charset="0"/>
              <a:cs typeface="Arial" panose="020B0604020202020204" pitchFamily="34" charset="0"/>
            </a:endParaRPr>
          </a:p>
        </p:txBody>
      </p:sp>
      <p:grpSp>
        <p:nvGrpSpPr>
          <p:cNvPr id="14" name="Group 18">
            <a:extLst>
              <a:ext uri="{FF2B5EF4-FFF2-40B4-BE49-F238E27FC236}">
                <a16:creationId xmlns:a16="http://schemas.microsoft.com/office/drawing/2014/main" id="{4320FB63-9F7F-4B7D-A65E-AB11072BD111}"/>
              </a:ext>
            </a:extLst>
          </p:cNvPr>
          <p:cNvGrpSpPr/>
          <p:nvPr/>
        </p:nvGrpSpPr>
        <p:grpSpPr>
          <a:xfrm>
            <a:off x="2403876" y="2502523"/>
            <a:ext cx="2680145" cy="564201"/>
            <a:chOff x="817123" y="2128296"/>
            <a:chExt cx="2680145" cy="564201"/>
          </a:xfrm>
        </p:grpSpPr>
        <p:sp>
          <p:nvSpPr>
            <p:cNvPr id="15" name="Oval 14">
              <a:extLst>
                <a:ext uri="{FF2B5EF4-FFF2-40B4-BE49-F238E27FC236}">
                  <a16:creationId xmlns:a16="http://schemas.microsoft.com/office/drawing/2014/main" id="{3A839D38-F177-49A4-99A1-0C8A90B96E7D}"/>
                </a:ext>
              </a:extLst>
            </p:cNvPr>
            <p:cNvSpPr/>
            <p:nvPr/>
          </p:nvSpPr>
          <p:spPr>
            <a:xfrm>
              <a:off x="817123" y="2128296"/>
              <a:ext cx="564201" cy="5642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Arrow: Pentagon 15">
              <a:extLst>
                <a:ext uri="{FF2B5EF4-FFF2-40B4-BE49-F238E27FC236}">
                  <a16:creationId xmlns:a16="http://schemas.microsoft.com/office/drawing/2014/main" id="{4248D061-AFA3-4691-B40B-20C218572E96}"/>
                </a:ext>
              </a:extLst>
            </p:cNvPr>
            <p:cNvSpPr/>
            <p:nvPr/>
          </p:nvSpPr>
          <p:spPr>
            <a:xfrm>
              <a:off x="1619472" y="2128296"/>
              <a:ext cx="1877796" cy="56420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F4E926DD-F1CF-463B-A994-63B837CA3409}"/>
                </a:ext>
              </a:extLst>
            </p:cNvPr>
            <p:cNvSpPr txBox="1"/>
            <p:nvPr/>
          </p:nvSpPr>
          <p:spPr>
            <a:xfrm>
              <a:off x="1692613" y="2256508"/>
              <a:ext cx="1527242" cy="307777"/>
            </a:xfrm>
            <a:prstGeom prst="rect">
              <a:avLst/>
            </a:prstGeom>
            <a:noFill/>
          </p:spPr>
          <p:txBody>
            <a:bodyPr wrap="square" rtlCol="0">
              <a:spAutoFit/>
            </a:bodyPr>
            <a:lstStyle/>
            <a:p>
              <a:pPr algn="ctr"/>
              <a:r>
                <a:rPr lang="en-US" altLang="ko-KR" sz="1400" b="1" dirty="0">
                  <a:solidFill>
                    <a:schemeClr val="bg1"/>
                  </a:solidFill>
                  <a:cs typeface="Arial" pitchFamily="34" charset="0"/>
                </a:rPr>
                <a:t>Identifier</a:t>
              </a:r>
              <a:endParaRPr lang="ko-KR" altLang="en-US" sz="1400" b="1" dirty="0">
                <a:solidFill>
                  <a:schemeClr val="bg1"/>
                </a:solidFill>
                <a:cs typeface="Arial" pitchFamily="34" charset="0"/>
              </a:endParaRPr>
            </a:p>
          </p:txBody>
        </p:sp>
        <p:sp>
          <p:nvSpPr>
            <p:cNvPr id="18" name="TextBox 17">
              <a:extLst>
                <a:ext uri="{FF2B5EF4-FFF2-40B4-BE49-F238E27FC236}">
                  <a16:creationId xmlns:a16="http://schemas.microsoft.com/office/drawing/2014/main" id="{1ABCFBAD-86C1-4F02-9EF1-CC05A6B5D9AC}"/>
                </a:ext>
              </a:extLst>
            </p:cNvPr>
            <p:cNvSpPr txBox="1"/>
            <p:nvPr/>
          </p:nvSpPr>
          <p:spPr>
            <a:xfrm>
              <a:off x="885393" y="2241119"/>
              <a:ext cx="427659"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01</a:t>
              </a:r>
              <a:endParaRPr lang="ko-KR" altLang="en-US" sz="1600" b="1" dirty="0">
                <a:solidFill>
                  <a:schemeClr val="bg1"/>
                </a:solidFill>
                <a:cs typeface="Arial" pitchFamily="34" charset="0"/>
              </a:endParaRPr>
            </a:p>
          </p:txBody>
        </p:sp>
      </p:grpSp>
      <p:grpSp>
        <p:nvGrpSpPr>
          <p:cNvPr id="19" name="Group 19">
            <a:extLst>
              <a:ext uri="{FF2B5EF4-FFF2-40B4-BE49-F238E27FC236}">
                <a16:creationId xmlns:a16="http://schemas.microsoft.com/office/drawing/2014/main" id="{C1D13202-ABEA-4173-B7A8-4B39616FD18B}"/>
              </a:ext>
            </a:extLst>
          </p:cNvPr>
          <p:cNvGrpSpPr/>
          <p:nvPr/>
        </p:nvGrpSpPr>
        <p:grpSpPr>
          <a:xfrm>
            <a:off x="2403876" y="3310435"/>
            <a:ext cx="2680145" cy="564201"/>
            <a:chOff x="817123" y="2128296"/>
            <a:chExt cx="2680145" cy="564201"/>
          </a:xfrm>
        </p:grpSpPr>
        <p:sp>
          <p:nvSpPr>
            <p:cNvPr id="20" name="Oval 20">
              <a:extLst>
                <a:ext uri="{FF2B5EF4-FFF2-40B4-BE49-F238E27FC236}">
                  <a16:creationId xmlns:a16="http://schemas.microsoft.com/office/drawing/2014/main" id="{1F6482BF-C185-4D81-B1CE-E9F0475E38D2}"/>
                </a:ext>
              </a:extLst>
            </p:cNvPr>
            <p:cNvSpPr/>
            <p:nvPr/>
          </p:nvSpPr>
          <p:spPr>
            <a:xfrm>
              <a:off x="817123" y="2128296"/>
              <a:ext cx="564201" cy="5642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Arrow: Pentagon 21">
              <a:extLst>
                <a:ext uri="{FF2B5EF4-FFF2-40B4-BE49-F238E27FC236}">
                  <a16:creationId xmlns:a16="http://schemas.microsoft.com/office/drawing/2014/main" id="{664B7F64-4DAC-4A2E-8FA0-ACE9AEE90241}"/>
                </a:ext>
              </a:extLst>
            </p:cNvPr>
            <p:cNvSpPr/>
            <p:nvPr/>
          </p:nvSpPr>
          <p:spPr>
            <a:xfrm>
              <a:off x="1619472" y="2128296"/>
              <a:ext cx="1877796" cy="564201"/>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4368B561-C435-45A9-ACCB-DEA5CE4B44FB}"/>
                </a:ext>
              </a:extLst>
            </p:cNvPr>
            <p:cNvSpPr txBox="1"/>
            <p:nvPr/>
          </p:nvSpPr>
          <p:spPr>
            <a:xfrm>
              <a:off x="1692613" y="2256753"/>
              <a:ext cx="1527242" cy="307777"/>
            </a:xfrm>
            <a:prstGeom prst="rect">
              <a:avLst/>
            </a:prstGeom>
            <a:noFill/>
          </p:spPr>
          <p:txBody>
            <a:bodyPr wrap="square" rtlCol="0">
              <a:spAutoFit/>
            </a:bodyPr>
            <a:lstStyle/>
            <a:p>
              <a:pPr algn="ctr"/>
              <a:r>
                <a:rPr lang="en-US" altLang="ko-KR" sz="1400" b="1" dirty="0">
                  <a:solidFill>
                    <a:schemeClr val="bg1"/>
                  </a:solidFill>
                  <a:cs typeface="Arial" pitchFamily="34" charset="0"/>
                </a:rPr>
                <a:t>DNA Sequence</a:t>
              </a:r>
              <a:endParaRPr lang="ko-KR" altLang="en-US" sz="1400" b="1" dirty="0">
                <a:solidFill>
                  <a:schemeClr val="bg1"/>
                </a:solidFill>
                <a:cs typeface="Arial" pitchFamily="34" charset="0"/>
              </a:endParaRPr>
            </a:p>
          </p:txBody>
        </p:sp>
        <p:sp>
          <p:nvSpPr>
            <p:cNvPr id="23" name="TextBox 22">
              <a:extLst>
                <a:ext uri="{FF2B5EF4-FFF2-40B4-BE49-F238E27FC236}">
                  <a16:creationId xmlns:a16="http://schemas.microsoft.com/office/drawing/2014/main" id="{326DEC80-4EDF-43BD-80A3-55B65A91D5B2}"/>
                </a:ext>
              </a:extLst>
            </p:cNvPr>
            <p:cNvSpPr txBox="1"/>
            <p:nvPr/>
          </p:nvSpPr>
          <p:spPr>
            <a:xfrm>
              <a:off x="885393" y="2241119"/>
              <a:ext cx="427659"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02</a:t>
              </a:r>
              <a:endParaRPr lang="ko-KR" altLang="en-US" sz="1600" b="1" dirty="0">
                <a:solidFill>
                  <a:schemeClr val="bg1"/>
                </a:solidFill>
                <a:cs typeface="Arial" pitchFamily="34" charset="0"/>
              </a:endParaRPr>
            </a:p>
          </p:txBody>
        </p:sp>
      </p:grpSp>
      <p:grpSp>
        <p:nvGrpSpPr>
          <p:cNvPr id="24" name="Group 24">
            <a:extLst>
              <a:ext uri="{FF2B5EF4-FFF2-40B4-BE49-F238E27FC236}">
                <a16:creationId xmlns:a16="http://schemas.microsoft.com/office/drawing/2014/main" id="{35D9432E-1D09-4D63-ADCB-20F3DF009A57}"/>
              </a:ext>
            </a:extLst>
          </p:cNvPr>
          <p:cNvGrpSpPr/>
          <p:nvPr/>
        </p:nvGrpSpPr>
        <p:grpSpPr>
          <a:xfrm>
            <a:off x="2403876" y="4118347"/>
            <a:ext cx="2680145" cy="564201"/>
            <a:chOff x="817123" y="2128296"/>
            <a:chExt cx="2680145" cy="564201"/>
          </a:xfrm>
        </p:grpSpPr>
        <p:sp>
          <p:nvSpPr>
            <p:cNvPr id="25" name="Oval 25">
              <a:extLst>
                <a:ext uri="{FF2B5EF4-FFF2-40B4-BE49-F238E27FC236}">
                  <a16:creationId xmlns:a16="http://schemas.microsoft.com/office/drawing/2014/main" id="{717590C8-C9C6-4E82-B936-AA86564D312D}"/>
                </a:ext>
              </a:extLst>
            </p:cNvPr>
            <p:cNvSpPr/>
            <p:nvPr/>
          </p:nvSpPr>
          <p:spPr>
            <a:xfrm>
              <a:off x="817123" y="2128296"/>
              <a:ext cx="564201" cy="5642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Arrow: Pentagon 26">
              <a:extLst>
                <a:ext uri="{FF2B5EF4-FFF2-40B4-BE49-F238E27FC236}">
                  <a16:creationId xmlns:a16="http://schemas.microsoft.com/office/drawing/2014/main" id="{97EE7672-2389-4B3A-9331-0EE583134536}"/>
                </a:ext>
              </a:extLst>
            </p:cNvPr>
            <p:cNvSpPr/>
            <p:nvPr/>
          </p:nvSpPr>
          <p:spPr>
            <a:xfrm>
              <a:off x="1619472" y="2128296"/>
              <a:ext cx="1877796" cy="564201"/>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519A5B6B-1071-4FE4-AB1B-4C52808043E4}"/>
                </a:ext>
              </a:extLst>
            </p:cNvPr>
            <p:cNvSpPr txBox="1"/>
            <p:nvPr/>
          </p:nvSpPr>
          <p:spPr>
            <a:xfrm>
              <a:off x="1692613" y="2256508"/>
              <a:ext cx="1527242" cy="307777"/>
            </a:xfrm>
            <a:prstGeom prst="rect">
              <a:avLst/>
            </a:prstGeom>
            <a:noFill/>
          </p:spPr>
          <p:txBody>
            <a:bodyPr wrap="square" rtlCol="0">
              <a:spAutoFit/>
            </a:bodyPr>
            <a:lstStyle/>
            <a:p>
              <a:pPr algn="ctr"/>
              <a:r>
                <a:rPr lang="en-US" altLang="ko-KR" sz="1400" b="1" dirty="0" err="1">
                  <a:solidFill>
                    <a:schemeClr val="bg1"/>
                  </a:solidFill>
                  <a:cs typeface="Arial" pitchFamily="34" charset="0"/>
                </a:rPr>
                <a:t>Separador</a:t>
              </a:r>
              <a:endParaRPr lang="ko-KR" altLang="en-US" sz="1400" b="1" dirty="0">
                <a:solidFill>
                  <a:schemeClr val="bg1"/>
                </a:solidFill>
                <a:cs typeface="Arial" pitchFamily="34" charset="0"/>
              </a:endParaRPr>
            </a:p>
          </p:txBody>
        </p:sp>
        <p:sp>
          <p:nvSpPr>
            <p:cNvPr id="28" name="TextBox 27">
              <a:extLst>
                <a:ext uri="{FF2B5EF4-FFF2-40B4-BE49-F238E27FC236}">
                  <a16:creationId xmlns:a16="http://schemas.microsoft.com/office/drawing/2014/main" id="{A3EC14DF-A6C5-4697-85E5-A3432F65F91A}"/>
                </a:ext>
              </a:extLst>
            </p:cNvPr>
            <p:cNvSpPr txBox="1"/>
            <p:nvPr/>
          </p:nvSpPr>
          <p:spPr>
            <a:xfrm>
              <a:off x="885393" y="2241119"/>
              <a:ext cx="427659"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03</a:t>
              </a:r>
              <a:endParaRPr lang="ko-KR" altLang="en-US" sz="1600" b="1" dirty="0">
                <a:solidFill>
                  <a:schemeClr val="bg1"/>
                </a:solidFill>
                <a:cs typeface="Arial" pitchFamily="34" charset="0"/>
              </a:endParaRPr>
            </a:p>
          </p:txBody>
        </p:sp>
      </p:grpSp>
      <p:grpSp>
        <p:nvGrpSpPr>
          <p:cNvPr id="29" name="Group 29">
            <a:extLst>
              <a:ext uri="{FF2B5EF4-FFF2-40B4-BE49-F238E27FC236}">
                <a16:creationId xmlns:a16="http://schemas.microsoft.com/office/drawing/2014/main" id="{E2C3CB81-E09A-414F-88DB-5F24BFABD9B8}"/>
              </a:ext>
            </a:extLst>
          </p:cNvPr>
          <p:cNvGrpSpPr/>
          <p:nvPr/>
        </p:nvGrpSpPr>
        <p:grpSpPr>
          <a:xfrm>
            <a:off x="2403876" y="4926259"/>
            <a:ext cx="2680145" cy="564201"/>
            <a:chOff x="817123" y="2128296"/>
            <a:chExt cx="2680145" cy="564201"/>
          </a:xfrm>
        </p:grpSpPr>
        <p:sp>
          <p:nvSpPr>
            <p:cNvPr id="30" name="Oval 30">
              <a:extLst>
                <a:ext uri="{FF2B5EF4-FFF2-40B4-BE49-F238E27FC236}">
                  <a16:creationId xmlns:a16="http://schemas.microsoft.com/office/drawing/2014/main" id="{6B61E470-8284-4AC8-A623-58D46ED4B91D}"/>
                </a:ext>
              </a:extLst>
            </p:cNvPr>
            <p:cNvSpPr/>
            <p:nvPr/>
          </p:nvSpPr>
          <p:spPr>
            <a:xfrm>
              <a:off x="817123" y="2128296"/>
              <a:ext cx="564201" cy="56420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Pentagon 31">
              <a:extLst>
                <a:ext uri="{FF2B5EF4-FFF2-40B4-BE49-F238E27FC236}">
                  <a16:creationId xmlns:a16="http://schemas.microsoft.com/office/drawing/2014/main" id="{E5A9C866-40D8-4D1F-8428-993B86CE7624}"/>
                </a:ext>
              </a:extLst>
            </p:cNvPr>
            <p:cNvSpPr/>
            <p:nvPr/>
          </p:nvSpPr>
          <p:spPr>
            <a:xfrm>
              <a:off x="1619472" y="2128296"/>
              <a:ext cx="1877796" cy="564201"/>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EA53F921-8E3E-45A8-B068-018A75C6D1B7}"/>
                </a:ext>
              </a:extLst>
            </p:cNvPr>
            <p:cNvSpPr txBox="1"/>
            <p:nvPr/>
          </p:nvSpPr>
          <p:spPr>
            <a:xfrm>
              <a:off x="1692613" y="2256508"/>
              <a:ext cx="1527242" cy="307777"/>
            </a:xfrm>
            <a:prstGeom prst="rect">
              <a:avLst/>
            </a:prstGeom>
            <a:noFill/>
          </p:spPr>
          <p:txBody>
            <a:bodyPr wrap="square" rtlCol="0">
              <a:spAutoFit/>
            </a:bodyPr>
            <a:lstStyle/>
            <a:p>
              <a:pPr algn="ctr"/>
              <a:r>
                <a:rPr lang="en-US" altLang="ko-KR" sz="1400" b="1" dirty="0">
                  <a:solidFill>
                    <a:schemeClr val="bg1"/>
                  </a:solidFill>
                  <a:cs typeface="Arial" pitchFamily="34" charset="0"/>
                </a:rPr>
                <a:t>Quality</a:t>
              </a:r>
              <a:endParaRPr lang="ko-KR" altLang="en-US" sz="1400" b="1" dirty="0">
                <a:solidFill>
                  <a:schemeClr val="bg1"/>
                </a:solidFill>
                <a:cs typeface="Arial" pitchFamily="34" charset="0"/>
              </a:endParaRPr>
            </a:p>
          </p:txBody>
        </p:sp>
        <p:sp>
          <p:nvSpPr>
            <p:cNvPr id="33" name="TextBox 32">
              <a:extLst>
                <a:ext uri="{FF2B5EF4-FFF2-40B4-BE49-F238E27FC236}">
                  <a16:creationId xmlns:a16="http://schemas.microsoft.com/office/drawing/2014/main" id="{9DD0CBB0-13A4-4F69-9839-E0FFFA8A4AF2}"/>
                </a:ext>
              </a:extLst>
            </p:cNvPr>
            <p:cNvSpPr txBox="1"/>
            <p:nvPr/>
          </p:nvSpPr>
          <p:spPr>
            <a:xfrm>
              <a:off x="885393" y="2241119"/>
              <a:ext cx="427659"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04</a:t>
              </a:r>
              <a:endParaRPr lang="ko-KR" altLang="en-US" sz="1600" b="1" dirty="0">
                <a:solidFill>
                  <a:schemeClr val="bg1"/>
                </a:solidFill>
                <a:cs typeface="Arial" pitchFamily="34" charset="0"/>
              </a:endParaRPr>
            </a:p>
          </p:txBody>
        </p:sp>
      </p:grpSp>
      <p:grpSp>
        <p:nvGrpSpPr>
          <p:cNvPr id="51" name="Group 51">
            <a:extLst>
              <a:ext uri="{FF2B5EF4-FFF2-40B4-BE49-F238E27FC236}">
                <a16:creationId xmlns:a16="http://schemas.microsoft.com/office/drawing/2014/main" id="{6C3AFB01-6DDB-45F3-9194-81484B6E43C4}"/>
              </a:ext>
            </a:extLst>
          </p:cNvPr>
          <p:cNvGrpSpPr/>
          <p:nvPr/>
        </p:nvGrpSpPr>
        <p:grpSpPr>
          <a:xfrm flipH="1">
            <a:off x="3206225" y="1562377"/>
            <a:ext cx="5989677" cy="584776"/>
            <a:chOff x="4965552" y="1768882"/>
            <a:chExt cx="2583556" cy="584776"/>
          </a:xfrm>
        </p:grpSpPr>
        <p:sp>
          <p:nvSpPr>
            <p:cNvPr id="52" name="TextBox 51">
              <a:extLst>
                <a:ext uri="{FF2B5EF4-FFF2-40B4-BE49-F238E27FC236}">
                  <a16:creationId xmlns:a16="http://schemas.microsoft.com/office/drawing/2014/main" id="{6226776A-A6F0-4812-97D1-6F35CD9E2F87}"/>
                </a:ext>
              </a:extLst>
            </p:cNvPr>
            <p:cNvSpPr txBox="1"/>
            <p:nvPr/>
          </p:nvSpPr>
          <p:spPr>
            <a:xfrm>
              <a:off x="4965552" y="2076659"/>
              <a:ext cx="2583556" cy="276999"/>
            </a:xfrm>
            <a:prstGeom prst="rect">
              <a:avLst/>
            </a:prstGeom>
            <a:noFill/>
          </p:spPr>
          <p:txBody>
            <a:bodyPr wrap="square" rtlCol="0">
              <a:spAutoFit/>
            </a:bodyPr>
            <a:lstStyle/>
            <a:p>
              <a:r>
                <a:rPr lang="en-US" altLang="ko-KR" sz="1200" dirty="0">
                  <a:solidFill>
                    <a:schemeClr val="bg1"/>
                  </a:solidFill>
                  <a:cs typeface="Arial" pitchFamily="34" charset="0"/>
                </a:rPr>
                <a:t>FASTQ Structure:</a:t>
              </a:r>
              <a:endParaRPr lang="ko-KR" altLang="en-US" sz="1200" dirty="0">
                <a:solidFill>
                  <a:schemeClr val="bg1"/>
                </a:solidFill>
                <a:cs typeface="Arial" pitchFamily="34" charset="0"/>
              </a:endParaRPr>
            </a:p>
          </p:txBody>
        </p:sp>
        <p:sp>
          <p:nvSpPr>
            <p:cNvPr id="53" name="TextBox 52">
              <a:extLst>
                <a:ext uri="{FF2B5EF4-FFF2-40B4-BE49-F238E27FC236}">
                  <a16:creationId xmlns:a16="http://schemas.microsoft.com/office/drawing/2014/main" id="{F9BCF3BC-576D-4B78-B9BC-78AAE414F7C4}"/>
                </a:ext>
              </a:extLst>
            </p:cNvPr>
            <p:cNvSpPr txBox="1"/>
            <p:nvPr/>
          </p:nvSpPr>
          <p:spPr>
            <a:xfrm>
              <a:off x="4965552" y="1768882"/>
              <a:ext cx="2583556" cy="307777"/>
            </a:xfrm>
            <a:prstGeom prst="rect">
              <a:avLst/>
            </a:prstGeom>
            <a:noFill/>
          </p:spPr>
          <p:txBody>
            <a:bodyPr wrap="square" rtlCol="0">
              <a:spAutoFit/>
            </a:bodyPr>
            <a:lstStyle/>
            <a:p>
              <a:r>
                <a:rPr lang="es-CR" sz="1400" dirty="0">
                  <a:solidFill>
                    <a:schemeClr val="bg1"/>
                  </a:solidFill>
                </a:rPr>
                <a:t>FASTQ combines </a:t>
              </a:r>
              <a:r>
                <a:rPr lang="es-CR" sz="1400" dirty="0" err="1">
                  <a:solidFill>
                    <a:schemeClr val="bg1"/>
                  </a:solidFill>
                </a:rPr>
                <a:t>sequence</a:t>
              </a:r>
              <a:r>
                <a:rPr lang="es-CR" sz="1400" dirty="0">
                  <a:solidFill>
                    <a:schemeClr val="bg1"/>
                  </a:solidFill>
                </a:rPr>
                <a:t>, </a:t>
              </a:r>
              <a:r>
                <a:rPr lang="es-CR" sz="1400" dirty="0" err="1">
                  <a:solidFill>
                    <a:schemeClr val="bg1"/>
                  </a:solidFill>
                </a:rPr>
                <a:t>identifier</a:t>
              </a:r>
              <a:r>
                <a:rPr lang="es-CR" sz="1400" dirty="0">
                  <a:solidFill>
                    <a:schemeClr val="bg1"/>
                  </a:solidFill>
                </a:rPr>
                <a:t>, and </a:t>
              </a:r>
              <a:r>
                <a:rPr lang="es-CR" sz="1400" dirty="0" err="1">
                  <a:solidFill>
                    <a:schemeClr val="bg1"/>
                  </a:solidFill>
                </a:rPr>
                <a:t>quality</a:t>
              </a:r>
              <a:endParaRPr lang="ko-KR" altLang="en-US" sz="1400" b="1" dirty="0">
                <a:solidFill>
                  <a:schemeClr val="bg1"/>
                </a:solidFill>
                <a:cs typeface="Arial" pitchFamily="34" charset="0"/>
              </a:endParaRPr>
            </a:p>
          </p:txBody>
        </p:sp>
      </p:grpSp>
      <p:sp>
        <p:nvSpPr>
          <p:cNvPr id="54" name="TextBox 51">
            <a:extLst>
              <a:ext uri="{FF2B5EF4-FFF2-40B4-BE49-F238E27FC236}">
                <a16:creationId xmlns:a16="http://schemas.microsoft.com/office/drawing/2014/main" id="{2819B5F1-1740-2213-7613-3ED587447A6D}"/>
              </a:ext>
            </a:extLst>
          </p:cNvPr>
          <p:cNvSpPr txBox="1"/>
          <p:nvPr/>
        </p:nvSpPr>
        <p:spPr>
          <a:xfrm flipH="1">
            <a:off x="3279366" y="6252637"/>
            <a:ext cx="6389573" cy="307777"/>
          </a:xfrm>
          <a:prstGeom prst="rect">
            <a:avLst/>
          </a:prstGeom>
          <a:noFill/>
        </p:spPr>
        <p:txBody>
          <a:bodyPr wrap="square" rtlCol="0">
            <a:spAutoFit/>
          </a:bodyPr>
          <a:lstStyle/>
          <a:p>
            <a:r>
              <a:rPr lang="en-US" sz="1400" b="1" dirty="0">
                <a:solidFill>
                  <a:schemeClr val="bg1"/>
                </a:solidFill>
              </a:rPr>
              <a:t>Key note:</a:t>
            </a:r>
            <a:r>
              <a:rPr lang="en-US" sz="1400" dirty="0">
                <a:solidFill>
                  <a:schemeClr val="bg1"/>
                </a:solidFill>
              </a:rPr>
              <a:t> Compression value is concentrated in the sequence.</a:t>
            </a:r>
            <a:endParaRPr lang="ko-KR" altLang="en-US" sz="1400" dirty="0">
              <a:solidFill>
                <a:schemeClr val="bg1"/>
              </a:solidFill>
              <a:cs typeface="Arial" pitchFamily="34" charset="0"/>
            </a:endParaRPr>
          </a:p>
        </p:txBody>
      </p:sp>
    </p:spTree>
    <p:extLst>
      <p:ext uri="{BB962C8B-B14F-4D97-AF65-F5344CB8AC3E}">
        <p14:creationId xmlns:p14="http://schemas.microsoft.com/office/powerpoint/2010/main" val="1560353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s-CR" dirty="0"/>
              <a:t>Core Idea</a:t>
            </a:r>
            <a:endParaRPr lang="en-US" dirty="0"/>
          </a:p>
        </p:txBody>
      </p:sp>
      <p:graphicFrame>
        <p:nvGraphicFramePr>
          <p:cNvPr id="3" name="Chart 1">
            <a:extLst>
              <a:ext uri="{FF2B5EF4-FFF2-40B4-BE49-F238E27FC236}">
                <a16:creationId xmlns:a16="http://schemas.microsoft.com/office/drawing/2014/main" id="{EF8E92BE-98B3-4F3F-BC58-32CCE3C82112}"/>
              </a:ext>
            </a:extLst>
          </p:cNvPr>
          <p:cNvGraphicFramePr/>
          <p:nvPr>
            <p:extLst>
              <p:ext uri="{D42A27DB-BD31-4B8C-83A1-F6EECF244321}">
                <p14:modId xmlns:p14="http://schemas.microsoft.com/office/powerpoint/2010/main" val="53556704"/>
              </p:ext>
            </p:extLst>
          </p:nvPr>
        </p:nvGraphicFramePr>
        <p:xfrm>
          <a:off x="935595" y="2345857"/>
          <a:ext cx="1879176" cy="1879176"/>
        </p:xfrm>
        <a:graphic>
          <a:graphicData uri="http://schemas.openxmlformats.org/drawingml/2006/chart">
            <c:chart xmlns:c="http://schemas.openxmlformats.org/drawingml/2006/chart" xmlns:r="http://schemas.openxmlformats.org/officeDocument/2006/relationships" r:id="rId3"/>
          </a:graphicData>
        </a:graphic>
      </p:graphicFrame>
      <p:sp>
        <p:nvSpPr>
          <p:cNvPr id="5" name="Flowchart: Extract 2">
            <a:extLst>
              <a:ext uri="{FF2B5EF4-FFF2-40B4-BE49-F238E27FC236}">
                <a16:creationId xmlns:a16="http://schemas.microsoft.com/office/drawing/2014/main" id="{675E10D2-DD23-49A3-9EEA-D19BD579A91C}"/>
              </a:ext>
            </a:extLst>
          </p:cNvPr>
          <p:cNvSpPr/>
          <p:nvPr/>
        </p:nvSpPr>
        <p:spPr>
          <a:xfrm rot="10800000">
            <a:off x="1750031" y="4295369"/>
            <a:ext cx="250304" cy="250304"/>
          </a:xfrm>
          <a:prstGeom prst="flowChartExtra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6" name="TextBox 5">
            <a:extLst>
              <a:ext uri="{FF2B5EF4-FFF2-40B4-BE49-F238E27FC236}">
                <a16:creationId xmlns:a16="http://schemas.microsoft.com/office/drawing/2014/main" id="{A0177DC6-C62A-4291-AFD7-7D32DA92CB65}"/>
              </a:ext>
            </a:extLst>
          </p:cNvPr>
          <p:cNvSpPr txBox="1"/>
          <p:nvPr/>
        </p:nvSpPr>
        <p:spPr>
          <a:xfrm>
            <a:off x="921183" y="4759295"/>
            <a:ext cx="1908000" cy="215444"/>
          </a:xfrm>
          <a:prstGeom prst="rect">
            <a:avLst/>
          </a:prstGeom>
          <a:noFill/>
        </p:spPr>
        <p:txBody>
          <a:bodyPr wrap="square" lIns="0" tIns="0" rIns="0" bIns="0" rtlCol="0">
            <a:spAutoFit/>
          </a:bodyPr>
          <a:lstStyle/>
          <a:p>
            <a:pPr algn="ctr"/>
            <a:r>
              <a:rPr lang="en-US" altLang="ko-KR" sz="1400" b="1" dirty="0">
                <a:solidFill>
                  <a:schemeClr val="accent4"/>
                </a:solidFill>
                <a:latin typeface="Arial" panose="020B0604020202020204" pitchFamily="34" charset="0"/>
                <a:cs typeface="Arial" panose="020B0604020202020204" pitchFamily="34" charset="0"/>
              </a:rPr>
              <a:t>Pattern Detection</a:t>
            </a:r>
            <a:endParaRPr lang="ko-KR" altLang="en-US" sz="1400" b="1" dirty="0">
              <a:solidFill>
                <a:schemeClr val="accent4"/>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9C6286E-8871-4540-9DC0-BE6AB93FD984}"/>
              </a:ext>
            </a:extLst>
          </p:cNvPr>
          <p:cNvSpPr txBox="1"/>
          <p:nvPr/>
        </p:nvSpPr>
        <p:spPr>
          <a:xfrm>
            <a:off x="921183" y="5159466"/>
            <a:ext cx="1908000" cy="646331"/>
          </a:xfrm>
          <a:prstGeom prst="rect">
            <a:avLst/>
          </a:prstGeom>
          <a:noFill/>
        </p:spPr>
        <p:txBody>
          <a:bodyPr wrap="square" lIns="0" tIns="0" rIns="0" bIns="0" rtlCol="0">
            <a:spAutoFit/>
          </a:bodyPr>
          <a:lstStyle/>
          <a:p>
            <a:pPr algn="ctr"/>
            <a:r>
              <a:rPr lang="en-US" sz="1400" dirty="0">
                <a:solidFill>
                  <a:schemeClr val="bg1"/>
                </a:solidFill>
                <a:latin typeface="Arial" panose="020B0604020202020204" pitchFamily="34" charset="0"/>
                <a:cs typeface="Arial" panose="020B0604020202020204" pitchFamily="34" charset="0"/>
              </a:rPr>
              <a:t>Identify repetitive DNA patterns within sequences.</a:t>
            </a:r>
            <a:endParaRPr lang="en-US" altLang="ko-KR" sz="1400" dirty="0">
              <a:solidFill>
                <a:schemeClr val="bg1"/>
              </a:solidFill>
              <a:latin typeface="Arial" panose="020B0604020202020204" pitchFamily="34" charset="0"/>
              <a:cs typeface="Arial" panose="020B0604020202020204" pitchFamily="34" charset="0"/>
            </a:endParaRPr>
          </a:p>
        </p:txBody>
      </p:sp>
      <p:graphicFrame>
        <p:nvGraphicFramePr>
          <p:cNvPr id="11" name="Chart 1">
            <a:extLst>
              <a:ext uri="{FF2B5EF4-FFF2-40B4-BE49-F238E27FC236}">
                <a16:creationId xmlns:a16="http://schemas.microsoft.com/office/drawing/2014/main" id="{32B3C9CE-58BD-4ABD-BA39-7942C3A304EB}"/>
              </a:ext>
            </a:extLst>
          </p:cNvPr>
          <p:cNvGraphicFramePr/>
          <p:nvPr/>
        </p:nvGraphicFramePr>
        <p:xfrm>
          <a:off x="3641145" y="2345857"/>
          <a:ext cx="1879176" cy="1879176"/>
        </p:xfrm>
        <a:graphic>
          <a:graphicData uri="http://schemas.openxmlformats.org/drawingml/2006/chart">
            <c:chart xmlns:c="http://schemas.openxmlformats.org/drawingml/2006/chart" xmlns:r="http://schemas.openxmlformats.org/officeDocument/2006/relationships" r:id="rId4"/>
          </a:graphicData>
        </a:graphic>
      </p:graphicFrame>
      <p:sp>
        <p:nvSpPr>
          <p:cNvPr id="13" name="Flowchart: Extract 2">
            <a:extLst>
              <a:ext uri="{FF2B5EF4-FFF2-40B4-BE49-F238E27FC236}">
                <a16:creationId xmlns:a16="http://schemas.microsoft.com/office/drawing/2014/main" id="{2F5C6E7F-34E1-4EF4-ACE5-84A47BA349FB}"/>
              </a:ext>
            </a:extLst>
          </p:cNvPr>
          <p:cNvSpPr/>
          <p:nvPr/>
        </p:nvSpPr>
        <p:spPr>
          <a:xfrm rot="10800000">
            <a:off x="4455582" y="4295369"/>
            <a:ext cx="250304" cy="250304"/>
          </a:xfrm>
          <a:prstGeom prst="flowChartExtra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14" name="TextBox 13">
            <a:extLst>
              <a:ext uri="{FF2B5EF4-FFF2-40B4-BE49-F238E27FC236}">
                <a16:creationId xmlns:a16="http://schemas.microsoft.com/office/drawing/2014/main" id="{C165F58A-F90E-425E-A71B-30CB1339D5F5}"/>
              </a:ext>
            </a:extLst>
          </p:cNvPr>
          <p:cNvSpPr txBox="1"/>
          <p:nvPr/>
        </p:nvSpPr>
        <p:spPr>
          <a:xfrm>
            <a:off x="3626733" y="4759295"/>
            <a:ext cx="1908000" cy="215444"/>
          </a:xfrm>
          <a:prstGeom prst="rect">
            <a:avLst/>
          </a:prstGeom>
          <a:noFill/>
        </p:spPr>
        <p:txBody>
          <a:bodyPr wrap="square" lIns="0" tIns="0" rIns="0" bIns="0" rtlCol="0">
            <a:spAutoFit/>
          </a:bodyPr>
          <a:lstStyle/>
          <a:p>
            <a:pPr algn="ctr"/>
            <a:r>
              <a:rPr lang="en-US" altLang="ko-KR" sz="1400" b="1" dirty="0">
                <a:solidFill>
                  <a:schemeClr val="accent3"/>
                </a:solidFill>
                <a:latin typeface="Arial" panose="020B0604020202020204" pitchFamily="34" charset="0"/>
                <a:cs typeface="Arial" panose="020B0604020202020204" pitchFamily="34" charset="0"/>
              </a:rPr>
              <a:t>Token Replacement</a:t>
            </a:r>
            <a:endParaRPr lang="ko-KR" altLang="en-US" sz="1400" b="1" dirty="0">
              <a:solidFill>
                <a:schemeClr val="accent3"/>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913F455-FD4A-4D52-B020-7432ECB6F60E}"/>
              </a:ext>
            </a:extLst>
          </p:cNvPr>
          <p:cNvSpPr txBox="1"/>
          <p:nvPr/>
        </p:nvSpPr>
        <p:spPr>
          <a:xfrm>
            <a:off x="3626733" y="5159466"/>
            <a:ext cx="1908000" cy="646331"/>
          </a:xfrm>
          <a:prstGeom prst="rect">
            <a:avLst/>
          </a:prstGeom>
          <a:noFill/>
        </p:spPr>
        <p:txBody>
          <a:bodyPr wrap="square" lIns="0" tIns="0" rIns="0" bIns="0" rtlCol="0">
            <a:spAutoFit/>
          </a:bodyPr>
          <a:lstStyle/>
          <a:p>
            <a:pPr algn="ctr"/>
            <a:r>
              <a:rPr lang="es-MX" altLang="ko-KR" sz="1400" dirty="0" err="1">
                <a:solidFill>
                  <a:schemeClr val="bg1"/>
                </a:solidFill>
                <a:latin typeface="Arial" panose="020B0604020202020204" pitchFamily="34" charset="0"/>
                <a:cs typeface="Arial" panose="020B0604020202020204" pitchFamily="34" charset="0"/>
              </a:rPr>
              <a:t>Replace</a:t>
            </a:r>
            <a:r>
              <a:rPr lang="es-MX" altLang="ko-KR" sz="1400" dirty="0">
                <a:solidFill>
                  <a:schemeClr val="bg1"/>
                </a:solidFill>
                <a:latin typeface="Arial" panose="020B0604020202020204" pitchFamily="34" charset="0"/>
                <a:cs typeface="Arial" panose="020B0604020202020204" pitchFamily="34" charset="0"/>
              </a:rPr>
              <a:t> </a:t>
            </a:r>
            <a:r>
              <a:rPr lang="es-MX" altLang="ko-KR" sz="1400" dirty="0" err="1">
                <a:solidFill>
                  <a:schemeClr val="bg1"/>
                </a:solidFill>
                <a:latin typeface="Arial" panose="020B0604020202020204" pitchFamily="34" charset="0"/>
                <a:cs typeface="Arial" panose="020B0604020202020204" pitchFamily="34" charset="0"/>
              </a:rPr>
              <a:t>detected</a:t>
            </a:r>
            <a:r>
              <a:rPr lang="es-MX" altLang="ko-KR" sz="1400" dirty="0">
                <a:solidFill>
                  <a:schemeClr val="bg1"/>
                </a:solidFill>
                <a:latin typeface="Arial" panose="020B0604020202020204" pitchFamily="34" charset="0"/>
                <a:cs typeface="Arial" panose="020B0604020202020204" pitchFamily="34" charset="0"/>
              </a:rPr>
              <a:t> </a:t>
            </a:r>
            <a:r>
              <a:rPr lang="es-MX" altLang="ko-KR" sz="1400" dirty="0" err="1">
                <a:solidFill>
                  <a:schemeClr val="bg1"/>
                </a:solidFill>
                <a:latin typeface="Arial" panose="020B0604020202020204" pitchFamily="34" charset="0"/>
                <a:cs typeface="Arial" panose="020B0604020202020204" pitchFamily="34" charset="0"/>
              </a:rPr>
              <a:t>patterns</a:t>
            </a:r>
            <a:r>
              <a:rPr lang="es-MX" altLang="ko-KR" sz="1400" dirty="0">
                <a:solidFill>
                  <a:schemeClr val="bg1"/>
                </a:solidFill>
                <a:latin typeface="Arial" panose="020B0604020202020204" pitchFamily="34" charset="0"/>
                <a:cs typeface="Arial" panose="020B0604020202020204" pitchFamily="34" charset="0"/>
              </a:rPr>
              <a:t> </a:t>
            </a:r>
            <a:r>
              <a:rPr lang="es-MX" altLang="ko-KR" sz="1400" dirty="0" err="1">
                <a:solidFill>
                  <a:schemeClr val="bg1"/>
                </a:solidFill>
                <a:latin typeface="Arial" panose="020B0604020202020204" pitchFamily="34" charset="0"/>
                <a:cs typeface="Arial" panose="020B0604020202020204" pitchFamily="34" charset="0"/>
              </a:rPr>
              <a:t>with</a:t>
            </a:r>
            <a:r>
              <a:rPr lang="es-MX" altLang="ko-KR" sz="1400" dirty="0">
                <a:solidFill>
                  <a:schemeClr val="bg1"/>
                </a:solidFill>
                <a:latin typeface="Arial" panose="020B0604020202020204" pitchFamily="34" charset="0"/>
                <a:cs typeface="Arial" panose="020B0604020202020204" pitchFamily="34" charset="0"/>
              </a:rPr>
              <a:t> </a:t>
            </a:r>
            <a:r>
              <a:rPr lang="es-MX" altLang="ko-KR" sz="1400" dirty="0" err="1">
                <a:solidFill>
                  <a:schemeClr val="bg1"/>
                </a:solidFill>
                <a:latin typeface="Arial" panose="020B0604020202020204" pitchFamily="34" charset="0"/>
                <a:cs typeface="Arial" panose="020B0604020202020204" pitchFamily="34" charset="0"/>
              </a:rPr>
              <a:t>shorter</a:t>
            </a:r>
            <a:r>
              <a:rPr lang="es-MX" altLang="ko-KR" sz="1400" dirty="0">
                <a:solidFill>
                  <a:schemeClr val="bg1"/>
                </a:solidFill>
                <a:latin typeface="Arial" panose="020B0604020202020204" pitchFamily="34" charset="0"/>
                <a:cs typeface="Arial" panose="020B0604020202020204" pitchFamily="34" charset="0"/>
              </a:rPr>
              <a:t> tokens</a:t>
            </a:r>
            <a:endParaRPr lang="en-US" altLang="ko-KR" sz="1400" dirty="0">
              <a:solidFill>
                <a:schemeClr val="bg1"/>
              </a:solidFill>
              <a:latin typeface="Arial" panose="020B0604020202020204" pitchFamily="34" charset="0"/>
              <a:cs typeface="Arial" panose="020B0604020202020204" pitchFamily="34" charset="0"/>
            </a:endParaRPr>
          </a:p>
        </p:txBody>
      </p:sp>
      <p:graphicFrame>
        <p:nvGraphicFramePr>
          <p:cNvPr id="19" name="Chart 1">
            <a:extLst>
              <a:ext uri="{FF2B5EF4-FFF2-40B4-BE49-F238E27FC236}">
                <a16:creationId xmlns:a16="http://schemas.microsoft.com/office/drawing/2014/main" id="{8F1A428C-5806-404C-BFD5-E79163D6E0E0}"/>
              </a:ext>
            </a:extLst>
          </p:cNvPr>
          <p:cNvGraphicFramePr/>
          <p:nvPr/>
        </p:nvGraphicFramePr>
        <p:xfrm>
          <a:off x="6346695" y="2345857"/>
          <a:ext cx="1879176" cy="1879176"/>
        </p:xfrm>
        <a:graphic>
          <a:graphicData uri="http://schemas.openxmlformats.org/drawingml/2006/chart">
            <c:chart xmlns:c="http://schemas.openxmlformats.org/drawingml/2006/chart" xmlns:r="http://schemas.openxmlformats.org/officeDocument/2006/relationships" r:id="rId5"/>
          </a:graphicData>
        </a:graphic>
      </p:graphicFrame>
      <p:sp>
        <p:nvSpPr>
          <p:cNvPr id="21" name="Flowchart: Extract 37">
            <a:extLst>
              <a:ext uri="{FF2B5EF4-FFF2-40B4-BE49-F238E27FC236}">
                <a16:creationId xmlns:a16="http://schemas.microsoft.com/office/drawing/2014/main" id="{44A9C564-BEB4-4677-B80F-6BADAD337DAB}"/>
              </a:ext>
            </a:extLst>
          </p:cNvPr>
          <p:cNvSpPr/>
          <p:nvPr/>
        </p:nvSpPr>
        <p:spPr>
          <a:xfrm rot="10800000">
            <a:off x="7161132" y="4295369"/>
            <a:ext cx="250304" cy="250304"/>
          </a:xfrm>
          <a:prstGeom prst="flowChartExtra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22" name="TextBox 21">
            <a:extLst>
              <a:ext uri="{FF2B5EF4-FFF2-40B4-BE49-F238E27FC236}">
                <a16:creationId xmlns:a16="http://schemas.microsoft.com/office/drawing/2014/main" id="{6185FE33-DF3C-44C1-9F12-097434DC0279}"/>
              </a:ext>
            </a:extLst>
          </p:cNvPr>
          <p:cNvSpPr txBox="1"/>
          <p:nvPr/>
        </p:nvSpPr>
        <p:spPr>
          <a:xfrm>
            <a:off x="6332283" y="4759295"/>
            <a:ext cx="1908000" cy="215444"/>
          </a:xfrm>
          <a:prstGeom prst="rect">
            <a:avLst/>
          </a:prstGeom>
          <a:noFill/>
        </p:spPr>
        <p:txBody>
          <a:bodyPr wrap="square" lIns="0" tIns="0" rIns="0" bIns="0" rtlCol="0">
            <a:spAutoFit/>
          </a:bodyPr>
          <a:lstStyle/>
          <a:p>
            <a:pPr algn="ctr"/>
            <a:r>
              <a:rPr lang="es-MX" altLang="ko-KR" sz="1400" b="1" dirty="0" err="1">
                <a:solidFill>
                  <a:schemeClr val="accent2"/>
                </a:solidFill>
                <a:latin typeface="Arial" panose="020B0604020202020204" pitchFamily="34" charset="0"/>
                <a:cs typeface="Arial" panose="020B0604020202020204" pitchFamily="34" charset="0"/>
              </a:rPr>
              <a:t>Dictionary</a:t>
            </a:r>
            <a:r>
              <a:rPr lang="es-MX" altLang="ko-KR" sz="1400" b="1" dirty="0">
                <a:solidFill>
                  <a:schemeClr val="accent2"/>
                </a:solidFill>
                <a:latin typeface="Arial" panose="020B0604020202020204" pitchFamily="34" charset="0"/>
                <a:cs typeface="Arial" panose="020B0604020202020204" pitchFamily="34" charset="0"/>
              </a:rPr>
              <a:t> Storage</a:t>
            </a:r>
            <a:endParaRPr lang="ko-KR" altLang="en-US" sz="1400" b="1" dirty="0">
              <a:solidFill>
                <a:schemeClr val="accent2"/>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48302CBC-6CDA-46B9-8705-2E87B1F53397}"/>
              </a:ext>
            </a:extLst>
          </p:cNvPr>
          <p:cNvSpPr txBox="1"/>
          <p:nvPr/>
        </p:nvSpPr>
        <p:spPr>
          <a:xfrm>
            <a:off x="6332283" y="5159466"/>
            <a:ext cx="1908000" cy="646331"/>
          </a:xfrm>
          <a:prstGeom prst="rect">
            <a:avLst/>
          </a:prstGeom>
          <a:noFill/>
        </p:spPr>
        <p:txBody>
          <a:bodyPr wrap="square" lIns="0" tIns="0" rIns="0" bIns="0" rtlCol="0">
            <a:spAutoFit/>
          </a:bodyPr>
          <a:lstStyle/>
          <a:p>
            <a:pPr algn="ctr"/>
            <a:r>
              <a:rPr lang="en-US" altLang="ko-KR" sz="1400" dirty="0">
                <a:solidFill>
                  <a:schemeClr val="bg1"/>
                </a:solidFill>
                <a:latin typeface="Arial" panose="020B0604020202020204" pitchFamily="34" charset="0"/>
                <a:cs typeface="Arial" panose="020B0604020202020204" pitchFamily="34" charset="0"/>
              </a:rPr>
              <a:t>Store patterns in a structured and reusable dictionary</a:t>
            </a:r>
          </a:p>
        </p:txBody>
      </p:sp>
      <p:graphicFrame>
        <p:nvGraphicFramePr>
          <p:cNvPr id="27" name="Chart 1">
            <a:extLst>
              <a:ext uri="{FF2B5EF4-FFF2-40B4-BE49-F238E27FC236}">
                <a16:creationId xmlns:a16="http://schemas.microsoft.com/office/drawing/2014/main" id="{D90A0B1B-807B-46FA-93D8-0C0659A5055D}"/>
              </a:ext>
            </a:extLst>
          </p:cNvPr>
          <p:cNvGraphicFramePr/>
          <p:nvPr/>
        </p:nvGraphicFramePr>
        <p:xfrm>
          <a:off x="9019759" y="2345857"/>
          <a:ext cx="1879176" cy="1879176"/>
        </p:xfrm>
        <a:graphic>
          <a:graphicData uri="http://schemas.openxmlformats.org/drawingml/2006/chart">
            <c:chart xmlns:c="http://schemas.openxmlformats.org/drawingml/2006/chart" xmlns:r="http://schemas.openxmlformats.org/officeDocument/2006/relationships" r:id="rId6"/>
          </a:graphicData>
        </a:graphic>
      </p:graphicFrame>
      <p:sp>
        <p:nvSpPr>
          <p:cNvPr id="29" name="Flowchart: Extract 38">
            <a:extLst>
              <a:ext uri="{FF2B5EF4-FFF2-40B4-BE49-F238E27FC236}">
                <a16:creationId xmlns:a16="http://schemas.microsoft.com/office/drawing/2014/main" id="{17FE38D6-3240-4D5A-84E1-72E27717C149}"/>
              </a:ext>
            </a:extLst>
          </p:cNvPr>
          <p:cNvSpPr/>
          <p:nvPr/>
        </p:nvSpPr>
        <p:spPr>
          <a:xfrm rot="10800000">
            <a:off x="9834195" y="4295369"/>
            <a:ext cx="250304" cy="250304"/>
          </a:xfrm>
          <a:prstGeom prst="flowChartExtra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0" name="TextBox 29">
            <a:extLst>
              <a:ext uri="{FF2B5EF4-FFF2-40B4-BE49-F238E27FC236}">
                <a16:creationId xmlns:a16="http://schemas.microsoft.com/office/drawing/2014/main" id="{60199511-FA06-4856-AE74-E6E2F8F4C9EE}"/>
              </a:ext>
            </a:extLst>
          </p:cNvPr>
          <p:cNvSpPr txBox="1"/>
          <p:nvPr/>
        </p:nvSpPr>
        <p:spPr>
          <a:xfrm>
            <a:off x="9005347" y="4759295"/>
            <a:ext cx="1908000" cy="430887"/>
          </a:xfrm>
          <a:prstGeom prst="rect">
            <a:avLst/>
          </a:prstGeom>
          <a:noFill/>
        </p:spPr>
        <p:txBody>
          <a:bodyPr wrap="square" lIns="0" tIns="0" rIns="0" bIns="0" rtlCol="0">
            <a:spAutoFit/>
          </a:bodyPr>
          <a:lstStyle/>
          <a:p>
            <a:pPr algn="ctr"/>
            <a:r>
              <a:rPr lang="en-US" altLang="ko-KR" sz="1400" b="1" dirty="0">
                <a:solidFill>
                  <a:schemeClr val="accent1"/>
                </a:solidFill>
                <a:latin typeface="Arial" panose="020B0604020202020204" pitchFamily="34" charset="0"/>
                <a:cs typeface="Arial" panose="020B0604020202020204" pitchFamily="34" charset="0"/>
              </a:rPr>
              <a:t>Reversible Compression</a:t>
            </a:r>
            <a:endParaRPr lang="ko-KR" altLang="en-US" sz="1400" b="1" dirty="0">
              <a:solidFill>
                <a:schemeClr val="accent1"/>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FB4A01BC-16B8-4BAE-A1E8-DB896DA9D3B7}"/>
              </a:ext>
            </a:extLst>
          </p:cNvPr>
          <p:cNvSpPr txBox="1"/>
          <p:nvPr/>
        </p:nvSpPr>
        <p:spPr>
          <a:xfrm>
            <a:off x="9005347" y="5159466"/>
            <a:ext cx="1908000" cy="646331"/>
          </a:xfrm>
          <a:prstGeom prst="rect">
            <a:avLst/>
          </a:prstGeom>
          <a:noFill/>
        </p:spPr>
        <p:txBody>
          <a:bodyPr wrap="square" lIns="0" tIns="0" rIns="0" bIns="0" rtlCol="0">
            <a:spAutoFit/>
          </a:bodyPr>
          <a:lstStyle/>
          <a:p>
            <a:pPr algn="ctr"/>
            <a:r>
              <a:rPr lang="es-MX" altLang="ko-KR" sz="1400" dirty="0" err="1">
                <a:solidFill>
                  <a:schemeClr val="bg1"/>
                </a:solidFill>
                <a:latin typeface="Arial" panose="020B0604020202020204" pitchFamily="34" charset="0"/>
                <a:cs typeface="Arial" panose="020B0604020202020204" pitchFamily="34" charset="0"/>
              </a:rPr>
              <a:t>Ensure</a:t>
            </a:r>
            <a:r>
              <a:rPr lang="es-MX" altLang="ko-KR" sz="1400" dirty="0">
                <a:solidFill>
                  <a:schemeClr val="bg1"/>
                </a:solidFill>
                <a:latin typeface="Arial" panose="020B0604020202020204" pitchFamily="34" charset="0"/>
                <a:cs typeface="Arial" panose="020B0604020202020204" pitchFamily="34" charset="0"/>
              </a:rPr>
              <a:t> full </a:t>
            </a:r>
            <a:r>
              <a:rPr lang="es-MX" altLang="ko-KR" sz="1400" dirty="0" err="1">
                <a:solidFill>
                  <a:schemeClr val="bg1"/>
                </a:solidFill>
                <a:latin typeface="Arial" panose="020B0604020202020204" pitchFamily="34" charset="0"/>
                <a:cs typeface="Arial" panose="020B0604020202020204" pitchFamily="34" charset="0"/>
              </a:rPr>
              <a:t>reconstruction</a:t>
            </a:r>
            <a:r>
              <a:rPr lang="es-MX" altLang="ko-KR" sz="1400" dirty="0">
                <a:solidFill>
                  <a:schemeClr val="bg1"/>
                </a:solidFill>
                <a:latin typeface="Arial" panose="020B0604020202020204" pitchFamily="34" charset="0"/>
                <a:cs typeface="Arial" panose="020B0604020202020204" pitchFamily="34" charset="0"/>
              </a:rPr>
              <a:t> </a:t>
            </a:r>
            <a:r>
              <a:rPr lang="es-MX" altLang="ko-KR" sz="1400" dirty="0" err="1">
                <a:solidFill>
                  <a:schemeClr val="bg1"/>
                </a:solidFill>
                <a:latin typeface="Arial" panose="020B0604020202020204" pitchFamily="34" charset="0"/>
                <a:cs typeface="Arial" panose="020B0604020202020204" pitchFamily="34" charset="0"/>
              </a:rPr>
              <a:t>of</a:t>
            </a:r>
            <a:r>
              <a:rPr lang="es-MX" altLang="ko-KR" sz="1400" dirty="0">
                <a:solidFill>
                  <a:schemeClr val="bg1"/>
                </a:solidFill>
                <a:latin typeface="Arial" panose="020B0604020202020204" pitchFamily="34" charset="0"/>
                <a:cs typeface="Arial" panose="020B0604020202020204" pitchFamily="34" charset="0"/>
              </a:rPr>
              <a:t> </a:t>
            </a:r>
            <a:r>
              <a:rPr lang="es-MX" altLang="ko-KR" sz="1400" dirty="0" err="1">
                <a:solidFill>
                  <a:schemeClr val="bg1"/>
                </a:solidFill>
                <a:latin typeface="Arial" panose="020B0604020202020204" pitchFamily="34" charset="0"/>
                <a:cs typeface="Arial" panose="020B0604020202020204" pitchFamily="34" charset="0"/>
              </a:rPr>
              <a:t>the</a:t>
            </a:r>
            <a:r>
              <a:rPr lang="es-MX" altLang="ko-KR" sz="1400" dirty="0">
                <a:solidFill>
                  <a:schemeClr val="bg1"/>
                </a:solidFill>
                <a:latin typeface="Arial" panose="020B0604020202020204" pitchFamily="34" charset="0"/>
                <a:cs typeface="Arial" panose="020B0604020202020204" pitchFamily="34" charset="0"/>
              </a:rPr>
              <a:t> original </a:t>
            </a:r>
            <a:r>
              <a:rPr lang="es-MX" altLang="ko-KR" sz="1400" dirty="0" err="1">
                <a:solidFill>
                  <a:schemeClr val="bg1"/>
                </a:solidFill>
                <a:latin typeface="Arial" panose="020B0604020202020204" pitchFamily="34" charset="0"/>
                <a:cs typeface="Arial" panose="020B0604020202020204" pitchFamily="34" charset="0"/>
              </a:rPr>
              <a:t>sequence</a:t>
            </a:r>
            <a:endParaRPr lang="en-US" altLang="ko-KR" sz="1400" dirty="0">
              <a:solidFill>
                <a:schemeClr val="bg1"/>
              </a:solidFill>
              <a:latin typeface="Arial" panose="020B0604020202020204" pitchFamily="34" charset="0"/>
              <a:cs typeface="Arial" panose="020B0604020202020204" pitchFamily="34" charset="0"/>
            </a:endParaRPr>
          </a:p>
        </p:txBody>
      </p:sp>
      <p:sp>
        <p:nvSpPr>
          <p:cNvPr id="35" name="Block Arc 41">
            <a:extLst>
              <a:ext uri="{FF2B5EF4-FFF2-40B4-BE49-F238E27FC236}">
                <a16:creationId xmlns:a16="http://schemas.microsoft.com/office/drawing/2014/main" id="{77D8E060-7E17-FF42-55D6-0D745C1EDABD}"/>
              </a:ext>
            </a:extLst>
          </p:cNvPr>
          <p:cNvSpPr/>
          <p:nvPr/>
        </p:nvSpPr>
        <p:spPr>
          <a:xfrm>
            <a:off x="9677685" y="3000214"/>
            <a:ext cx="563324" cy="570461"/>
          </a:xfrm>
          <a:custGeom>
            <a:avLst/>
            <a:gdLst/>
            <a:ahLst/>
            <a:cxnLst/>
            <a:rect l="l" t="t" r="r" b="b"/>
            <a:pathLst>
              <a:path w="2844151" h="2880180">
                <a:moveTo>
                  <a:pt x="2390187" y="1502145"/>
                </a:moveTo>
                <a:lnTo>
                  <a:pt x="2844151" y="1530794"/>
                </a:lnTo>
                <a:cubicBezTo>
                  <a:pt x="2804784" y="2154619"/>
                  <a:pt x="2367464" y="2681809"/>
                  <a:pt x="1761650" y="2835749"/>
                </a:cubicBezTo>
                <a:cubicBezTo>
                  <a:pt x="1191486" y="2980631"/>
                  <a:pt x="594633" y="2763755"/>
                  <a:pt x="252983" y="2293680"/>
                </a:cubicBezTo>
                <a:lnTo>
                  <a:pt x="102982" y="2380283"/>
                </a:lnTo>
                <a:lnTo>
                  <a:pt x="104524" y="1603708"/>
                </a:lnTo>
                <a:lnTo>
                  <a:pt x="777828" y="1990661"/>
                </a:lnTo>
                <a:lnTo>
                  <a:pt x="648358" y="2065410"/>
                </a:lnTo>
                <a:cubicBezTo>
                  <a:pt x="886760" y="2358087"/>
                  <a:pt x="1276546" y="2489694"/>
                  <a:pt x="1649627" y="2394891"/>
                </a:cubicBezTo>
                <a:cubicBezTo>
                  <a:pt x="2064076" y="2289577"/>
                  <a:pt x="2363256" y="1928916"/>
                  <a:pt x="2390187" y="1502145"/>
                </a:cubicBezTo>
                <a:close/>
                <a:moveTo>
                  <a:pt x="1424249" y="58"/>
                </a:moveTo>
                <a:cubicBezTo>
                  <a:pt x="1880498" y="-4073"/>
                  <a:pt x="2318325" y="209551"/>
                  <a:pt x="2591169" y="586524"/>
                </a:cubicBezTo>
                <a:lnTo>
                  <a:pt x="2741170" y="499921"/>
                </a:lnTo>
                <a:lnTo>
                  <a:pt x="2739628" y="1276497"/>
                </a:lnTo>
                <a:lnTo>
                  <a:pt x="2066324" y="889544"/>
                </a:lnTo>
                <a:lnTo>
                  <a:pt x="2195793" y="814795"/>
                </a:lnTo>
                <a:cubicBezTo>
                  <a:pt x="1957391" y="522118"/>
                  <a:pt x="1567606" y="390511"/>
                  <a:pt x="1194524" y="485313"/>
                </a:cubicBezTo>
                <a:cubicBezTo>
                  <a:pt x="780075" y="590627"/>
                  <a:pt x="480895" y="951288"/>
                  <a:pt x="453964" y="1378059"/>
                </a:cubicBezTo>
                <a:lnTo>
                  <a:pt x="0" y="1349410"/>
                </a:lnTo>
                <a:cubicBezTo>
                  <a:pt x="39367" y="725585"/>
                  <a:pt x="476687" y="198395"/>
                  <a:pt x="1082501" y="44455"/>
                </a:cubicBezTo>
                <a:cubicBezTo>
                  <a:pt x="1196091" y="15591"/>
                  <a:pt x="1310740" y="1086"/>
                  <a:pt x="1424249" y="58"/>
                </a:cubicBez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pic>
        <p:nvPicPr>
          <p:cNvPr id="1026" name="Picture 2" descr="sustituir ">
            <a:extLst>
              <a:ext uri="{FF2B5EF4-FFF2-40B4-BE49-F238E27FC236}">
                <a16:creationId xmlns:a16="http://schemas.microsoft.com/office/drawing/2014/main" id="{C54BA7AC-FD65-A076-6D70-CB37FC82436A}"/>
              </a:ext>
            </a:extLst>
          </p:cNvPr>
          <p:cNvPicPr>
            <a:picLocks noChangeAspect="1" noChangeArrowheads="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255983" y="2960694"/>
            <a:ext cx="649500" cy="649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upa ">
            <a:extLst>
              <a:ext uri="{FF2B5EF4-FFF2-40B4-BE49-F238E27FC236}">
                <a16:creationId xmlns:a16="http://schemas.microsoft.com/office/drawing/2014/main" id="{D5B5CBC2-79DD-EAE8-072B-D3E60E32CA2F}"/>
              </a:ext>
            </a:extLst>
          </p:cNvPr>
          <p:cNvPicPr>
            <a:picLocks noChangeAspect="1" noChangeArrowheads="1"/>
          </p:cNvPicPr>
          <p:nvPr/>
        </p:nvPicPr>
        <p:blipFill>
          <a:blip r:embed="rId8">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42161" y="3052422"/>
            <a:ext cx="466044" cy="46604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atos ">
            <a:extLst>
              <a:ext uri="{FF2B5EF4-FFF2-40B4-BE49-F238E27FC236}">
                <a16:creationId xmlns:a16="http://schemas.microsoft.com/office/drawing/2014/main" id="{92C9FC8C-250C-69A9-A4C0-9CCB46E381B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20461" y="3000214"/>
            <a:ext cx="557772" cy="557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309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759F-0F45-EA5A-0F82-0BE30CA958A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DA4DDF7-2DF3-BDE0-1EFF-77A2D05F98CB}"/>
              </a:ext>
            </a:extLst>
          </p:cNvPr>
          <p:cNvSpPr>
            <a:spLocks noGrp="1"/>
          </p:cNvSpPr>
          <p:nvPr>
            <p:ph type="body" sz="quarter" idx="10"/>
          </p:nvPr>
        </p:nvSpPr>
        <p:spPr/>
        <p:txBody>
          <a:bodyPr/>
          <a:lstStyle/>
          <a:p>
            <a:r>
              <a:rPr lang="es-CR" dirty="0"/>
              <a:t>Core Idea</a:t>
            </a:r>
            <a:endParaRPr lang="en-US" dirty="0"/>
          </a:p>
        </p:txBody>
      </p:sp>
      <p:sp>
        <p:nvSpPr>
          <p:cNvPr id="4" name="Freeform: Shape 6">
            <a:extLst>
              <a:ext uri="{FF2B5EF4-FFF2-40B4-BE49-F238E27FC236}">
                <a16:creationId xmlns:a16="http://schemas.microsoft.com/office/drawing/2014/main" id="{2B8DCF13-6778-63BF-C28E-2924C111B9F6}"/>
              </a:ext>
            </a:extLst>
          </p:cNvPr>
          <p:cNvSpPr/>
          <p:nvPr/>
        </p:nvSpPr>
        <p:spPr>
          <a:xfrm>
            <a:off x="4229523" y="2863107"/>
            <a:ext cx="3119026" cy="2811552"/>
          </a:xfrm>
          <a:custGeom>
            <a:avLst/>
            <a:gdLst>
              <a:gd name="connsiteX0" fmla="*/ 3989958 w 4005513"/>
              <a:gd name="connsiteY0" fmla="*/ 3267522 h 3986672"/>
              <a:gd name="connsiteX1" fmla="*/ 3929544 w 4005513"/>
              <a:gd name="connsiteY1" fmla="*/ 3008883 h 3986672"/>
              <a:gd name="connsiteX2" fmla="*/ 3692946 w 4005513"/>
              <a:gd name="connsiteY2" fmla="*/ 2564812 h 3986672"/>
              <a:gd name="connsiteX3" fmla="*/ 2743088 w 4005513"/>
              <a:gd name="connsiteY3" fmla="*/ 2063433 h 3986672"/>
              <a:gd name="connsiteX4" fmla="*/ 2187293 w 4005513"/>
              <a:gd name="connsiteY4" fmla="*/ 2116042 h 3986672"/>
              <a:gd name="connsiteX5" fmla="*/ 1497229 w 4005513"/>
              <a:gd name="connsiteY5" fmla="*/ 2296706 h 3986672"/>
              <a:gd name="connsiteX6" fmla="*/ 644279 w 4005513"/>
              <a:gd name="connsiteY6" fmla="*/ 2437769 h 3986672"/>
              <a:gd name="connsiteX7" fmla="*/ 407104 w 4005513"/>
              <a:gd name="connsiteY7" fmla="*/ 2361962 h 3986672"/>
              <a:gd name="connsiteX8" fmla="*/ 231860 w 4005513"/>
              <a:gd name="connsiteY8" fmla="*/ 1927357 h 3986672"/>
              <a:gd name="connsiteX9" fmla="*/ 427627 w 4005513"/>
              <a:gd name="connsiteY9" fmla="*/ 1552588 h 3986672"/>
              <a:gd name="connsiteX10" fmla="*/ 1156136 w 4005513"/>
              <a:gd name="connsiteY10" fmla="*/ 784044 h 3986672"/>
              <a:gd name="connsiteX11" fmla="*/ 1839335 w 4005513"/>
              <a:gd name="connsiteY11" fmla="*/ 229695 h 3986672"/>
              <a:gd name="connsiteX12" fmla="*/ 1824882 w 4005513"/>
              <a:gd name="connsiteY12" fmla="*/ 201584 h 3986672"/>
              <a:gd name="connsiteX13" fmla="*/ 1675437 w 4005513"/>
              <a:gd name="connsiteY13" fmla="*/ 15211 h 3986672"/>
              <a:gd name="connsiteX14" fmla="*/ 1654624 w 4005513"/>
              <a:gd name="connsiteY14" fmla="*/ 469 h 3986672"/>
              <a:gd name="connsiteX15" fmla="*/ 1639231 w 4005513"/>
              <a:gd name="connsiteY15" fmla="*/ 15427 h 3986672"/>
              <a:gd name="connsiteX16" fmla="*/ 983783 w 4005513"/>
              <a:gd name="connsiteY16" fmla="*/ 584735 h 3986672"/>
              <a:gd name="connsiteX17" fmla="*/ 349725 w 4005513"/>
              <a:gd name="connsiteY17" fmla="*/ 1264827 h 3986672"/>
              <a:gd name="connsiteX18" fmla="*/ 50112 w 4005513"/>
              <a:gd name="connsiteY18" fmla="*/ 1780802 h 3986672"/>
              <a:gd name="connsiteX19" fmla="*/ 18749 w 4005513"/>
              <a:gd name="connsiteY19" fmla="*/ 2189392 h 3986672"/>
              <a:gd name="connsiteX20" fmla="*/ 556983 w 4005513"/>
              <a:gd name="connsiteY20" fmla="*/ 2612651 h 3986672"/>
              <a:gd name="connsiteX21" fmla="*/ 642472 w 4005513"/>
              <a:gd name="connsiteY21" fmla="*/ 2623852 h 3986672"/>
              <a:gd name="connsiteX22" fmla="*/ 1187427 w 4005513"/>
              <a:gd name="connsiteY22" fmla="*/ 2554477 h 3986672"/>
              <a:gd name="connsiteX23" fmla="*/ 2029032 w 4005513"/>
              <a:gd name="connsiteY23" fmla="*/ 2307257 h 3986672"/>
              <a:gd name="connsiteX24" fmla="*/ 2819184 w 4005513"/>
              <a:gd name="connsiteY24" fmla="*/ 2195390 h 3986672"/>
              <a:gd name="connsiteX25" fmla="*/ 3294763 w 4005513"/>
              <a:gd name="connsiteY25" fmla="*/ 2337247 h 3986672"/>
              <a:gd name="connsiteX26" fmla="*/ 3646696 w 4005513"/>
              <a:gd name="connsiteY26" fmla="*/ 2657889 h 3986672"/>
              <a:gd name="connsiteX27" fmla="*/ 3790505 w 4005513"/>
              <a:gd name="connsiteY27" fmla="*/ 2868832 h 3986672"/>
              <a:gd name="connsiteX28" fmla="*/ 3951584 w 4005513"/>
              <a:gd name="connsiteY28" fmla="*/ 3537578 h 3986672"/>
              <a:gd name="connsiteX29" fmla="*/ 3932073 w 4005513"/>
              <a:gd name="connsiteY29" fmla="*/ 3821798 h 3986672"/>
              <a:gd name="connsiteX30" fmla="*/ 3908875 w 4005513"/>
              <a:gd name="connsiteY30" fmla="*/ 3951515 h 3986672"/>
              <a:gd name="connsiteX31" fmla="*/ 3908442 w 4005513"/>
              <a:gd name="connsiteY31" fmla="*/ 3969870 h 3986672"/>
              <a:gd name="connsiteX32" fmla="*/ 3945804 w 4005513"/>
              <a:gd name="connsiteY32" fmla="*/ 3982300 h 3986672"/>
              <a:gd name="connsiteX33" fmla="*/ 3946309 w 4005513"/>
              <a:gd name="connsiteY33" fmla="*/ 3970232 h 3986672"/>
              <a:gd name="connsiteX34" fmla="*/ 4005495 w 4005513"/>
              <a:gd name="connsiteY34" fmla="*/ 3498988 h 3986672"/>
              <a:gd name="connsiteX35" fmla="*/ 3989958 w 4005513"/>
              <a:gd name="connsiteY35" fmla="*/ 3267522 h 398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005513" h="3986672">
                <a:moveTo>
                  <a:pt x="3989958" y="3267522"/>
                </a:moveTo>
                <a:cubicBezTo>
                  <a:pt x="3975288" y="3179936"/>
                  <a:pt x="3956932" y="3093434"/>
                  <a:pt x="3929544" y="3008883"/>
                </a:cubicBezTo>
                <a:cubicBezTo>
                  <a:pt x="3830467" y="2703272"/>
                  <a:pt x="3694825" y="2567268"/>
                  <a:pt x="3692946" y="2564812"/>
                </a:cubicBezTo>
                <a:cubicBezTo>
                  <a:pt x="3454759" y="2248939"/>
                  <a:pt x="3138886" y="2079982"/>
                  <a:pt x="2743088" y="2063433"/>
                </a:cubicBezTo>
                <a:cubicBezTo>
                  <a:pt x="2555559" y="2055556"/>
                  <a:pt x="2370703" y="2078826"/>
                  <a:pt x="2187293" y="2116042"/>
                </a:cubicBezTo>
                <a:cubicBezTo>
                  <a:pt x="1953876" y="2163304"/>
                  <a:pt x="1726456" y="2233401"/>
                  <a:pt x="1497229" y="2296706"/>
                </a:cubicBezTo>
                <a:cubicBezTo>
                  <a:pt x="1218068" y="2373813"/>
                  <a:pt x="940135" y="2460604"/>
                  <a:pt x="644279" y="2437769"/>
                </a:cubicBezTo>
                <a:cubicBezTo>
                  <a:pt x="559439" y="2430687"/>
                  <a:pt x="480454" y="2404237"/>
                  <a:pt x="407104" y="2361962"/>
                </a:cubicBezTo>
                <a:cubicBezTo>
                  <a:pt x="234172" y="2262380"/>
                  <a:pt x="176866" y="2119294"/>
                  <a:pt x="231860" y="1927357"/>
                </a:cubicBezTo>
                <a:cubicBezTo>
                  <a:pt x="271461" y="1789041"/>
                  <a:pt x="344594" y="1667924"/>
                  <a:pt x="427627" y="1552588"/>
                </a:cubicBezTo>
                <a:cubicBezTo>
                  <a:pt x="635752" y="1263598"/>
                  <a:pt x="891066" y="1019051"/>
                  <a:pt x="1156136" y="784044"/>
                </a:cubicBezTo>
                <a:cubicBezTo>
                  <a:pt x="1375824" y="589288"/>
                  <a:pt x="1605628" y="407034"/>
                  <a:pt x="1839335" y="229695"/>
                </a:cubicBezTo>
                <a:cubicBezTo>
                  <a:pt x="1844104" y="215458"/>
                  <a:pt x="1832542" y="208738"/>
                  <a:pt x="1824882" y="201584"/>
                </a:cubicBezTo>
                <a:cubicBezTo>
                  <a:pt x="1766202" y="146517"/>
                  <a:pt x="1717495" y="83574"/>
                  <a:pt x="1675437" y="15211"/>
                </a:cubicBezTo>
                <a:cubicBezTo>
                  <a:pt x="1670739" y="7623"/>
                  <a:pt x="1666981" y="-2278"/>
                  <a:pt x="1654624" y="469"/>
                </a:cubicBezTo>
                <a:cubicBezTo>
                  <a:pt x="1649493" y="5455"/>
                  <a:pt x="1644724" y="10947"/>
                  <a:pt x="1639231" y="15427"/>
                </a:cubicBezTo>
                <a:cubicBezTo>
                  <a:pt x="1414052" y="197537"/>
                  <a:pt x="1194437" y="385788"/>
                  <a:pt x="983783" y="584735"/>
                </a:cubicBezTo>
                <a:cubicBezTo>
                  <a:pt x="757881" y="798063"/>
                  <a:pt x="538627" y="1017245"/>
                  <a:pt x="349725" y="1264827"/>
                </a:cubicBezTo>
                <a:cubicBezTo>
                  <a:pt x="228247" y="1424100"/>
                  <a:pt x="118259" y="1590383"/>
                  <a:pt x="50112" y="1780802"/>
                </a:cubicBezTo>
                <a:cubicBezTo>
                  <a:pt x="2417" y="1914060"/>
                  <a:pt x="-17745" y="2049486"/>
                  <a:pt x="18749" y="2189392"/>
                </a:cubicBezTo>
                <a:cubicBezTo>
                  <a:pt x="77501" y="2414644"/>
                  <a:pt x="323854" y="2585841"/>
                  <a:pt x="556983" y="2612651"/>
                </a:cubicBezTo>
                <a:cubicBezTo>
                  <a:pt x="585022" y="2619806"/>
                  <a:pt x="613639" y="2622190"/>
                  <a:pt x="642472" y="2623852"/>
                </a:cubicBezTo>
                <a:cubicBezTo>
                  <a:pt x="828412" y="2634403"/>
                  <a:pt x="1008570" y="2599499"/>
                  <a:pt x="1187427" y="2554477"/>
                </a:cubicBezTo>
                <a:cubicBezTo>
                  <a:pt x="1265980" y="2535038"/>
                  <a:pt x="1805009" y="2369044"/>
                  <a:pt x="2029032" y="2307257"/>
                </a:cubicBezTo>
                <a:cubicBezTo>
                  <a:pt x="2287525" y="2236003"/>
                  <a:pt x="2547465" y="2175878"/>
                  <a:pt x="2819184" y="2195390"/>
                </a:cubicBezTo>
                <a:cubicBezTo>
                  <a:pt x="2988646" y="2207531"/>
                  <a:pt x="3148136" y="2251251"/>
                  <a:pt x="3294763" y="2337247"/>
                </a:cubicBezTo>
                <a:cubicBezTo>
                  <a:pt x="3434380" y="2419124"/>
                  <a:pt x="3549210" y="2529184"/>
                  <a:pt x="3646696" y="2657889"/>
                </a:cubicBezTo>
                <a:cubicBezTo>
                  <a:pt x="3657752" y="2672487"/>
                  <a:pt x="3759358" y="2809575"/>
                  <a:pt x="3790505" y="2868832"/>
                </a:cubicBezTo>
                <a:cubicBezTo>
                  <a:pt x="3900493" y="3077969"/>
                  <a:pt x="3945659" y="3303365"/>
                  <a:pt x="3951584" y="3537578"/>
                </a:cubicBezTo>
                <a:cubicBezTo>
                  <a:pt x="3953970" y="3632752"/>
                  <a:pt x="3943925" y="3727564"/>
                  <a:pt x="3932073" y="3821798"/>
                </a:cubicBezTo>
                <a:cubicBezTo>
                  <a:pt x="3926653" y="3865085"/>
                  <a:pt x="3926147" y="3910034"/>
                  <a:pt x="3908875" y="3951515"/>
                </a:cubicBezTo>
                <a:cubicBezTo>
                  <a:pt x="3908731" y="3957658"/>
                  <a:pt x="3908587" y="3963728"/>
                  <a:pt x="3908442" y="3969870"/>
                </a:cubicBezTo>
                <a:cubicBezTo>
                  <a:pt x="3916246" y="3987937"/>
                  <a:pt x="3929327" y="3990321"/>
                  <a:pt x="3945804" y="3982300"/>
                </a:cubicBezTo>
                <a:cubicBezTo>
                  <a:pt x="3946020" y="3978253"/>
                  <a:pt x="3946164" y="3974279"/>
                  <a:pt x="3946309" y="3970232"/>
                </a:cubicBezTo>
                <a:cubicBezTo>
                  <a:pt x="3986633" y="3815728"/>
                  <a:pt x="4005061" y="3657972"/>
                  <a:pt x="4005495" y="3498988"/>
                </a:cubicBezTo>
                <a:cubicBezTo>
                  <a:pt x="4005783" y="3422097"/>
                  <a:pt x="4002749" y="3344268"/>
                  <a:pt x="3989958" y="3267522"/>
                </a:cubicBezTo>
                <a:close/>
              </a:path>
            </a:pathLst>
          </a:custGeom>
          <a:solidFill>
            <a:schemeClr val="accent6">
              <a:lumMod val="20000"/>
              <a:lumOff val="80000"/>
            </a:schemeClr>
          </a:solidFill>
          <a:ln w="7224" cap="flat">
            <a:noFill/>
            <a:prstDash val="solid"/>
            <a:miter/>
          </a:ln>
        </p:spPr>
        <p:txBody>
          <a:bodyPr rtlCol="0" anchor="ctr"/>
          <a:lstStyle/>
          <a:p>
            <a:endParaRPr lang="en-US"/>
          </a:p>
        </p:txBody>
      </p:sp>
      <p:sp>
        <p:nvSpPr>
          <p:cNvPr id="20" name="Oval 43">
            <a:extLst>
              <a:ext uri="{FF2B5EF4-FFF2-40B4-BE49-F238E27FC236}">
                <a16:creationId xmlns:a16="http://schemas.microsoft.com/office/drawing/2014/main" id="{5344A427-83B4-AEDD-6E96-1BB996240178}"/>
              </a:ext>
            </a:extLst>
          </p:cNvPr>
          <p:cNvSpPr/>
          <p:nvPr/>
        </p:nvSpPr>
        <p:spPr>
          <a:xfrm>
            <a:off x="5241421" y="2725215"/>
            <a:ext cx="566802" cy="5668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altLang="ko-KR" sz="2700" dirty="0"/>
              <a:t>1</a:t>
            </a:r>
            <a:endParaRPr lang="ko-KR" altLang="en-US" sz="2700" dirty="0"/>
          </a:p>
        </p:txBody>
      </p:sp>
      <p:sp>
        <p:nvSpPr>
          <p:cNvPr id="26" name="Oval 55">
            <a:extLst>
              <a:ext uri="{FF2B5EF4-FFF2-40B4-BE49-F238E27FC236}">
                <a16:creationId xmlns:a16="http://schemas.microsoft.com/office/drawing/2014/main" id="{EB2CE237-93C5-C187-49BF-68E333BC10E8}"/>
              </a:ext>
            </a:extLst>
          </p:cNvPr>
          <p:cNvSpPr/>
          <p:nvPr/>
        </p:nvSpPr>
        <p:spPr>
          <a:xfrm>
            <a:off x="4124853" y="4026637"/>
            <a:ext cx="566802" cy="56680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altLang="ko-KR" sz="2700" dirty="0"/>
              <a:t>2</a:t>
            </a:r>
            <a:endParaRPr lang="ko-KR" altLang="en-US" sz="2700" dirty="0"/>
          </a:p>
        </p:txBody>
      </p:sp>
      <p:sp>
        <p:nvSpPr>
          <p:cNvPr id="37" name="Oval 55">
            <a:extLst>
              <a:ext uri="{FF2B5EF4-FFF2-40B4-BE49-F238E27FC236}">
                <a16:creationId xmlns:a16="http://schemas.microsoft.com/office/drawing/2014/main" id="{C6A566CE-4A8D-65C4-9A1A-565425FF63E8}"/>
              </a:ext>
            </a:extLst>
          </p:cNvPr>
          <p:cNvSpPr/>
          <p:nvPr/>
        </p:nvSpPr>
        <p:spPr>
          <a:xfrm>
            <a:off x="6886417" y="4603597"/>
            <a:ext cx="566802" cy="5668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altLang="ko-KR" sz="2700" dirty="0"/>
              <a:t>3</a:t>
            </a:r>
            <a:endParaRPr lang="ko-KR" altLang="en-US" sz="2700" dirty="0"/>
          </a:p>
        </p:txBody>
      </p:sp>
      <p:grpSp>
        <p:nvGrpSpPr>
          <p:cNvPr id="39" name="그룹 37">
            <a:extLst>
              <a:ext uri="{FF2B5EF4-FFF2-40B4-BE49-F238E27FC236}">
                <a16:creationId xmlns:a16="http://schemas.microsoft.com/office/drawing/2014/main" id="{40479A66-055C-3C1B-FD89-5FA825FB4A02}"/>
              </a:ext>
            </a:extLst>
          </p:cNvPr>
          <p:cNvGrpSpPr/>
          <p:nvPr/>
        </p:nvGrpSpPr>
        <p:grpSpPr>
          <a:xfrm>
            <a:off x="636108" y="2122673"/>
            <a:ext cx="9905512" cy="2649197"/>
            <a:chOff x="636108" y="2122673"/>
            <a:chExt cx="9905512" cy="2649197"/>
          </a:xfrm>
        </p:grpSpPr>
        <p:grpSp>
          <p:nvGrpSpPr>
            <p:cNvPr id="40" name="Group 11">
              <a:extLst>
                <a:ext uri="{FF2B5EF4-FFF2-40B4-BE49-F238E27FC236}">
                  <a16:creationId xmlns:a16="http://schemas.microsoft.com/office/drawing/2014/main" id="{966A5286-8A8A-EC39-DBA5-1A793CD7078B}"/>
                </a:ext>
              </a:extLst>
            </p:cNvPr>
            <p:cNvGrpSpPr/>
            <p:nvPr/>
          </p:nvGrpSpPr>
          <p:grpSpPr>
            <a:xfrm>
              <a:off x="1610079" y="2122673"/>
              <a:ext cx="3488745" cy="1024443"/>
              <a:chOff x="1797648" y="2369571"/>
              <a:chExt cx="3488745" cy="1024443"/>
            </a:xfrm>
          </p:grpSpPr>
          <p:sp>
            <p:nvSpPr>
              <p:cNvPr id="53" name="TextBox 22">
                <a:extLst>
                  <a:ext uri="{FF2B5EF4-FFF2-40B4-BE49-F238E27FC236}">
                    <a16:creationId xmlns:a16="http://schemas.microsoft.com/office/drawing/2014/main" id="{AE3F322B-4476-4034-DB6A-71AF31B44966}"/>
                  </a:ext>
                </a:extLst>
              </p:cNvPr>
              <p:cNvSpPr txBox="1"/>
              <p:nvPr/>
            </p:nvSpPr>
            <p:spPr>
              <a:xfrm>
                <a:off x="1797648" y="2369571"/>
                <a:ext cx="3488745" cy="338554"/>
              </a:xfrm>
              <a:prstGeom prst="rect">
                <a:avLst/>
              </a:prstGeom>
              <a:noFill/>
            </p:spPr>
            <p:txBody>
              <a:bodyPr wrap="square" lIns="108000" rIns="108000" rtlCol="0">
                <a:spAutoFit/>
              </a:bodyPr>
              <a:lstStyle/>
              <a:p>
                <a:r>
                  <a:rPr lang="en-GB" altLang="ko-KR" sz="1600" b="1" dirty="0">
                    <a:solidFill>
                      <a:schemeClr val="accent1"/>
                    </a:solidFill>
                    <a:cs typeface="Arial" pitchFamily="34" charset="0"/>
                  </a:rPr>
                  <a:t>Original Sequence</a:t>
                </a:r>
                <a:endParaRPr lang="ko-KR" altLang="en-US" sz="1600" b="1" dirty="0">
                  <a:solidFill>
                    <a:schemeClr val="accent1"/>
                  </a:solidFill>
                  <a:cs typeface="Arial" pitchFamily="34" charset="0"/>
                </a:endParaRPr>
              </a:p>
            </p:txBody>
          </p:sp>
          <p:sp>
            <p:nvSpPr>
              <p:cNvPr id="54" name="TextBox 23">
                <a:extLst>
                  <a:ext uri="{FF2B5EF4-FFF2-40B4-BE49-F238E27FC236}">
                    <a16:creationId xmlns:a16="http://schemas.microsoft.com/office/drawing/2014/main" id="{1F4C5AB9-4211-1319-2697-F351FE6987A0}"/>
                  </a:ext>
                </a:extLst>
              </p:cNvPr>
              <p:cNvSpPr txBox="1"/>
              <p:nvPr/>
            </p:nvSpPr>
            <p:spPr>
              <a:xfrm>
                <a:off x="1962581" y="2793850"/>
                <a:ext cx="3323812" cy="276999"/>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Raw DNA sequence with repetitive patters</a:t>
                </a:r>
                <a:endParaRPr lang="ko-KR" altLang="en-US" sz="1200" dirty="0">
                  <a:solidFill>
                    <a:schemeClr val="bg1"/>
                  </a:solidFill>
                  <a:cs typeface="Arial" pitchFamily="34" charset="0"/>
                </a:endParaRPr>
              </a:p>
            </p:txBody>
          </p:sp>
          <p:sp>
            <p:nvSpPr>
              <p:cNvPr id="55" name="TextBox 24">
                <a:extLst>
                  <a:ext uri="{FF2B5EF4-FFF2-40B4-BE49-F238E27FC236}">
                    <a16:creationId xmlns:a16="http://schemas.microsoft.com/office/drawing/2014/main" id="{621AAE67-8680-BC8C-31D0-3F29C0806B5D}"/>
                  </a:ext>
                </a:extLst>
              </p:cNvPr>
              <p:cNvSpPr txBox="1"/>
              <p:nvPr/>
            </p:nvSpPr>
            <p:spPr>
              <a:xfrm>
                <a:off x="1962581" y="3117015"/>
                <a:ext cx="3323812" cy="276999"/>
              </a:xfrm>
              <a:prstGeom prst="rect">
                <a:avLst/>
              </a:prstGeom>
              <a:noFill/>
            </p:spPr>
            <p:txBody>
              <a:bodyPr wrap="square" rtlCol="0">
                <a:spAutoFit/>
              </a:bodyPr>
              <a:lstStyle/>
              <a:p>
                <a:pPr algn="ctr"/>
                <a:r>
                  <a:rPr lang="es-MX" altLang="ko-KR" sz="1200" dirty="0">
                    <a:solidFill>
                      <a:schemeClr val="bg1"/>
                    </a:solidFill>
                    <a:cs typeface="Arial" pitchFamily="34" charset="0"/>
                  </a:rPr>
                  <a:t>ATCGATCGATCGATCG</a:t>
                </a:r>
                <a:endParaRPr lang="ko-KR" altLang="en-US" sz="1200" dirty="0">
                  <a:solidFill>
                    <a:schemeClr val="bg1"/>
                  </a:solidFill>
                  <a:cs typeface="Arial" pitchFamily="34" charset="0"/>
                </a:endParaRPr>
              </a:p>
            </p:txBody>
          </p:sp>
        </p:grpSp>
        <p:grpSp>
          <p:nvGrpSpPr>
            <p:cNvPr id="41" name="Group 11">
              <a:extLst>
                <a:ext uri="{FF2B5EF4-FFF2-40B4-BE49-F238E27FC236}">
                  <a16:creationId xmlns:a16="http://schemas.microsoft.com/office/drawing/2014/main" id="{A3E75602-FFF7-5F16-5CCA-4CECF292205C}"/>
                </a:ext>
              </a:extLst>
            </p:cNvPr>
            <p:cNvGrpSpPr/>
            <p:nvPr/>
          </p:nvGrpSpPr>
          <p:grpSpPr>
            <a:xfrm>
              <a:off x="636108" y="3747427"/>
              <a:ext cx="3488745" cy="1024443"/>
              <a:chOff x="1797648" y="2369571"/>
              <a:chExt cx="3488745" cy="1024443"/>
            </a:xfrm>
          </p:grpSpPr>
          <p:sp>
            <p:nvSpPr>
              <p:cNvPr id="50" name="TextBox 26">
                <a:extLst>
                  <a:ext uri="{FF2B5EF4-FFF2-40B4-BE49-F238E27FC236}">
                    <a16:creationId xmlns:a16="http://schemas.microsoft.com/office/drawing/2014/main" id="{2535ABEC-4723-82F1-7BDE-C6F3308724A4}"/>
                  </a:ext>
                </a:extLst>
              </p:cNvPr>
              <p:cNvSpPr txBox="1"/>
              <p:nvPr/>
            </p:nvSpPr>
            <p:spPr>
              <a:xfrm>
                <a:off x="1797648" y="2369571"/>
                <a:ext cx="3488745" cy="338554"/>
              </a:xfrm>
              <a:prstGeom prst="rect">
                <a:avLst/>
              </a:prstGeom>
              <a:noFill/>
            </p:spPr>
            <p:txBody>
              <a:bodyPr wrap="square" lIns="108000" rIns="108000" rtlCol="0">
                <a:spAutoFit/>
              </a:bodyPr>
              <a:lstStyle/>
              <a:p>
                <a:r>
                  <a:rPr lang="en-GB" altLang="ko-KR" sz="1600" b="1" dirty="0">
                    <a:solidFill>
                      <a:schemeClr val="accent2"/>
                    </a:solidFill>
                    <a:cs typeface="Arial" pitchFamily="34" charset="0"/>
                  </a:rPr>
                  <a:t>Tokenization Process</a:t>
                </a:r>
                <a:endParaRPr lang="ko-KR" altLang="en-US" sz="1600" b="1" dirty="0">
                  <a:solidFill>
                    <a:schemeClr val="accent2"/>
                  </a:solidFill>
                  <a:cs typeface="Arial" pitchFamily="34" charset="0"/>
                </a:endParaRPr>
              </a:p>
            </p:txBody>
          </p:sp>
          <p:sp>
            <p:nvSpPr>
              <p:cNvPr id="51" name="TextBox 27">
                <a:extLst>
                  <a:ext uri="{FF2B5EF4-FFF2-40B4-BE49-F238E27FC236}">
                    <a16:creationId xmlns:a16="http://schemas.microsoft.com/office/drawing/2014/main" id="{E5754971-7834-96C0-39A2-C679ED5D1281}"/>
                  </a:ext>
                </a:extLst>
              </p:cNvPr>
              <p:cNvSpPr txBox="1"/>
              <p:nvPr/>
            </p:nvSpPr>
            <p:spPr>
              <a:xfrm>
                <a:off x="1959399" y="2793850"/>
                <a:ext cx="3326994" cy="276999"/>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Repeated pattern is detected and replaced</a:t>
                </a:r>
                <a:endParaRPr lang="ko-KR" altLang="en-US" sz="1200" dirty="0">
                  <a:solidFill>
                    <a:schemeClr val="bg1"/>
                  </a:solidFill>
                  <a:cs typeface="Arial" pitchFamily="34" charset="0"/>
                </a:endParaRPr>
              </a:p>
            </p:txBody>
          </p:sp>
          <p:sp>
            <p:nvSpPr>
              <p:cNvPr id="52" name="TextBox 28">
                <a:extLst>
                  <a:ext uri="{FF2B5EF4-FFF2-40B4-BE49-F238E27FC236}">
                    <a16:creationId xmlns:a16="http://schemas.microsoft.com/office/drawing/2014/main" id="{6886DCA7-D5A3-55B9-20C6-5E4963F7D610}"/>
                  </a:ext>
                </a:extLst>
              </p:cNvPr>
              <p:cNvSpPr txBox="1"/>
              <p:nvPr/>
            </p:nvSpPr>
            <p:spPr>
              <a:xfrm>
                <a:off x="2031116" y="3117015"/>
                <a:ext cx="3255277" cy="276999"/>
              </a:xfrm>
              <a:prstGeom prst="rect">
                <a:avLst/>
              </a:prstGeom>
              <a:noFill/>
            </p:spPr>
            <p:txBody>
              <a:bodyPr wrap="square" rtlCol="0">
                <a:spAutoFit/>
              </a:bodyPr>
              <a:lstStyle/>
              <a:p>
                <a:pPr algn="ctr"/>
                <a:r>
                  <a:rPr lang="es-MX" altLang="ko-KR" sz="1200" dirty="0">
                    <a:solidFill>
                      <a:schemeClr val="bg1"/>
                    </a:solidFill>
                    <a:cs typeface="Arial" pitchFamily="34" charset="0"/>
                  </a:rPr>
                  <a:t>ATCGATCGATCGATCG </a:t>
                </a:r>
                <a:r>
                  <a:rPr lang="es-CR" sz="1200" dirty="0">
                    <a:solidFill>
                      <a:schemeClr val="bg1"/>
                    </a:solidFill>
                  </a:rPr>
                  <a:t>→ &lt;T1&gt;</a:t>
                </a:r>
                <a:endParaRPr lang="ko-KR" altLang="en-US" sz="1200" dirty="0">
                  <a:solidFill>
                    <a:schemeClr val="bg1"/>
                  </a:solidFill>
                  <a:cs typeface="Arial" pitchFamily="34" charset="0"/>
                </a:endParaRPr>
              </a:p>
            </p:txBody>
          </p:sp>
        </p:grpSp>
        <p:grpSp>
          <p:nvGrpSpPr>
            <p:cNvPr id="42" name="Group 11">
              <a:extLst>
                <a:ext uri="{FF2B5EF4-FFF2-40B4-BE49-F238E27FC236}">
                  <a16:creationId xmlns:a16="http://schemas.microsoft.com/office/drawing/2014/main" id="{4062184F-3016-87DE-848B-B64388BB9080}"/>
                </a:ext>
              </a:extLst>
            </p:cNvPr>
            <p:cNvGrpSpPr/>
            <p:nvPr/>
          </p:nvGrpSpPr>
          <p:grpSpPr>
            <a:xfrm>
              <a:off x="7052875" y="3265323"/>
              <a:ext cx="3488745" cy="1024443"/>
              <a:chOff x="1797648" y="2369571"/>
              <a:chExt cx="3488745" cy="1024443"/>
            </a:xfrm>
          </p:grpSpPr>
          <p:sp>
            <p:nvSpPr>
              <p:cNvPr id="47" name="TextBox 30">
                <a:extLst>
                  <a:ext uri="{FF2B5EF4-FFF2-40B4-BE49-F238E27FC236}">
                    <a16:creationId xmlns:a16="http://schemas.microsoft.com/office/drawing/2014/main" id="{6C335EF5-9B10-9C3C-4089-E285227A88F0}"/>
                  </a:ext>
                </a:extLst>
              </p:cNvPr>
              <p:cNvSpPr txBox="1"/>
              <p:nvPr/>
            </p:nvSpPr>
            <p:spPr>
              <a:xfrm>
                <a:off x="1797648" y="2369571"/>
                <a:ext cx="3488745" cy="338554"/>
              </a:xfrm>
              <a:prstGeom prst="rect">
                <a:avLst/>
              </a:prstGeom>
              <a:noFill/>
            </p:spPr>
            <p:txBody>
              <a:bodyPr wrap="square" lIns="108000" rIns="108000" rtlCol="0">
                <a:spAutoFit/>
              </a:bodyPr>
              <a:lstStyle/>
              <a:p>
                <a:r>
                  <a:rPr lang="en-GB" altLang="ko-KR" sz="1600" b="1" dirty="0">
                    <a:solidFill>
                      <a:schemeClr val="accent3"/>
                    </a:solidFill>
                    <a:cs typeface="Arial" pitchFamily="34" charset="0"/>
                  </a:rPr>
                  <a:t>Dictionary Mapping</a:t>
                </a:r>
                <a:endParaRPr lang="ko-KR" altLang="en-US" sz="1600" b="1" dirty="0">
                  <a:solidFill>
                    <a:schemeClr val="accent3"/>
                  </a:solidFill>
                  <a:cs typeface="Arial" pitchFamily="34" charset="0"/>
                </a:endParaRPr>
              </a:p>
            </p:txBody>
          </p:sp>
          <p:sp>
            <p:nvSpPr>
              <p:cNvPr id="48" name="TextBox 31">
                <a:extLst>
                  <a:ext uri="{FF2B5EF4-FFF2-40B4-BE49-F238E27FC236}">
                    <a16:creationId xmlns:a16="http://schemas.microsoft.com/office/drawing/2014/main" id="{F5171BF2-1C45-34A9-B594-1852BADB1BD4}"/>
                  </a:ext>
                </a:extLst>
              </p:cNvPr>
              <p:cNvSpPr txBox="1"/>
              <p:nvPr/>
            </p:nvSpPr>
            <p:spPr>
              <a:xfrm>
                <a:off x="1890939" y="2793850"/>
                <a:ext cx="3395454" cy="276999"/>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Pattern stored for reversible reconstruction</a:t>
                </a:r>
                <a:endParaRPr lang="ko-KR" altLang="en-US" sz="1200" dirty="0">
                  <a:solidFill>
                    <a:schemeClr val="bg1"/>
                  </a:solidFill>
                  <a:cs typeface="Arial" pitchFamily="34" charset="0"/>
                </a:endParaRPr>
              </a:p>
            </p:txBody>
          </p:sp>
          <p:sp>
            <p:nvSpPr>
              <p:cNvPr id="49" name="TextBox 32">
                <a:extLst>
                  <a:ext uri="{FF2B5EF4-FFF2-40B4-BE49-F238E27FC236}">
                    <a16:creationId xmlns:a16="http://schemas.microsoft.com/office/drawing/2014/main" id="{9067AD1B-0A2F-CDD5-12BA-231F2E75E429}"/>
                  </a:ext>
                </a:extLst>
              </p:cNvPr>
              <p:cNvSpPr txBox="1"/>
              <p:nvPr/>
            </p:nvSpPr>
            <p:spPr>
              <a:xfrm>
                <a:off x="1890939" y="3117015"/>
                <a:ext cx="3395454" cy="276999"/>
              </a:xfrm>
              <a:prstGeom prst="rect">
                <a:avLst/>
              </a:prstGeom>
              <a:noFill/>
            </p:spPr>
            <p:txBody>
              <a:bodyPr wrap="square" rtlCol="0">
                <a:spAutoFit/>
              </a:bodyPr>
              <a:lstStyle/>
              <a:p>
                <a:pPr algn="ctr"/>
                <a:r>
                  <a:rPr lang="en-US" altLang="ko-KR" sz="1200" dirty="0">
                    <a:solidFill>
                      <a:schemeClr val="bg1"/>
                    </a:solidFill>
                    <a:cs typeface="Arial" pitchFamily="34" charset="0"/>
                  </a:rPr>
                  <a:t>“T1”:”ATCGATCGATCGATCG”</a:t>
                </a:r>
                <a:endParaRPr lang="ko-KR" altLang="en-US" sz="1200" dirty="0">
                  <a:solidFill>
                    <a:schemeClr val="bg1"/>
                  </a:solidFill>
                  <a:cs typeface="Arial" pitchFamily="34" charset="0"/>
                </a:endParaRPr>
              </a:p>
            </p:txBody>
          </p:sp>
        </p:grpSp>
      </p:grpSp>
      <p:sp>
        <p:nvSpPr>
          <p:cNvPr id="56" name="TextBox 51">
            <a:extLst>
              <a:ext uri="{FF2B5EF4-FFF2-40B4-BE49-F238E27FC236}">
                <a16:creationId xmlns:a16="http://schemas.microsoft.com/office/drawing/2014/main" id="{DC8B8294-FF97-43FF-D161-0B360A5B33F2}"/>
              </a:ext>
            </a:extLst>
          </p:cNvPr>
          <p:cNvSpPr txBox="1"/>
          <p:nvPr/>
        </p:nvSpPr>
        <p:spPr>
          <a:xfrm flipH="1">
            <a:off x="3279366" y="6252637"/>
            <a:ext cx="6389573" cy="307777"/>
          </a:xfrm>
          <a:prstGeom prst="rect">
            <a:avLst/>
          </a:prstGeom>
          <a:noFill/>
        </p:spPr>
        <p:txBody>
          <a:bodyPr wrap="square" rtlCol="0">
            <a:spAutoFit/>
          </a:bodyPr>
          <a:lstStyle/>
          <a:p>
            <a:r>
              <a:rPr lang="en-US" sz="1400" b="1" dirty="0">
                <a:solidFill>
                  <a:schemeClr val="bg1"/>
                </a:solidFill>
              </a:rPr>
              <a:t>Key note:</a:t>
            </a:r>
            <a:r>
              <a:rPr lang="en-US" sz="1400" dirty="0">
                <a:solidFill>
                  <a:schemeClr val="bg1"/>
                </a:solidFill>
              </a:rPr>
              <a:t> It works as a dictionary-based controlled substitution</a:t>
            </a:r>
            <a:endParaRPr lang="ko-KR" altLang="en-US" sz="1400" dirty="0">
              <a:solidFill>
                <a:schemeClr val="bg1"/>
              </a:solidFill>
              <a:cs typeface="Arial" pitchFamily="34" charset="0"/>
            </a:endParaRPr>
          </a:p>
        </p:txBody>
      </p:sp>
    </p:spTree>
    <p:extLst>
      <p:ext uri="{BB962C8B-B14F-4D97-AF65-F5344CB8AC3E}">
        <p14:creationId xmlns:p14="http://schemas.microsoft.com/office/powerpoint/2010/main" val="3180885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자유형: 도형 70">
            <a:extLst>
              <a:ext uri="{FF2B5EF4-FFF2-40B4-BE49-F238E27FC236}">
                <a16:creationId xmlns:a16="http://schemas.microsoft.com/office/drawing/2014/main" id="{F17D63B5-E4B9-469B-84CC-6389C78EC94C}"/>
              </a:ext>
            </a:extLst>
          </p:cNvPr>
          <p:cNvSpPr/>
          <p:nvPr/>
        </p:nvSpPr>
        <p:spPr>
          <a:xfrm>
            <a:off x="4249729" y="3269814"/>
            <a:ext cx="720299" cy="3588186"/>
          </a:xfrm>
          <a:custGeom>
            <a:avLst/>
            <a:gdLst>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143243 h 4558419"/>
              <a:gd name="connsiteX9" fmla="*/ 573906 w 915065"/>
              <a:gd name="connsiteY9" fmla="*/ 4558419 h 4558419"/>
              <a:gd name="connsiteX10" fmla="*/ 915065 w 915065"/>
              <a:gd name="connsiteY10" fmla="*/ 4558419 h 4558419"/>
              <a:gd name="connsiteX11" fmla="*/ 915065 w 915065"/>
              <a:gd name="connsiteY11" fmla="*/ 4143243 h 4558419"/>
              <a:gd name="connsiteX12" fmla="*/ 912436 w 915065"/>
              <a:gd name="connsiteY12" fmla="*/ 4143243 h 4558419"/>
              <a:gd name="connsiteX13" fmla="*/ 912436 w 915065"/>
              <a:gd name="connsiteY13" fmla="*/ 2555576 h 4558419"/>
              <a:gd name="connsiteX14" fmla="*/ 913431 w 915065"/>
              <a:gd name="connsiteY14" fmla="*/ 2554955 h 4558419"/>
              <a:gd name="connsiteX15" fmla="*/ 504752 w 915065"/>
              <a:gd name="connsiteY15" fmla="*/ 1453740 h 4558419"/>
              <a:gd name="connsiteX16" fmla="*/ 504752 w 915065"/>
              <a:gd name="connsiteY16" fmla="*/ 436294 h 4558419"/>
              <a:gd name="connsiteX17" fmla="*/ 673002 w 915065"/>
              <a:gd name="connsiteY17" fmla="*/ 436294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143243 h 4558419"/>
              <a:gd name="connsiteX9" fmla="*/ 573906 w 915065"/>
              <a:gd name="connsiteY9" fmla="*/ 4558419 h 4558419"/>
              <a:gd name="connsiteX10" fmla="*/ 915065 w 915065"/>
              <a:gd name="connsiteY10" fmla="*/ 4558419 h 4558419"/>
              <a:gd name="connsiteX11" fmla="*/ 915065 w 915065"/>
              <a:gd name="connsiteY11" fmla="*/ 4143243 h 4558419"/>
              <a:gd name="connsiteX12" fmla="*/ 912436 w 915065"/>
              <a:gd name="connsiteY12" fmla="*/ 2555576 h 4558419"/>
              <a:gd name="connsiteX13" fmla="*/ 913431 w 915065"/>
              <a:gd name="connsiteY13" fmla="*/ 2554955 h 4558419"/>
              <a:gd name="connsiteX14" fmla="*/ 504752 w 915065"/>
              <a:gd name="connsiteY14" fmla="*/ 1453740 h 4558419"/>
              <a:gd name="connsiteX15" fmla="*/ 504752 w 915065"/>
              <a:gd name="connsiteY15" fmla="*/ 436294 h 4558419"/>
              <a:gd name="connsiteX16" fmla="*/ 673002 w 915065"/>
              <a:gd name="connsiteY16" fmla="*/ 436294 h 4558419"/>
              <a:gd name="connsiteX17" fmla="*/ 336502 w 915065"/>
              <a:gd name="connsiteY17" fmla="*/ 0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143243 h 4558419"/>
              <a:gd name="connsiteX9" fmla="*/ 573906 w 915065"/>
              <a:gd name="connsiteY9" fmla="*/ 4558419 h 4558419"/>
              <a:gd name="connsiteX10" fmla="*/ 915065 w 915065"/>
              <a:gd name="connsiteY10" fmla="*/ 4558419 h 4558419"/>
              <a:gd name="connsiteX11" fmla="*/ 912436 w 915065"/>
              <a:gd name="connsiteY11" fmla="*/ 2555576 h 4558419"/>
              <a:gd name="connsiteX12" fmla="*/ 913431 w 915065"/>
              <a:gd name="connsiteY12" fmla="*/ 2554955 h 4558419"/>
              <a:gd name="connsiteX13" fmla="*/ 504752 w 915065"/>
              <a:gd name="connsiteY13" fmla="*/ 1453740 h 4558419"/>
              <a:gd name="connsiteX14" fmla="*/ 504752 w 915065"/>
              <a:gd name="connsiteY14" fmla="*/ 436294 h 4558419"/>
              <a:gd name="connsiteX15" fmla="*/ 673002 w 915065"/>
              <a:gd name="connsiteY15" fmla="*/ 436294 h 4558419"/>
              <a:gd name="connsiteX16" fmla="*/ 336502 w 915065"/>
              <a:gd name="connsiteY16" fmla="*/ 0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558419 h 4558419"/>
              <a:gd name="connsiteX9" fmla="*/ 915065 w 915065"/>
              <a:gd name="connsiteY9" fmla="*/ 4558419 h 4558419"/>
              <a:gd name="connsiteX10" fmla="*/ 912436 w 915065"/>
              <a:gd name="connsiteY10" fmla="*/ 2555576 h 4558419"/>
              <a:gd name="connsiteX11" fmla="*/ 913431 w 915065"/>
              <a:gd name="connsiteY11" fmla="*/ 2554955 h 4558419"/>
              <a:gd name="connsiteX12" fmla="*/ 504752 w 915065"/>
              <a:gd name="connsiteY12" fmla="*/ 1453740 h 4558419"/>
              <a:gd name="connsiteX13" fmla="*/ 504752 w 915065"/>
              <a:gd name="connsiteY13" fmla="*/ 436294 h 4558419"/>
              <a:gd name="connsiteX14" fmla="*/ 673002 w 915065"/>
              <a:gd name="connsiteY14" fmla="*/ 436294 h 4558419"/>
              <a:gd name="connsiteX15" fmla="*/ 336502 w 915065"/>
              <a:gd name="connsiteY15" fmla="*/ 0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3906 w 915065"/>
              <a:gd name="connsiteY7" fmla="*/ 4558419 h 4558419"/>
              <a:gd name="connsiteX8" fmla="*/ 915065 w 915065"/>
              <a:gd name="connsiteY8" fmla="*/ 4558419 h 4558419"/>
              <a:gd name="connsiteX9" fmla="*/ 912436 w 915065"/>
              <a:gd name="connsiteY9" fmla="*/ 2555576 h 4558419"/>
              <a:gd name="connsiteX10" fmla="*/ 913431 w 915065"/>
              <a:gd name="connsiteY10" fmla="*/ 2554955 h 4558419"/>
              <a:gd name="connsiteX11" fmla="*/ 504752 w 915065"/>
              <a:gd name="connsiteY11" fmla="*/ 1453740 h 4558419"/>
              <a:gd name="connsiteX12" fmla="*/ 504752 w 915065"/>
              <a:gd name="connsiteY12" fmla="*/ 436294 h 4558419"/>
              <a:gd name="connsiteX13" fmla="*/ 673002 w 915065"/>
              <a:gd name="connsiteY13" fmla="*/ 436294 h 4558419"/>
              <a:gd name="connsiteX14" fmla="*/ 336502 w 915065"/>
              <a:gd name="connsiteY14" fmla="*/ 0 h 4558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5065" h="4558419">
                <a:moveTo>
                  <a:pt x="336502" y="0"/>
                </a:moveTo>
                <a:lnTo>
                  <a:pt x="0" y="436294"/>
                </a:lnTo>
                <a:lnTo>
                  <a:pt x="168251" y="436294"/>
                </a:lnTo>
                <a:lnTo>
                  <a:pt x="168251" y="1553354"/>
                </a:lnTo>
                <a:lnTo>
                  <a:pt x="169517" y="1553354"/>
                </a:lnTo>
                <a:lnTo>
                  <a:pt x="168625" y="1553911"/>
                </a:lnTo>
                <a:lnTo>
                  <a:pt x="576049" y="2651747"/>
                </a:lnTo>
                <a:cubicBezTo>
                  <a:pt x="575335" y="3287304"/>
                  <a:pt x="574620" y="3922862"/>
                  <a:pt x="573906" y="4558419"/>
                </a:cubicBezTo>
                <a:lnTo>
                  <a:pt x="915065" y="4558419"/>
                </a:lnTo>
                <a:cubicBezTo>
                  <a:pt x="914189" y="3890805"/>
                  <a:pt x="913312" y="3223190"/>
                  <a:pt x="912436" y="2555576"/>
                </a:cubicBezTo>
                <a:lnTo>
                  <a:pt x="913431" y="2554955"/>
                </a:lnTo>
                <a:lnTo>
                  <a:pt x="504752" y="1453740"/>
                </a:lnTo>
                <a:lnTo>
                  <a:pt x="504752" y="436294"/>
                </a:lnTo>
                <a:lnTo>
                  <a:pt x="673002" y="436294"/>
                </a:lnTo>
                <a:lnTo>
                  <a:pt x="336502"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solidFill>
                <a:schemeClr val="bg1"/>
              </a:solidFill>
            </a:endParaRPr>
          </a:p>
        </p:txBody>
      </p:sp>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a:t>Role of LLMs</a:t>
            </a:r>
          </a:p>
        </p:txBody>
      </p:sp>
      <p:grpSp>
        <p:nvGrpSpPr>
          <p:cNvPr id="3" name="그룹 2">
            <a:extLst>
              <a:ext uri="{FF2B5EF4-FFF2-40B4-BE49-F238E27FC236}">
                <a16:creationId xmlns:a16="http://schemas.microsoft.com/office/drawing/2014/main" id="{061ABAA0-C14F-43ED-900C-0C0B58C88900}"/>
              </a:ext>
            </a:extLst>
          </p:cNvPr>
          <p:cNvGrpSpPr/>
          <p:nvPr/>
        </p:nvGrpSpPr>
        <p:grpSpPr>
          <a:xfrm>
            <a:off x="7083866" y="3429000"/>
            <a:ext cx="936670" cy="3637337"/>
            <a:chOff x="7761681" y="3429000"/>
            <a:chExt cx="936670" cy="3637337"/>
          </a:xfrm>
        </p:grpSpPr>
        <p:sp>
          <p:nvSpPr>
            <p:cNvPr id="4" name="화살표: 위쪽 3">
              <a:extLst>
                <a:ext uri="{FF2B5EF4-FFF2-40B4-BE49-F238E27FC236}">
                  <a16:creationId xmlns:a16="http://schemas.microsoft.com/office/drawing/2014/main" id="{CEAEF2B5-0E47-473B-B007-17DBBE50BCAB}"/>
                </a:ext>
              </a:extLst>
            </p:cNvPr>
            <p:cNvSpPr/>
            <p:nvPr/>
          </p:nvSpPr>
          <p:spPr>
            <a:xfrm flipH="1">
              <a:off x="7919828" y="3429000"/>
              <a:ext cx="778523" cy="1865227"/>
            </a:xfrm>
            <a:prstGeom prst="up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5" name="자유형: 도형 4">
              <a:extLst>
                <a:ext uri="{FF2B5EF4-FFF2-40B4-BE49-F238E27FC236}">
                  <a16:creationId xmlns:a16="http://schemas.microsoft.com/office/drawing/2014/main" id="{6D61DD27-D4E3-42E3-A864-B3ADFDDBAE8A}"/>
                </a:ext>
              </a:extLst>
            </p:cNvPr>
            <p:cNvSpPr/>
            <p:nvPr/>
          </p:nvSpPr>
          <p:spPr>
            <a:xfrm rot="1355746" flipH="1">
              <a:off x="7761681" y="5131359"/>
              <a:ext cx="389129" cy="1934978"/>
            </a:xfrm>
            <a:custGeom>
              <a:avLst/>
              <a:gdLst>
                <a:gd name="connsiteX0" fmla="*/ 389129 w 389129"/>
                <a:gd name="connsiteY0" fmla="*/ 0 h 1585938"/>
                <a:gd name="connsiteX1" fmla="*/ 0 w 389129"/>
                <a:gd name="connsiteY1" fmla="*/ 0 h 1585938"/>
                <a:gd name="connsiteX2" fmla="*/ 0 w 389129"/>
                <a:gd name="connsiteY2" fmla="*/ 1430717 h 1585938"/>
                <a:gd name="connsiteX3" fmla="*/ 372971 w 389129"/>
                <a:gd name="connsiteY3" fmla="*/ 1585938 h 1585938"/>
                <a:gd name="connsiteX4" fmla="*/ 389129 w 389129"/>
                <a:gd name="connsiteY4" fmla="*/ 1585938 h 1585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29" h="1585938">
                  <a:moveTo>
                    <a:pt x="389129" y="0"/>
                  </a:moveTo>
                  <a:lnTo>
                    <a:pt x="0" y="0"/>
                  </a:lnTo>
                  <a:lnTo>
                    <a:pt x="0" y="1430717"/>
                  </a:lnTo>
                  <a:lnTo>
                    <a:pt x="372971" y="1585938"/>
                  </a:lnTo>
                  <a:lnTo>
                    <a:pt x="389129" y="1585938"/>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solidFill>
                  <a:schemeClr val="bg1"/>
                </a:solidFill>
              </a:endParaRPr>
            </a:p>
          </p:txBody>
        </p:sp>
      </p:grpSp>
      <p:grpSp>
        <p:nvGrpSpPr>
          <p:cNvPr id="6" name="그룹 5">
            <a:extLst>
              <a:ext uri="{FF2B5EF4-FFF2-40B4-BE49-F238E27FC236}">
                <a16:creationId xmlns:a16="http://schemas.microsoft.com/office/drawing/2014/main" id="{93051BA0-B83A-4A9D-9B5D-8044C1B96A50}"/>
              </a:ext>
            </a:extLst>
          </p:cNvPr>
          <p:cNvGrpSpPr/>
          <p:nvPr/>
        </p:nvGrpSpPr>
        <p:grpSpPr>
          <a:xfrm flipH="1">
            <a:off x="5028504" y="2619194"/>
            <a:ext cx="1594169" cy="4238806"/>
            <a:chOff x="5557677" y="2038349"/>
            <a:chExt cx="1594169" cy="4238806"/>
          </a:xfrm>
          <a:solidFill>
            <a:schemeClr val="accent2"/>
          </a:solidFill>
        </p:grpSpPr>
        <p:sp>
          <p:nvSpPr>
            <p:cNvPr id="7" name="화살표: 위쪽 6">
              <a:extLst>
                <a:ext uri="{FF2B5EF4-FFF2-40B4-BE49-F238E27FC236}">
                  <a16:creationId xmlns:a16="http://schemas.microsoft.com/office/drawing/2014/main" id="{7CD3959F-0793-40B8-A662-64949C2E6650}"/>
                </a:ext>
              </a:extLst>
            </p:cNvPr>
            <p:cNvSpPr/>
            <p:nvPr/>
          </p:nvSpPr>
          <p:spPr>
            <a:xfrm>
              <a:off x="5557677" y="2038349"/>
              <a:ext cx="778523" cy="1966913"/>
            </a:xfrm>
            <a:prstGeom prst="up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8" name="직사각형 7">
              <a:extLst>
                <a:ext uri="{FF2B5EF4-FFF2-40B4-BE49-F238E27FC236}">
                  <a16:creationId xmlns:a16="http://schemas.microsoft.com/office/drawing/2014/main" id="{9AD562CD-9BA3-4C59-B935-BD3887F5B975}"/>
                </a:ext>
              </a:extLst>
            </p:cNvPr>
            <p:cNvSpPr/>
            <p:nvPr/>
          </p:nvSpPr>
          <p:spPr>
            <a:xfrm>
              <a:off x="6762717" y="5022469"/>
              <a:ext cx="389129" cy="12546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9" name="직사각형 8">
              <a:extLst>
                <a:ext uri="{FF2B5EF4-FFF2-40B4-BE49-F238E27FC236}">
                  <a16:creationId xmlns:a16="http://schemas.microsoft.com/office/drawing/2014/main" id="{7A0B39A9-ABB1-4C66-A683-F6B12EDE5984}"/>
                </a:ext>
              </a:extLst>
            </p:cNvPr>
            <p:cNvSpPr/>
            <p:nvPr/>
          </p:nvSpPr>
          <p:spPr>
            <a:xfrm rot="19135019">
              <a:off x="6257280" y="3667039"/>
              <a:ext cx="389129" cy="16926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grpSp>
      <p:grpSp>
        <p:nvGrpSpPr>
          <p:cNvPr id="10" name="그룹 9">
            <a:extLst>
              <a:ext uri="{FF2B5EF4-FFF2-40B4-BE49-F238E27FC236}">
                <a16:creationId xmlns:a16="http://schemas.microsoft.com/office/drawing/2014/main" id="{D727A254-45FD-481C-823D-DD14CAD4AD85}"/>
              </a:ext>
            </a:extLst>
          </p:cNvPr>
          <p:cNvGrpSpPr/>
          <p:nvPr/>
        </p:nvGrpSpPr>
        <p:grpSpPr>
          <a:xfrm>
            <a:off x="4879862" y="2038349"/>
            <a:ext cx="1497990" cy="4819650"/>
            <a:chOff x="5557677" y="2038349"/>
            <a:chExt cx="1497990" cy="4819650"/>
          </a:xfrm>
        </p:grpSpPr>
        <p:sp>
          <p:nvSpPr>
            <p:cNvPr id="11" name="화살표: 위쪽 10">
              <a:extLst>
                <a:ext uri="{FF2B5EF4-FFF2-40B4-BE49-F238E27FC236}">
                  <a16:creationId xmlns:a16="http://schemas.microsoft.com/office/drawing/2014/main" id="{B354A6F7-23F8-4041-8876-FFB4906F1002}"/>
                </a:ext>
              </a:extLst>
            </p:cNvPr>
            <p:cNvSpPr/>
            <p:nvPr/>
          </p:nvSpPr>
          <p:spPr>
            <a:xfrm>
              <a:off x="5557677" y="2038349"/>
              <a:ext cx="1104900" cy="1966913"/>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직사각형 11">
              <a:extLst>
                <a:ext uri="{FF2B5EF4-FFF2-40B4-BE49-F238E27FC236}">
                  <a16:creationId xmlns:a16="http://schemas.microsoft.com/office/drawing/2014/main" id="{57E34867-5058-49F3-B2C9-3C724403AB35}"/>
                </a:ext>
              </a:extLst>
            </p:cNvPr>
            <p:cNvSpPr/>
            <p:nvPr/>
          </p:nvSpPr>
          <p:spPr>
            <a:xfrm>
              <a:off x="6503405" y="5271554"/>
              <a:ext cx="552262" cy="15864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3" name="직사각형 12">
              <a:extLst>
                <a:ext uri="{FF2B5EF4-FFF2-40B4-BE49-F238E27FC236}">
                  <a16:creationId xmlns:a16="http://schemas.microsoft.com/office/drawing/2014/main" id="{1756D22C-B19F-4721-84EF-5F05A91EB7D4}"/>
                </a:ext>
              </a:extLst>
            </p:cNvPr>
            <p:cNvSpPr/>
            <p:nvPr/>
          </p:nvSpPr>
          <p:spPr>
            <a:xfrm rot="20058263">
              <a:off x="6169777" y="3803548"/>
              <a:ext cx="552262" cy="16723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grpSp>
      <p:sp>
        <p:nvSpPr>
          <p:cNvPr id="69" name="자유형: 도형 68">
            <a:extLst>
              <a:ext uri="{FF2B5EF4-FFF2-40B4-BE49-F238E27FC236}">
                <a16:creationId xmlns:a16="http://schemas.microsoft.com/office/drawing/2014/main" id="{9ABA789D-E8DB-4645-AE09-D5DD9DEE5E77}"/>
              </a:ext>
            </a:extLst>
          </p:cNvPr>
          <p:cNvSpPr/>
          <p:nvPr/>
        </p:nvSpPr>
        <p:spPr>
          <a:xfrm flipH="1">
            <a:off x="6511377" y="2299580"/>
            <a:ext cx="915065" cy="4558419"/>
          </a:xfrm>
          <a:custGeom>
            <a:avLst/>
            <a:gdLst>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143243 h 4558419"/>
              <a:gd name="connsiteX9" fmla="*/ 573906 w 915065"/>
              <a:gd name="connsiteY9" fmla="*/ 4558419 h 4558419"/>
              <a:gd name="connsiteX10" fmla="*/ 915065 w 915065"/>
              <a:gd name="connsiteY10" fmla="*/ 4558419 h 4558419"/>
              <a:gd name="connsiteX11" fmla="*/ 915065 w 915065"/>
              <a:gd name="connsiteY11" fmla="*/ 4143243 h 4558419"/>
              <a:gd name="connsiteX12" fmla="*/ 912436 w 915065"/>
              <a:gd name="connsiteY12" fmla="*/ 4143243 h 4558419"/>
              <a:gd name="connsiteX13" fmla="*/ 912436 w 915065"/>
              <a:gd name="connsiteY13" fmla="*/ 2555576 h 4558419"/>
              <a:gd name="connsiteX14" fmla="*/ 913431 w 915065"/>
              <a:gd name="connsiteY14" fmla="*/ 2554955 h 4558419"/>
              <a:gd name="connsiteX15" fmla="*/ 504752 w 915065"/>
              <a:gd name="connsiteY15" fmla="*/ 1453740 h 4558419"/>
              <a:gd name="connsiteX16" fmla="*/ 504752 w 915065"/>
              <a:gd name="connsiteY16" fmla="*/ 436294 h 4558419"/>
              <a:gd name="connsiteX17" fmla="*/ 673002 w 915065"/>
              <a:gd name="connsiteY17" fmla="*/ 436294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143243 h 4558419"/>
              <a:gd name="connsiteX9" fmla="*/ 573906 w 915065"/>
              <a:gd name="connsiteY9" fmla="*/ 4558419 h 4558419"/>
              <a:gd name="connsiteX10" fmla="*/ 915065 w 915065"/>
              <a:gd name="connsiteY10" fmla="*/ 4558419 h 4558419"/>
              <a:gd name="connsiteX11" fmla="*/ 915065 w 915065"/>
              <a:gd name="connsiteY11" fmla="*/ 4143243 h 4558419"/>
              <a:gd name="connsiteX12" fmla="*/ 912436 w 915065"/>
              <a:gd name="connsiteY12" fmla="*/ 2555576 h 4558419"/>
              <a:gd name="connsiteX13" fmla="*/ 913431 w 915065"/>
              <a:gd name="connsiteY13" fmla="*/ 2554955 h 4558419"/>
              <a:gd name="connsiteX14" fmla="*/ 504752 w 915065"/>
              <a:gd name="connsiteY14" fmla="*/ 1453740 h 4558419"/>
              <a:gd name="connsiteX15" fmla="*/ 504752 w 915065"/>
              <a:gd name="connsiteY15" fmla="*/ 436294 h 4558419"/>
              <a:gd name="connsiteX16" fmla="*/ 673002 w 915065"/>
              <a:gd name="connsiteY16" fmla="*/ 436294 h 4558419"/>
              <a:gd name="connsiteX17" fmla="*/ 336502 w 915065"/>
              <a:gd name="connsiteY17" fmla="*/ 0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143243 h 4558419"/>
              <a:gd name="connsiteX9" fmla="*/ 573906 w 915065"/>
              <a:gd name="connsiteY9" fmla="*/ 4558419 h 4558419"/>
              <a:gd name="connsiteX10" fmla="*/ 915065 w 915065"/>
              <a:gd name="connsiteY10" fmla="*/ 4558419 h 4558419"/>
              <a:gd name="connsiteX11" fmla="*/ 912436 w 915065"/>
              <a:gd name="connsiteY11" fmla="*/ 2555576 h 4558419"/>
              <a:gd name="connsiteX12" fmla="*/ 913431 w 915065"/>
              <a:gd name="connsiteY12" fmla="*/ 2554955 h 4558419"/>
              <a:gd name="connsiteX13" fmla="*/ 504752 w 915065"/>
              <a:gd name="connsiteY13" fmla="*/ 1453740 h 4558419"/>
              <a:gd name="connsiteX14" fmla="*/ 504752 w 915065"/>
              <a:gd name="connsiteY14" fmla="*/ 436294 h 4558419"/>
              <a:gd name="connsiteX15" fmla="*/ 673002 w 915065"/>
              <a:gd name="connsiteY15" fmla="*/ 436294 h 4558419"/>
              <a:gd name="connsiteX16" fmla="*/ 336502 w 915065"/>
              <a:gd name="connsiteY16" fmla="*/ 0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558419 h 4558419"/>
              <a:gd name="connsiteX9" fmla="*/ 915065 w 915065"/>
              <a:gd name="connsiteY9" fmla="*/ 4558419 h 4558419"/>
              <a:gd name="connsiteX10" fmla="*/ 912436 w 915065"/>
              <a:gd name="connsiteY10" fmla="*/ 2555576 h 4558419"/>
              <a:gd name="connsiteX11" fmla="*/ 913431 w 915065"/>
              <a:gd name="connsiteY11" fmla="*/ 2554955 h 4558419"/>
              <a:gd name="connsiteX12" fmla="*/ 504752 w 915065"/>
              <a:gd name="connsiteY12" fmla="*/ 1453740 h 4558419"/>
              <a:gd name="connsiteX13" fmla="*/ 504752 w 915065"/>
              <a:gd name="connsiteY13" fmla="*/ 436294 h 4558419"/>
              <a:gd name="connsiteX14" fmla="*/ 673002 w 915065"/>
              <a:gd name="connsiteY14" fmla="*/ 436294 h 4558419"/>
              <a:gd name="connsiteX15" fmla="*/ 336502 w 915065"/>
              <a:gd name="connsiteY15" fmla="*/ 0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3906 w 915065"/>
              <a:gd name="connsiteY7" fmla="*/ 4558419 h 4558419"/>
              <a:gd name="connsiteX8" fmla="*/ 915065 w 915065"/>
              <a:gd name="connsiteY8" fmla="*/ 4558419 h 4558419"/>
              <a:gd name="connsiteX9" fmla="*/ 912436 w 915065"/>
              <a:gd name="connsiteY9" fmla="*/ 2555576 h 4558419"/>
              <a:gd name="connsiteX10" fmla="*/ 913431 w 915065"/>
              <a:gd name="connsiteY10" fmla="*/ 2554955 h 4558419"/>
              <a:gd name="connsiteX11" fmla="*/ 504752 w 915065"/>
              <a:gd name="connsiteY11" fmla="*/ 1453740 h 4558419"/>
              <a:gd name="connsiteX12" fmla="*/ 504752 w 915065"/>
              <a:gd name="connsiteY12" fmla="*/ 436294 h 4558419"/>
              <a:gd name="connsiteX13" fmla="*/ 673002 w 915065"/>
              <a:gd name="connsiteY13" fmla="*/ 436294 h 4558419"/>
              <a:gd name="connsiteX14" fmla="*/ 336502 w 915065"/>
              <a:gd name="connsiteY14" fmla="*/ 0 h 4558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5065" h="4558419">
                <a:moveTo>
                  <a:pt x="336502" y="0"/>
                </a:moveTo>
                <a:lnTo>
                  <a:pt x="0" y="436294"/>
                </a:lnTo>
                <a:lnTo>
                  <a:pt x="168251" y="436294"/>
                </a:lnTo>
                <a:lnTo>
                  <a:pt x="168251" y="1553354"/>
                </a:lnTo>
                <a:lnTo>
                  <a:pt x="169517" y="1553354"/>
                </a:lnTo>
                <a:lnTo>
                  <a:pt x="168625" y="1553911"/>
                </a:lnTo>
                <a:lnTo>
                  <a:pt x="576049" y="2651747"/>
                </a:lnTo>
                <a:cubicBezTo>
                  <a:pt x="575335" y="3287304"/>
                  <a:pt x="574620" y="3922862"/>
                  <a:pt x="573906" y="4558419"/>
                </a:cubicBezTo>
                <a:lnTo>
                  <a:pt x="915065" y="4558419"/>
                </a:lnTo>
                <a:cubicBezTo>
                  <a:pt x="914189" y="3890805"/>
                  <a:pt x="913312" y="3223190"/>
                  <a:pt x="912436" y="2555576"/>
                </a:cubicBezTo>
                <a:lnTo>
                  <a:pt x="913431" y="2554955"/>
                </a:lnTo>
                <a:lnTo>
                  <a:pt x="504752" y="1453740"/>
                </a:lnTo>
                <a:lnTo>
                  <a:pt x="504752" y="436294"/>
                </a:lnTo>
                <a:lnTo>
                  <a:pt x="673002" y="436294"/>
                </a:lnTo>
                <a:lnTo>
                  <a:pt x="336502"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solidFill>
                <a:schemeClr val="bg1"/>
              </a:solidFill>
            </a:endParaRPr>
          </a:p>
        </p:txBody>
      </p:sp>
      <p:grpSp>
        <p:nvGrpSpPr>
          <p:cNvPr id="17" name="Group 13">
            <a:extLst>
              <a:ext uri="{FF2B5EF4-FFF2-40B4-BE49-F238E27FC236}">
                <a16:creationId xmlns:a16="http://schemas.microsoft.com/office/drawing/2014/main" id="{8C52FE21-FCD1-48B2-B6A8-B37C68E87195}"/>
              </a:ext>
            </a:extLst>
          </p:cNvPr>
          <p:cNvGrpSpPr/>
          <p:nvPr/>
        </p:nvGrpSpPr>
        <p:grpSpPr>
          <a:xfrm>
            <a:off x="9322738" y="3320122"/>
            <a:ext cx="2207353" cy="461665"/>
            <a:chOff x="9023213" y="2881111"/>
            <a:chExt cx="2207353" cy="461665"/>
          </a:xfrm>
        </p:grpSpPr>
        <p:grpSp>
          <p:nvGrpSpPr>
            <p:cNvPr id="18" name="Group 66">
              <a:extLst>
                <a:ext uri="{FF2B5EF4-FFF2-40B4-BE49-F238E27FC236}">
                  <a16:creationId xmlns:a16="http://schemas.microsoft.com/office/drawing/2014/main" id="{EB2DABB9-5A62-41BE-8648-6BC617A56745}"/>
                </a:ext>
              </a:extLst>
            </p:cNvPr>
            <p:cNvGrpSpPr/>
            <p:nvPr/>
          </p:nvGrpSpPr>
          <p:grpSpPr>
            <a:xfrm>
              <a:off x="9023213" y="2996321"/>
              <a:ext cx="276999" cy="276999"/>
              <a:chOff x="2411760" y="3606832"/>
              <a:chExt cx="206152" cy="206152"/>
            </a:xfrm>
          </p:grpSpPr>
          <p:sp>
            <p:nvSpPr>
              <p:cNvPr id="23" name="Oval 72">
                <a:extLst>
                  <a:ext uri="{FF2B5EF4-FFF2-40B4-BE49-F238E27FC236}">
                    <a16:creationId xmlns:a16="http://schemas.microsoft.com/office/drawing/2014/main" id="{97FB4FEF-D2A9-449E-B89F-B03D56E1A1B7}"/>
                  </a:ext>
                </a:extLst>
              </p:cNvPr>
              <p:cNvSpPr/>
              <p:nvPr/>
            </p:nvSpPr>
            <p:spPr>
              <a:xfrm>
                <a:off x="2411760" y="3606832"/>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bg1"/>
                  </a:solidFill>
                  <a:ea typeface="+mj-ea"/>
                </a:endParaRPr>
              </a:p>
            </p:txBody>
          </p:sp>
          <p:sp>
            <p:nvSpPr>
              <p:cNvPr id="24" name="Chevron 60">
                <a:extLst>
                  <a:ext uri="{FF2B5EF4-FFF2-40B4-BE49-F238E27FC236}">
                    <a16:creationId xmlns:a16="http://schemas.microsoft.com/office/drawing/2014/main" id="{30142DCF-BA13-4865-969D-602554C1CEB6}"/>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bg1"/>
                  </a:solidFill>
                  <a:ea typeface="+mj-ea"/>
                </a:endParaRPr>
              </a:p>
            </p:txBody>
          </p:sp>
        </p:grpSp>
        <p:sp>
          <p:nvSpPr>
            <p:cNvPr id="20" name="TextBox 19">
              <a:extLst>
                <a:ext uri="{FF2B5EF4-FFF2-40B4-BE49-F238E27FC236}">
                  <a16:creationId xmlns:a16="http://schemas.microsoft.com/office/drawing/2014/main" id="{6099FE08-39F4-4F49-BB00-A1DF1A6210C3}"/>
                </a:ext>
              </a:extLst>
            </p:cNvPr>
            <p:cNvSpPr txBox="1"/>
            <p:nvPr/>
          </p:nvSpPr>
          <p:spPr>
            <a:xfrm>
              <a:off x="9300212" y="2881111"/>
              <a:ext cx="1930354" cy="461665"/>
            </a:xfrm>
            <a:prstGeom prst="rect">
              <a:avLst/>
            </a:prstGeom>
            <a:noFill/>
          </p:spPr>
          <p:txBody>
            <a:bodyPr wrap="square" rtlCol="0" anchor="ctr">
              <a:spAutoFit/>
            </a:bodyPr>
            <a:lstStyle/>
            <a:p>
              <a:r>
                <a:rPr lang="en-US" altLang="ko-KR" sz="1200" dirty="0">
                  <a:solidFill>
                    <a:schemeClr val="bg1"/>
                  </a:solidFill>
                  <a:ea typeface="+mj-ea"/>
                  <a:cs typeface="Arial" pitchFamily="34" charset="0"/>
                </a:rPr>
                <a:t>Each pattern is validated against real data</a:t>
              </a:r>
              <a:endParaRPr lang="en-US" altLang="ko-KR" sz="1200" dirty="0">
                <a:solidFill>
                  <a:schemeClr val="bg1"/>
                </a:solidFill>
                <a:ea typeface="+mj-ea"/>
              </a:endParaRPr>
            </a:p>
          </p:txBody>
        </p:sp>
      </p:grpSp>
      <p:grpSp>
        <p:nvGrpSpPr>
          <p:cNvPr id="25" name="Group 91">
            <a:extLst>
              <a:ext uri="{FF2B5EF4-FFF2-40B4-BE49-F238E27FC236}">
                <a16:creationId xmlns:a16="http://schemas.microsoft.com/office/drawing/2014/main" id="{00A178E6-E13C-4E5F-818A-03231BAEBA73}"/>
              </a:ext>
            </a:extLst>
          </p:cNvPr>
          <p:cNvGrpSpPr/>
          <p:nvPr/>
        </p:nvGrpSpPr>
        <p:grpSpPr>
          <a:xfrm flipH="1">
            <a:off x="661910" y="3320122"/>
            <a:ext cx="2207353" cy="461665"/>
            <a:chOff x="9023213" y="2881111"/>
            <a:chExt cx="2207353" cy="461665"/>
          </a:xfrm>
        </p:grpSpPr>
        <p:grpSp>
          <p:nvGrpSpPr>
            <p:cNvPr id="26" name="Group 108">
              <a:extLst>
                <a:ext uri="{FF2B5EF4-FFF2-40B4-BE49-F238E27FC236}">
                  <a16:creationId xmlns:a16="http://schemas.microsoft.com/office/drawing/2014/main" id="{054F19FB-A72B-40C4-9DC6-39C480BBD22C}"/>
                </a:ext>
              </a:extLst>
            </p:cNvPr>
            <p:cNvGrpSpPr/>
            <p:nvPr/>
          </p:nvGrpSpPr>
          <p:grpSpPr>
            <a:xfrm>
              <a:off x="9023213" y="2996321"/>
              <a:ext cx="276999" cy="276999"/>
              <a:chOff x="2411760" y="3606832"/>
              <a:chExt cx="206152" cy="206152"/>
            </a:xfrm>
          </p:grpSpPr>
          <p:sp>
            <p:nvSpPr>
              <p:cNvPr id="31" name="Oval 113">
                <a:extLst>
                  <a:ext uri="{FF2B5EF4-FFF2-40B4-BE49-F238E27FC236}">
                    <a16:creationId xmlns:a16="http://schemas.microsoft.com/office/drawing/2014/main" id="{F6D7BFAB-E04C-40F8-BF77-BFA7D47B8C27}"/>
                  </a:ext>
                </a:extLst>
              </p:cNvPr>
              <p:cNvSpPr/>
              <p:nvPr/>
            </p:nvSpPr>
            <p:spPr>
              <a:xfrm>
                <a:off x="2411760" y="3606832"/>
                <a:ext cx="206152" cy="20615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bg1"/>
                  </a:solidFill>
                  <a:ea typeface="+mj-ea"/>
                </a:endParaRPr>
              </a:p>
            </p:txBody>
          </p:sp>
          <p:sp>
            <p:nvSpPr>
              <p:cNvPr id="32" name="Chevron 60">
                <a:extLst>
                  <a:ext uri="{FF2B5EF4-FFF2-40B4-BE49-F238E27FC236}">
                    <a16:creationId xmlns:a16="http://schemas.microsoft.com/office/drawing/2014/main" id="{D847403E-325A-4240-8DBD-84E2AD1A3BC2}"/>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bg1"/>
                  </a:solidFill>
                  <a:ea typeface="+mj-ea"/>
                </a:endParaRPr>
              </a:p>
            </p:txBody>
          </p:sp>
        </p:grpSp>
        <p:sp>
          <p:nvSpPr>
            <p:cNvPr id="28" name="TextBox 27">
              <a:extLst>
                <a:ext uri="{FF2B5EF4-FFF2-40B4-BE49-F238E27FC236}">
                  <a16:creationId xmlns:a16="http://schemas.microsoft.com/office/drawing/2014/main" id="{42D3C28B-EF2D-475F-BD5A-B72DCB3EF58D}"/>
                </a:ext>
              </a:extLst>
            </p:cNvPr>
            <p:cNvSpPr txBox="1"/>
            <p:nvPr/>
          </p:nvSpPr>
          <p:spPr>
            <a:xfrm>
              <a:off x="9300212" y="2881111"/>
              <a:ext cx="1930354" cy="461665"/>
            </a:xfrm>
            <a:prstGeom prst="rect">
              <a:avLst/>
            </a:prstGeom>
            <a:noFill/>
          </p:spPr>
          <p:txBody>
            <a:bodyPr wrap="square" rtlCol="0" anchor="ctr">
              <a:spAutoFit/>
            </a:bodyPr>
            <a:lstStyle/>
            <a:p>
              <a:pPr algn="r"/>
              <a:r>
                <a:rPr lang="en-US" altLang="ko-KR" sz="1200" dirty="0">
                  <a:solidFill>
                    <a:schemeClr val="bg1"/>
                  </a:solidFill>
                  <a:ea typeface="+mj-ea"/>
                  <a:cs typeface="Arial" pitchFamily="34" charset="0"/>
                </a:rPr>
                <a:t>Detected potential patterns in sequences</a:t>
              </a:r>
              <a:endParaRPr lang="en-US" altLang="ko-KR" sz="1200" dirty="0">
                <a:solidFill>
                  <a:schemeClr val="bg1"/>
                </a:solidFill>
                <a:ea typeface="+mj-ea"/>
              </a:endParaRPr>
            </a:p>
          </p:txBody>
        </p:sp>
      </p:grpSp>
      <p:grpSp>
        <p:nvGrpSpPr>
          <p:cNvPr id="33" name="Group 74">
            <a:extLst>
              <a:ext uri="{FF2B5EF4-FFF2-40B4-BE49-F238E27FC236}">
                <a16:creationId xmlns:a16="http://schemas.microsoft.com/office/drawing/2014/main" id="{AB2529AB-2A55-44F7-88CE-533220D8662C}"/>
              </a:ext>
            </a:extLst>
          </p:cNvPr>
          <p:cNvGrpSpPr/>
          <p:nvPr/>
        </p:nvGrpSpPr>
        <p:grpSpPr>
          <a:xfrm>
            <a:off x="8531404" y="1580780"/>
            <a:ext cx="2207353" cy="461665"/>
            <a:chOff x="9023213" y="2881111"/>
            <a:chExt cx="2207353" cy="461665"/>
          </a:xfrm>
        </p:grpSpPr>
        <p:grpSp>
          <p:nvGrpSpPr>
            <p:cNvPr id="34" name="Group 75">
              <a:extLst>
                <a:ext uri="{FF2B5EF4-FFF2-40B4-BE49-F238E27FC236}">
                  <a16:creationId xmlns:a16="http://schemas.microsoft.com/office/drawing/2014/main" id="{9F0541B6-0B8D-4BB3-9BE4-5A6D56D1147F}"/>
                </a:ext>
              </a:extLst>
            </p:cNvPr>
            <p:cNvGrpSpPr/>
            <p:nvPr/>
          </p:nvGrpSpPr>
          <p:grpSpPr>
            <a:xfrm>
              <a:off x="9023213" y="2996321"/>
              <a:ext cx="276999" cy="276999"/>
              <a:chOff x="2411760" y="3606832"/>
              <a:chExt cx="206152" cy="206152"/>
            </a:xfrm>
          </p:grpSpPr>
          <p:sp>
            <p:nvSpPr>
              <p:cNvPr id="39" name="Oval 80">
                <a:extLst>
                  <a:ext uri="{FF2B5EF4-FFF2-40B4-BE49-F238E27FC236}">
                    <a16:creationId xmlns:a16="http://schemas.microsoft.com/office/drawing/2014/main" id="{E188F42E-BACA-4C07-B441-1C9A8F958976}"/>
                  </a:ext>
                </a:extLst>
              </p:cNvPr>
              <p:cNvSpPr/>
              <p:nvPr/>
            </p:nvSpPr>
            <p:spPr>
              <a:xfrm>
                <a:off x="2411760" y="3606832"/>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bg1"/>
                  </a:solidFill>
                  <a:ea typeface="+mj-ea"/>
                </a:endParaRPr>
              </a:p>
            </p:txBody>
          </p:sp>
          <p:sp>
            <p:nvSpPr>
              <p:cNvPr id="40" name="Chevron 60">
                <a:extLst>
                  <a:ext uri="{FF2B5EF4-FFF2-40B4-BE49-F238E27FC236}">
                    <a16:creationId xmlns:a16="http://schemas.microsoft.com/office/drawing/2014/main" id="{1FFDD700-AD94-45E6-949E-73DA000A3E89}"/>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bg1"/>
                  </a:solidFill>
                  <a:ea typeface="+mj-ea"/>
                </a:endParaRPr>
              </a:p>
            </p:txBody>
          </p:sp>
        </p:grpSp>
        <p:sp>
          <p:nvSpPr>
            <p:cNvPr id="36" name="TextBox 35">
              <a:extLst>
                <a:ext uri="{FF2B5EF4-FFF2-40B4-BE49-F238E27FC236}">
                  <a16:creationId xmlns:a16="http://schemas.microsoft.com/office/drawing/2014/main" id="{1C46BEBA-7DEE-40C4-B3F6-4C0A178BE239}"/>
                </a:ext>
              </a:extLst>
            </p:cNvPr>
            <p:cNvSpPr txBox="1"/>
            <p:nvPr/>
          </p:nvSpPr>
          <p:spPr>
            <a:xfrm>
              <a:off x="9300212" y="2881111"/>
              <a:ext cx="1930354" cy="461665"/>
            </a:xfrm>
            <a:prstGeom prst="rect">
              <a:avLst/>
            </a:prstGeom>
            <a:noFill/>
          </p:spPr>
          <p:txBody>
            <a:bodyPr wrap="square" rtlCol="0" anchor="ctr">
              <a:spAutoFit/>
            </a:bodyPr>
            <a:lstStyle/>
            <a:p>
              <a:r>
                <a:rPr lang="en-US" altLang="ko-KR" sz="1200" dirty="0">
                  <a:solidFill>
                    <a:schemeClr val="bg1"/>
                  </a:solidFill>
                  <a:ea typeface="+mj-ea"/>
                  <a:cs typeface="Arial" pitchFamily="34" charset="0"/>
                </a:rPr>
                <a:t>Their output is not directly accepted</a:t>
              </a:r>
              <a:endParaRPr lang="en-US" altLang="ko-KR" sz="1200" dirty="0">
                <a:solidFill>
                  <a:schemeClr val="bg1"/>
                </a:solidFill>
                <a:ea typeface="+mj-ea"/>
              </a:endParaRPr>
            </a:p>
          </p:txBody>
        </p:sp>
      </p:grpSp>
      <p:grpSp>
        <p:nvGrpSpPr>
          <p:cNvPr id="41" name="Group 82">
            <a:extLst>
              <a:ext uri="{FF2B5EF4-FFF2-40B4-BE49-F238E27FC236}">
                <a16:creationId xmlns:a16="http://schemas.microsoft.com/office/drawing/2014/main" id="{882B2A5C-C6EB-4A88-88D9-AADBA529D637}"/>
              </a:ext>
            </a:extLst>
          </p:cNvPr>
          <p:cNvGrpSpPr/>
          <p:nvPr/>
        </p:nvGrpSpPr>
        <p:grpSpPr>
          <a:xfrm>
            <a:off x="8531404" y="5059463"/>
            <a:ext cx="2207353" cy="461665"/>
            <a:chOff x="9023213" y="2881111"/>
            <a:chExt cx="2207353" cy="461665"/>
          </a:xfrm>
        </p:grpSpPr>
        <p:grpSp>
          <p:nvGrpSpPr>
            <p:cNvPr id="42" name="Group 83">
              <a:extLst>
                <a:ext uri="{FF2B5EF4-FFF2-40B4-BE49-F238E27FC236}">
                  <a16:creationId xmlns:a16="http://schemas.microsoft.com/office/drawing/2014/main" id="{58DCD072-3232-4FD3-8D19-18074A68D763}"/>
                </a:ext>
              </a:extLst>
            </p:cNvPr>
            <p:cNvGrpSpPr/>
            <p:nvPr/>
          </p:nvGrpSpPr>
          <p:grpSpPr>
            <a:xfrm>
              <a:off x="9023213" y="2996321"/>
              <a:ext cx="276999" cy="276999"/>
              <a:chOff x="2411760" y="3606832"/>
              <a:chExt cx="206152" cy="206152"/>
            </a:xfrm>
          </p:grpSpPr>
          <p:sp>
            <p:nvSpPr>
              <p:cNvPr id="47" name="Oval 88">
                <a:extLst>
                  <a:ext uri="{FF2B5EF4-FFF2-40B4-BE49-F238E27FC236}">
                    <a16:creationId xmlns:a16="http://schemas.microsoft.com/office/drawing/2014/main" id="{CC5B4F28-D5EF-48F5-85EE-CE12E4F46051}"/>
                  </a:ext>
                </a:extLst>
              </p:cNvPr>
              <p:cNvSpPr/>
              <p:nvPr/>
            </p:nvSpPr>
            <p:spPr>
              <a:xfrm>
                <a:off x="2411760" y="3606832"/>
                <a:ext cx="206152" cy="20615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bg1"/>
                  </a:solidFill>
                  <a:ea typeface="+mj-ea"/>
                </a:endParaRPr>
              </a:p>
            </p:txBody>
          </p:sp>
          <p:sp>
            <p:nvSpPr>
              <p:cNvPr id="48" name="Chevron 60">
                <a:extLst>
                  <a:ext uri="{FF2B5EF4-FFF2-40B4-BE49-F238E27FC236}">
                    <a16:creationId xmlns:a16="http://schemas.microsoft.com/office/drawing/2014/main" id="{1931DD9E-9AD3-48FC-B12E-8AFDD8C00768}"/>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bg1"/>
                  </a:solidFill>
                  <a:ea typeface="+mj-ea"/>
                </a:endParaRPr>
              </a:p>
            </p:txBody>
          </p:sp>
        </p:grpSp>
        <p:sp>
          <p:nvSpPr>
            <p:cNvPr id="44" name="TextBox 43">
              <a:extLst>
                <a:ext uri="{FF2B5EF4-FFF2-40B4-BE49-F238E27FC236}">
                  <a16:creationId xmlns:a16="http://schemas.microsoft.com/office/drawing/2014/main" id="{717C5BF6-471D-4357-9F4B-4805255B752A}"/>
                </a:ext>
              </a:extLst>
            </p:cNvPr>
            <p:cNvSpPr txBox="1"/>
            <p:nvPr/>
          </p:nvSpPr>
          <p:spPr>
            <a:xfrm>
              <a:off x="9300212" y="2881111"/>
              <a:ext cx="1930354" cy="461665"/>
            </a:xfrm>
            <a:prstGeom prst="rect">
              <a:avLst/>
            </a:prstGeom>
            <a:noFill/>
          </p:spPr>
          <p:txBody>
            <a:bodyPr wrap="square" rtlCol="0" anchor="ctr">
              <a:spAutoFit/>
            </a:bodyPr>
            <a:lstStyle/>
            <a:p>
              <a:r>
                <a:rPr lang="en-US" altLang="ko-KR" sz="1200" dirty="0">
                  <a:solidFill>
                    <a:schemeClr val="bg1"/>
                  </a:solidFill>
                  <a:ea typeface="+mj-ea"/>
                  <a:cs typeface="Arial" pitchFamily="34" charset="0"/>
                </a:rPr>
                <a:t>Only Patterns with net benefits are retained</a:t>
              </a:r>
              <a:endParaRPr lang="en-US" altLang="ko-KR" sz="1200" dirty="0">
                <a:solidFill>
                  <a:schemeClr val="bg1"/>
                </a:solidFill>
                <a:ea typeface="+mj-ea"/>
              </a:endParaRPr>
            </a:p>
          </p:txBody>
        </p:sp>
      </p:grpSp>
      <p:grpSp>
        <p:nvGrpSpPr>
          <p:cNvPr id="49" name="Group 92">
            <a:extLst>
              <a:ext uri="{FF2B5EF4-FFF2-40B4-BE49-F238E27FC236}">
                <a16:creationId xmlns:a16="http://schemas.microsoft.com/office/drawing/2014/main" id="{2BAEAD93-3A80-4AC1-A0F2-8ECDB6532B8F}"/>
              </a:ext>
            </a:extLst>
          </p:cNvPr>
          <p:cNvGrpSpPr/>
          <p:nvPr/>
        </p:nvGrpSpPr>
        <p:grpSpPr>
          <a:xfrm flipH="1">
            <a:off x="1453243" y="1488447"/>
            <a:ext cx="2207353" cy="646331"/>
            <a:chOff x="9023213" y="2788778"/>
            <a:chExt cx="2207353" cy="646331"/>
          </a:xfrm>
        </p:grpSpPr>
        <p:grpSp>
          <p:nvGrpSpPr>
            <p:cNvPr id="50" name="Group 101">
              <a:extLst>
                <a:ext uri="{FF2B5EF4-FFF2-40B4-BE49-F238E27FC236}">
                  <a16:creationId xmlns:a16="http://schemas.microsoft.com/office/drawing/2014/main" id="{775B55E0-2DDF-443C-94BF-02469CD29F31}"/>
                </a:ext>
              </a:extLst>
            </p:cNvPr>
            <p:cNvGrpSpPr/>
            <p:nvPr/>
          </p:nvGrpSpPr>
          <p:grpSpPr>
            <a:xfrm>
              <a:off x="9023213" y="2996321"/>
              <a:ext cx="276999" cy="276999"/>
              <a:chOff x="2411760" y="3606832"/>
              <a:chExt cx="206152" cy="206152"/>
            </a:xfrm>
          </p:grpSpPr>
          <p:sp>
            <p:nvSpPr>
              <p:cNvPr id="55" name="Oval 106">
                <a:extLst>
                  <a:ext uri="{FF2B5EF4-FFF2-40B4-BE49-F238E27FC236}">
                    <a16:creationId xmlns:a16="http://schemas.microsoft.com/office/drawing/2014/main" id="{0D10E9D6-2753-47EC-B3DF-1DAA76F8E7F2}"/>
                  </a:ext>
                </a:extLst>
              </p:cNvPr>
              <p:cNvSpPr/>
              <p:nvPr/>
            </p:nvSpPr>
            <p:spPr>
              <a:xfrm>
                <a:off x="2411760" y="3606832"/>
                <a:ext cx="206152" cy="20615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bg1"/>
                  </a:solidFill>
                  <a:ea typeface="+mj-ea"/>
                </a:endParaRPr>
              </a:p>
            </p:txBody>
          </p:sp>
          <p:sp>
            <p:nvSpPr>
              <p:cNvPr id="56" name="Chevron 60">
                <a:extLst>
                  <a:ext uri="{FF2B5EF4-FFF2-40B4-BE49-F238E27FC236}">
                    <a16:creationId xmlns:a16="http://schemas.microsoft.com/office/drawing/2014/main" id="{A5BEE178-AC06-4CF8-895D-3B859F57F76F}"/>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bg1"/>
                  </a:solidFill>
                  <a:ea typeface="+mj-ea"/>
                </a:endParaRPr>
              </a:p>
            </p:txBody>
          </p:sp>
        </p:grpSp>
        <p:sp>
          <p:nvSpPr>
            <p:cNvPr id="52" name="TextBox 51">
              <a:extLst>
                <a:ext uri="{FF2B5EF4-FFF2-40B4-BE49-F238E27FC236}">
                  <a16:creationId xmlns:a16="http://schemas.microsoft.com/office/drawing/2014/main" id="{691A2B21-A9D9-4105-B9BF-96B99427660F}"/>
                </a:ext>
              </a:extLst>
            </p:cNvPr>
            <p:cNvSpPr txBox="1"/>
            <p:nvPr/>
          </p:nvSpPr>
          <p:spPr>
            <a:xfrm>
              <a:off x="9300212" y="2788778"/>
              <a:ext cx="1930354" cy="646331"/>
            </a:xfrm>
            <a:prstGeom prst="rect">
              <a:avLst/>
            </a:prstGeom>
            <a:noFill/>
          </p:spPr>
          <p:txBody>
            <a:bodyPr wrap="square" rtlCol="0" anchor="ctr">
              <a:spAutoFit/>
            </a:bodyPr>
            <a:lstStyle/>
            <a:p>
              <a:pPr algn="r"/>
              <a:r>
                <a:rPr lang="en-US" altLang="ko-KR" sz="1200" dirty="0">
                  <a:solidFill>
                    <a:schemeClr val="bg1"/>
                  </a:solidFill>
                  <a:ea typeface="+mj-ea"/>
                  <a:cs typeface="Arial" pitchFamily="34" charset="0"/>
                </a:rPr>
                <a:t>LLMs act as candidate generators, not as a source of truth</a:t>
              </a:r>
              <a:endParaRPr lang="en-US" altLang="ko-KR" sz="1200" dirty="0">
                <a:solidFill>
                  <a:schemeClr val="bg1"/>
                </a:solidFill>
                <a:ea typeface="+mj-ea"/>
              </a:endParaRPr>
            </a:p>
          </p:txBody>
        </p:sp>
      </p:grpSp>
      <p:grpSp>
        <p:nvGrpSpPr>
          <p:cNvPr id="57" name="Group 93">
            <a:extLst>
              <a:ext uri="{FF2B5EF4-FFF2-40B4-BE49-F238E27FC236}">
                <a16:creationId xmlns:a16="http://schemas.microsoft.com/office/drawing/2014/main" id="{836771F8-6A76-466C-AA14-006DF2612311}"/>
              </a:ext>
            </a:extLst>
          </p:cNvPr>
          <p:cNvGrpSpPr/>
          <p:nvPr/>
        </p:nvGrpSpPr>
        <p:grpSpPr>
          <a:xfrm flipH="1">
            <a:off x="1453243" y="5059463"/>
            <a:ext cx="2207353" cy="461665"/>
            <a:chOff x="9023213" y="2881111"/>
            <a:chExt cx="2207353" cy="461665"/>
          </a:xfrm>
        </p:grpSpPr>
        <p:grpSp>
          <p:nvGrpSpPr>
            <p:cNvPr id="58" name="Group 94">
              <a:extLst>
                <a:ext uri="{FF2B5EF4-FFF2-40B4-BE49-F238E27FC236}">
                  <a16:creationId xmlns:a16="http://schemas.microsoft.com/office/drawing/2014/main" id="{DFC83309-8CB6-4213-A6EA-3B17215C6448}"/>
                </a:ext>
              </a:extLst>
            </p:cNvPr>
            <p:cNvGrpSpPr/>
            <p:nvPr/>
          </p:nvGrpSpPr>
          <p:grpSpPr>
            <a:xfrm>
              <a:off x="9023213" y="2996321"/>
              <a:ext cx="276999" cy="276999"/>
              <a:chOff x="2411760" y="3606832"/>
              <a:chExt cx="206152" cy="206152"/>
            </a:xfrm>
          </p:grpSpPr>
          <p:sp>
            <p:nvSpPr>
              <p:cNvPr id="63" name="Oval 99">
                <a:extLst>
                  <a:ext uri="{FF2B5EF4-FFF2-40B4-BE49-F238E27FC236}">
                    <a16:creationId xmlns:a16="http://schemas.microsoft.com/office/drawing/2014/main" id="{EA420B2B-8B66-46BF-8BF2-BECC6DDE0205}"/>
                  </a:ext>
                </a:extLst>
              </p:cNvPr>
              <p:cNvSpPr/>
              <p:nvPr/>
            </p:nvSpPr>
            <p:spPr>
              <a:xfrm>
                <a:off x="2411760" y="3606832"/>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bg1"/>
                  </a:solidFill>
                  <a:ea typeface="+mj-ea"/>
                </a:endParaRPr>
              </a:p>
            </p:txBody>
          </p:sp>
          <p:sp>
            <p:nvSpPr>
              <p:cNvPr id="64" name="Chevron 60">
                <a:extLst>
                  <a:ext uri="{FF2B5EF4-FFF2-40B4-BE49-F238E27FC236}">
                    <a16:creationId xmlns:a16="http://schemas.microsoft.com/office/drawing/2014/main" id="{6462C2E8-F29E-4CBF-AD67-1BEA91ECEC0A}"/>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bg1"/>
                  </a:solidFill>
                  <a:ea typeface="+mj-ea"/>
                </a:endParaRPr>
              </a:p>
            </p:txBody>
          </p:sp>
        </p:grpSp>
        <p:sp>
          <p:nvSpPr>
            <p:cNvPr id="60" name="TextBox 59">
              <a:extLst>
                <a:ext uri="{FF2B5EF4-FFF2-40B4-BE49-F238E27FC236}">
                  <a16:creationId xmlns:a16="http://schemas.microsoft.com/office/drawing/2014/main" id="{712FD87C-FB00-43A8-9E16-5E4525C42A50}"/>
                </a:ext>
              </a:extLst>
            </p:cNvPr>
            <p:cNvSpPr txBox="1"/>
            <p:nvPr/>
          </p:nvSpPr>
          <p:spPr>
            <a:xfrm>
              <a:off x="9300212" y="2881111"/>
              <a:ext cx="1930354" cy="461665"/>
            </a:xfrm>
            <a:prstGeom prst="rect">
              <a:avLst/>
            </a:prstGeom>
            <a:noFill/>
          </p:spPr>
          <p:txBody>
            <a:bodyPr wrap="square" rtlCol="0" anchor="ctr">
              <a:spAutoFit/>
            </a:bodyPr>
            <a:lstStyle/>
            <a:p>
              <a:pPr algn="r"/>
              <a:r>
                <a:rPr lang="en-US" altLang="ko-KR" sz="1200" dirty="0">
                  <a:solidFill>
                    <a:schemeClr val="bg1"/>
                  </a:solidFill>
                  <a:cs typeface="Arial" pitchFamily="34" charset="0"/>
                </a:rPr>
                <a:t>Suggest complex repetitive motifs</a:t>
              </a:r>
              <a:endParaRPr lang="en-US" altLang="ko-KR" sz="1200" dirty="0">
                <a:solidFill>
                  <a:schemeClr val="bg1"/>
                </a:solidFill>
                <a:ea typeface="+mj-ea"/>
              </a:endParaRPr>
            </a:p>
          </p:txBody>
        </p:sp>
      </p:grpSp>
      <p:sp>
        <p:nvSpPr>
          <p:cNvPr id="70" name="자유형: 도형 69">
            <a:extLst>
              <a:ext uri="{FF2B5EF4-FFF2-40B4-BE49-F238E27FC236}">
                <a16:creationId xmlns:a16="http://schemas.microsoft.com/office/drawing/2014/main" id="{95486F72-9A4B-4224-8279-885FE4DA8AAA}"/>
              </a:ext>
            </a:extLst>
          </p:cNvPr>
          <p:cNvSpPr/>
          <p:nvPr/>
        </p:nvSpPr>
        <p:spPr>
          <a:xfrm flipH="1">
            <a:off x="4338082" y="2837640"/>
            <a:ext cx="807054" cy="4020359"/>
          </a:xfrm>
          <a:custGeom>
            <a:avLst/>
            <a:gdLst>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143243 h 4558419"/>
              <a:gd name="connsiteX9" fmla="*/ 573906 w 915065"/>
              <a:gd name="connsiteY9" fmla="*/ 4558419 h 4558419"/>
              <a:gd name="connsiteX10" fmla="*/ 915065 w 915065"/>
              <a:gd name="connsiteY10" fmla="*/ 4558419 h 4558419"/>
              <a:gd name="connsiteX11" fmla="*/ 915065 w 915065"/>
              <a:gd name="connsiteY11" fmla="*/ 4143243 h 4558419"/>
              <a:gd name="connsiteX12" fmla="*/ 912436 w 915065"/>
              <a:gd name="connsiteY12" fmla="*/ 4143243 h 4558419"/>
              <a:gd name="connsiteX13" fmla="*/ 912436 w 915065"/>
              <a:gd name="connsiteY13" fmla="*/ 2555576 h 4558419"/>
              <a:gd name="connsiteX14" fmla="*/ 913431 w 915065"/>
              <a:gd name="connsiteY14" fmla="*/ 2554955 h 4558419"/>
              <a:gd name="connsiteX15" fmla="*/ 504752 w 915065"/>
              <a:gd name="connsiteY15" fmla="*/ 1453740 h 4558419"/>
              <a:gd name="connsiteX16" fmla="*/ 504752 w 915065"/>
              <a:gd name="connsiteY16" fmla="*/ 436294 h 4558419"/>
              <a:gd name="connsiteX17" fmla="*/ 673002 w 915065"/>
              <a:gd name="connsiteY17" fmla="*/ 436294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143243 h 4558419"/>
              <a:gd name="connsiteX9" fmla="*/ 573906 w 915065"/>
              <a:gd name="connsiteY9" fmla="*/ 4558419 h 4558419"/>
              <a:gd name="connsiteX10" fmla="*/ 915065 w 915065"/>
              <a:gd name="connsiteY10" fmla="*/ 4558419 h 4558419"/>
              <a:gd name="connsiteX11" fmla="*/ 915065 w 915065"/>
              <a:gd name="connsiteY11" fmla="*/ 4143243 h 4558419"/>
              <a:gd name="connsiteX12" fmla="*/ 912436 w 915065"/>
              <a:gd name="connsiteY12" fmla="*/ 2555576 h 4558419"/>
              <a:gd name="connsiteX13" fmla="*/ 913431 w 915065"/>
              <a:gd name="connsiteY13" fmla="*/ 2554955 h 4558419"/>
              <a:gd name="connsiteX14" fmla="*/ 504752 w 915065"/>
              <a:gd name="connsiteY14" fmla="*/ 1453740 h 4558419"/>
              <a:gd name="connsiteX15" fmla="*/ 504752 w 915065"/>
              <a:gd name="connsiteY15" fmla="*/ 436294 h 4558419"/>
              <a:gd name="connsiteX16" fmla="*/ 673002 w 915065"/>
              <a:gd name="connsiteY16" fmla="*/ 436294 h 4558419"/>
              <a:gd name="connsiteX17" fmla="*/ 336502 w 915065"/>
              <a:gd name="connsiteY17" fmla="*/ 0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143243 h 4558419"/>
              <a:gd name="connsiteX9" fmla="*/ 573906 w 915065"/>
              <a:gd name="connsiteY9" fmla="*/ 4558419 h 4558419"/>
              <a:gd name="connsiteX10" fmla="*/ 915065 w 915065"/>
              <a:gd name="connsiteY10" fmla="*/ 4558419 h 4558419"/>
              <a:gd name="connsiteX11" fmla="*/ 912436 w 915065"/>
              <a:gd name="connsiteY11" fmla="*/ 2555576 h 4558419"/>
              <a:gd name="connsiteX12" fmla="*/ 913431 w 915065"/>
              <a:gd name="connsiteY12" fmla="*/ 2554955 h 4558419"/>
              <a:gd name="connsiteX13" fmla="*/ 504752 w 915065"/>
              <a:gd name="connsiteY13" fmla="*/ 1453740 h 4558419"/>
              <a:gd name="connsiteX14" fmla="*/ 504752 w 915065"/>
              <a:gd name="connsiteY14" fmla="*/ 436294 h 4558419"/>
              <a:gd name="connsiteX15" fmla="*/ 673002 w 915065"/>
              <a:gd name="connsiteY15" fmla="*/ 436294 h 4558419"/>
              <a:gd name="connsiteX16" fmla="*/ 336502 w 915065"/>
              <a:gd name="connsiteY16" fmla="*/ 0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6049 w 915065"/>
              <a:gd name="connsiteY7" fmla="*/ 4143243 h 4558419"/>
              <a:gd name="connsiteX8" fmla="*/ 573906 w 915065"/>
              <a:gd name="connsiteY8" fmla="*/ 4558419 h 4558419"/>
              <a:gd name="connsiteX9" fmla="*/ 915065 w 915065"/>
              <a:gd name="connsiteY9" fmla="*/ 4558419 h 4558419"/>
              <a:gd name="connsiteX10" fmla="*/ 912436 w 915065"/>
              <a:gd name="connsiteY10" fmla="*/ 2555576 h 4558419"/>
              <a:gd name="connsiteX11" fmla="*/ 913431 w 915065"/>
              <a:gd name="connsiteY11" fmla="*/ 2554955 h 4558419"/>
              <a:gd name="connsiteX12" fmla="*/ 504752 w 915065"/>
              <a:gd name="connsiteY12" fmla="*/ 1453740 h 4558419"/>
              <a:gd name="connsiteX13" fmla="*/ 504752 w 915065"/>
              <a:gd name="connsiteY13" fmla="*/ 436294 h 4558419"/>
              <a:gd name="connsiteX14" fmla="*/ 673002 w 915065"/>
              <a:gd name="connsiteY14" fmla="*/ 436294 h 4558419"/>
              <a:gd name="connsiteX15" fmla="*/ 336502 w 915065"/>
              <a:gd name="connsiteY15" fmla="*/ 0 h 4558419"/>
              <a:gd name="connsiteX0" fmla="*/ 336502 w 915065"/>
              <a:gd name="connsiteY0" fmla="*/ 0 h 4558419"/>
              <a:gd name="connsiteX1" fmla="*/ 0 w 915065"/>
              <a:gd name="connsiteY1" fmla="*/ 436294 h 4558419"/>
              <a:gd name="connsiteX2" fmla="*/ 168251 w 915065"/>
              <a:gd name="connsiteY2" fmla="*/ 436294 h 4558419"/>
              <a:gd name="connsiteX3" fmla="*/ 168251 w 915065"/>
              <a:gd name="connsiteY3" fmla="*/ 1553354 h 4558419"/>
              <a:gd name="connsiteX4" fmla="*/ 169517 w 915065"/>
              <a:gd name="connsiteY4" fmla="*/ 1553354 h 4558419"/>
              <a:gd name="connsiteX5" fmla="*/ 168625 w 915065"/>
              <a:gd name="connsiteY5" fmla="*/ 1553911 h 4558419"/>
              <a:gd name="connsiteX6" fmla="*/ 576049 w 915065"/>
              <a:gd name="connsiteY6" fmla="*/ 2651747 h 4558419"/>
              <a:gd name="connsiteX7" fmla="*/ 573906 w 915065"/>
              <a:gd name="connsiteY7" fmla="*/ 4558419 h 4558419"/>
              <a:gd name="connsiteX8" fmla="*/ 915065 w 915065"/>
              <a:gd name="connsiteY8" fmla="*/ 4558419 h 4558419"/>
              <a:gd name="connsiteX9" fmla="*/ 912436 w 915065"/>
              <a:gd name="connsiteY9" fmla="*/ 2555576 h 4558419"/>
              <a:gd name="connsiteX10" fmla="*/ 913431 w 915065"/>
              <a:gd name="connsiteY10" fmla="*/ 2554955 h 4558419"/>
              <a:gd name="connsiteX11" fmla="*/ 504752 w 915065"/>
              <a:gd name="connsiteY11" fmla="*/ 1453740 h 4558419"/>
              <a:gd name="connsiteX12" fmla="*/ 504752 w 915065"/>
              <a:gd name="connsiteY12" fmla="*/ 436294 h 4558419"/>
              <a:gd name="connsiteX13" fmla="*/ 673002 w 915065"/>
              <a:gd name="connsiteY13" fmla="*/ 436294 h 4558419"/>
              <a:gd name="connsiteX14" fmla="*/ 336502 w 915065"/>
              <a:gd name="connsiteY14" fmla="*/ 0 h 4558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5065" h="4558419">
                <a:moveTo>
                  <a:pt x="336502" y="0"/>
                </a:moveTo>
                <a:lnTo>
                  <a:pt x="0" y="436294"/>
                </a:lnTo>
                <a:lnTo>
                  <a:pt x="168251" y="436294"/>
                </a:lnTo>
                <a:lnTo>
                  <a:pt x="168251" y="1553354"/>
                </a:lnTo>
                <a:lnTo>
                  <a:pt x="169517" y="1553354"/>
                </a:lnTo>
                <a:lnTo>
                  <a:pt x="168625" y="1553911"/>
                </a:lnTo>
                <a:lnTo>
                  <a:pt x="576049" y="2651747"/>
                </a:lnTo>
                <a:cubicBezTo>
                  <a:pt x="575335" y="3287304"/>
                  <a:pt x="574620" y="3922862"/>
                  <a:pt x="573906" y="4558419"/>
                </a:cubicBezTo>
                <a:lnTo>
                  <a:pt x="915065" y="4558419"/>
                </a:lnTo>
                <a:cubicBezTo>
                  <a:pt x="914189" y="3890805"/>
                  <a:pt x="913312" y="3223190"/>
                  <a:pt x="912436" y="2555576"/>
                </a:cubicBezTo>
                <a:lnTo>
                  <a:pt x="913431" y="2554955"/>
                </a:lnTo>
                <a:lnTo>
                  <a:pt x="504752" y="1453740"/>
                </a:lnTo>
                <a:lnTo>
                  <a:pt x="504752" y="436294"/>
                </a:lnTo>
                <a:lnTo>
                  <a:pt x="673002" y="436294"/>
                </a:lnTo>
                <a:lnTo>
                  <a:pt x="336502"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solidFill>
                <a:schemeClr val="bg1"/>
              </a:solidFill>
            </a:endParaRPr>
          </a:p>
        </p:txBody>
      </p:sp>
      <p:sp>
        <p:nvSpPr>
          <p:cNvPr id="14" name="TextBox 51">
            <a:extLst>
              <a:ext uri="{FF2B5EF4-FFF2-40B4-BE49-F238E27FC236}">
                <a16:creationId xmlns:a16="http://schemas.microsoft.com/office/drawing/2014/main" id="{BBF1E449-9CB5-C179-4C70-109B0450ABC2}"/>
              </a:ext>
            </a:extLst>
          </p:cNvPr>
          <p:cNvSpPr txBox="1"/>
          <p:nvPr/>
        </p:nvSpPr>
        <p:spPr>
          <a:xfrm flipH="1">
            <a:off x="3295470" y="6545461"/>
            <a:ext cx="5097360" cy="307777"/>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400" b="1" dirty="0">
                <a:solidFill>
                  <a:schemeClr val="bg1"/>
                </a:solidFill>
              </a:rPr>
              <a:t>Key note:</a:t>
            </a:r>
            <a:r>
              <a:rPr lang="en-US" sz="1400" dirty="0">
                <a:solidFill>
                  <a:schemeClr val="bg1"/>
                </a:solidFill>
              </a:rPr>
              <a:t> The LLM generates candidates, not final decisions</a:t>
            </a:r>
            <a:endParaRPr lang="ko-KR" altLang="en-US" sz="1400" dirty="0">
              <a:solidFill>
                <a:schemeClr val="bg1"/>
              </a:solidFill>
              <a:cs typeface="Arial" pitchFamily="34" charset="0"/>
            </a:endParaRPr>
          </a:p>
        </p:txBody>
      </p:sp>
    </p:spTree>
    <p:extLst>
      <p:ext uri="{BB962C8B-B14F-4D97-AF65-F5344CB8AC3E}">
        <p14:creationId xmlns:p14="http://schemas.microsoft.com/office/powerpoint/2010/main" val="2737942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6F1AC-B737-E24C-244D-BBCD38479E3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9E52D39-8F73-8788-28DD-C27493657042}"/>
              </a:ext>
            </a:extLst>
          </p:cNvPr>
          <p:cNvSpPr>
            <a:spLocks noGrp="1"/>
          </p:cNvSpPr>
          <p:nvPr>
            <p:ph type="body" sz="quarter" idx="10"/>
          </p:nvPr>
        </p:nvSpPr>
        <p:spPr/>
        <p:txBody>
          <a:bodyPr/>
          <a:lstStyle/>
          <a:p>
            <a:r>
              <a:rPr lang="en-US" dirty="0" err="1"/>
              <a:t>Arquitecture</a:t>
            </a:r>
            <a:endParaRPr lang="en-US" dirty="0"/>
          </a:p>
        </p:txBody>
      </p:sp>
      <p:sp>
        <p:nvSpPr>
          <p:cNvPr id="3" name="Oval 55">
            <a:extLst>
              <a:ext uri="{FF2B5EF4-FFF2-40B4-BE49-F238E27FC236}">
                <a16:creationId xmlns:a16="http://schemas.microsoft.com/office/drawing/2014/main" id="{2C7B5126-8393-E044-67DF-56727A352095}"/>
              </a:ext>
            </a:extLst>
          </p:cNvPr>
          <p:cNvSpPr/>
          <p:nvPr/>
        </p:nvSpPr>
        <p:spPr>
          <a:xfrm>
            <a:off x="4606088" y="2012927"/>
            <a:ext cx="3312368" cy="3312368"/>
          </a:xfrm>
          <a:prstGeom prst="hexagon">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chemeClr val="bg1"/>
              </a:solidFill>
              <a:latin typeface="Arial" panose="020B0604020202020204" pitchFamily="34" charset="0"/>
              <a:cs typeface="Arial" panose="020B0604020202020204" pitchFamily="34" charset="0"/>
            </a:endParaRPr>
          </a:p>
        </p:txBody>
      </p:sp>
      <p:sp>
        <p:nvSpPr>
          <p:cNvPr id="4" name="Rectangle: Rounded Corners 30">
            <a:extLst>
              <a:ext uri="{FF2B5EF4-FFF2-40B4-BE49-F238E27FC236}">
                <a16:creationId xmlns:a16="http://schemas.microsoft.com/office/drawing/2014/main" id="{DEDA9FD1-26FB-8EA2-61D2-64048F937DE8}"/>
              </a:ext>
            </a:extLst>
          </p:cNvPr>
          <p:cNvSpPr/>
          <p:nvPr/>
        </p:nvSpPr>
        <p:spPr>
          <a:xfrm>
            <a:off x="6009646" y="1708538"/>
            <a:ext cx="485076" cy="3860653"/>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B3479DA4-A629-A642-A6FE-BD34E1E17F08}"/>
              </a:ext>
            </a:extLst>
          </p:cNvPr>
          <p:cNvSpPr txBox="1"/>
          <p:nvPr/>
        </p:nvSpPr>
        <p:spPr>
          <a:xfrm>
            <a:off x="1484667" y="3429000"/>
            <a:ext cx="2704938" cy="307777"/>
          </a:xfrm>
          <a:prstGeom prst="rect">
            <a:avLst/>
          </a:prstGeom>
          <a:noFill/>
        </p:spPr>
        <p:txBody>
          <a:bodyPr wrap="square" rtlCol="0">
            <a:spAutoFit/>
          </a:bodyPr>
          <a:lstStyle/>
          <a:p>
            <a:pPr algn="r"/>
            <a:r>
              <a:rPr lang="en-US" altLang="ko-KR" sz="1400" b="1" dirty="0">
                <a:solidFill>
                  <a:schemeClr val="bg1"/>
                </a:solidFill>
                <a:latin typeface="Arial" panose="020B0604020202020204" pitchFamily="34" charset="0"/>
                <a:cs typeface="Arial" panose="020B0604020202020204" pitchFamily="34" charset="0"/>
              </a:rPr>
              <a:t>k-</a:t>
            </a:r>
            <a:r>
              <a:rPr lang="en-US" altLang="ko-KR" sz="1400" b="1" dirty="0" err="1">
                <a:solidFill>
                  <a:schemeClr val="bg1"/>
                </a:solidFill>
                <a:latin typeface="Arial" panose="020B0604020202020204" pitchFamily="34" charset="0"/>
                <a:cs typeface="Arial" panose="020B0604020202020204" pitchFamily="34" charset="0"/>
              </a:rPr>
              <a:t>mers</a:t>
            </a:r>
            <a:r>
              <a:rPr lang="en-US" altLang="ko-KR" sz="1400" b="1" dirty="0">
                <a:solidFill>
                  <a:schemeClr val="bg1"/>
                </a:solidFill>
                <a:latin typeface="Arial" panose="020B0604020202020204" pitchFamily="34" charset="0"/>
                <a:cs typeface="Arial" panose="020B0604020202020204" pitchFamily="34" charset="0"/>
              </a:rPr>
              <a:t> analysis</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13EF94B-03E4-87C1-3D79-5A7E0EDBDD84}"/>
              </a:ext>
            </a:extLst>
          </p:cNvPr>
          <p:cNvSpPr txBox="1"/>
          <p:nvPr/>
        </p:nvSpPr>
        <p:spPr>
          <a:xfrm>
            <a:off x="1868673" y="4716252"/>
            <a:ext cx="2716788" cy="307777"/>
          </a:xfrm>
          <a:prstGeom prst="rect">
            <a:avLst/>
          </a:prstGeom>
          <a:noFill/>
        </p:spPr>
        <p:txBody>
          <a:bodyPr wrap="square" rtlCol="0">
            <a:spAutoFit/>
          </a:bodyPr>
          <a:lstStyle/>
          <a:p>
            <a:pPr algn="r"/>
            <a:r>
              <a:rPr lang="en-US" altLang="ko-KR" sz="1400" b="1" dirty="0">
                <a:solidFill>
                  <a:schemeClr val="bg1"/>
                </a:solidFill>
                <a:latin typeface="Arial" panose="020B0604020202020204" pitchFamily="34" charset="0"/>
                <a:cs typeface="Arial" panose="020B0604020202020204" pitchFamily="34" charset="0"/>
              </a:rPr>
              <a:t>LLM based detection</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33" name="Rectangle: Rounded Corners 30">
            <a:extLst>
              <a:ext uri="{FF2B5EF4-FFF2-40B4-BE49-F238E27FC236}">
                <a16:creationId xmlns:a16="http://schemas.microsoft.com/office/drawing/2014/main" id="{8EBDA5FF-AC89-5B88-A8A7-C48D57D763BE}"/>
              </a:ext>
            </a:extLst>
          </p:cNvPr>
          <p:cNvSpPr/>
          <p:nvPr/>
        </p:nvSpPr>
        <p:spPr>
          <a:xfrm rot="5400000">
            <a:off x="6028953" y="1661136"/>
            <a:ext cx="485076" cy="3860653"/>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rial" panose="020B0604020202020204" pitchFamily="34" charset="0"/>
              <a:cs typeface="Arial" panose="020B0604020202020204" pitchFamily="34" charset="0"/>
            </a:endParaRPr>
          </a:p>
        </p:txBody>
      </p:sp>
      <p:sp>
        <p:nvSpPr>
          <p:cNvPr id="34" name="Rectangle: Rounded Corners 30">
            <a:extLst>
              <a:ext uri="{FF2B5EF4-FFF2-40B4-BE49-F238E27FC236}">
                <a16:creationId xmlns:a16="http://schemas.microsoft.com/office/drawing/2014/main" id="{C706C5FC-24CA-40E3-35DA-ED126CAEF8C8}"/>
              </a:ext>
            </a:extLst>
          </p:cNvPr>
          <p:cNvSpPr/>
          <p:nvPr/>
        </p:nvSpPr>
        <p:spPr>
          <a:xfrm rot="18863616">
            <a:off x="6019734" y="1738785"/>
            <a:ext cx="485076" cy="3860653"/>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rial" panose="020B0604020202020204" pitchFamily="34" charset="0"/>
              <a:cs typeface="Arial" panose="020B0604020202020204" pitchFamily="34" charset="0"/>
            </a:endParaRPr>
          </a:p>
        </p:txBody>
      </p:sp>
      <p:sp>
        <p:nvSpPr>
          <p:cNvPr id="35" name="Rectangle: Rounded Corners 30">
            <a:extLst>
              <a:ext uri="{FF2B5EF4-FFF2-40B4-BE49-F238E27FC236}">
                <a16:creationId xmlns:a16="http://schemas.microsoft.com/office/drawing/2014/main" id="{8F7FB81D-20EB-5BD2-B9BD-717435A46256}"/>
              </a:ext>
            </a:extLst>
          </p:cNvPr>
          <p:cNvSpPr/>
          <p:nvPr/>
        </p:nvSpPr>
        <p:spPr>
          <a:xfrm rot="3247035">
            <a:off x="5990401" y="1661135"/>
            <a:ext cx="485076" cy="3860653"/>
          </a:xfrm>
          <a:prstGeom prst="roundRect">
            <a:avLst>
              <a:gd name="adj" fmla="val 50000"/>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rial" panose="020B0604020202020204" pitchFamily="34" charset="0"/>
              <a:cs typeface="Arial" panose="020B0604020202020204" pitchFamily="34" charset="0"/>
            </a:endParaRPr>
          </a:p>
        </p:txBody>
      </p:sp>
      <p:sp>
        <p:nvSpPr>
          <p:cNvPr id="7" name="Oval 54">
            <a:extLst>
              <a:ext uri="{FF2B5EF4-FFF2-40B4-BE49-F238E27FC236}">
                <a16:creationId xmlns:a16="http://schemas.microsoft.com/office/drawing/2014/main" id="{F3470F28-B70A-3B12-C161-022BF6E977C5}"/>
              </a:ext>
            </a:extLst>
          </p:cNvPr>
          <p:cNvSpPr/>
          <p:nvPr/>
        </p:nvSpPr>
        <p:spPr>
          <a:xfrm>
            <a:off x="5706528" y="3092986"/>
            <a:ext cx="1101673" cy="10188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Arial" panose="020B0604020202020204" pitchFamily="34" charset="0"/>
              <a:cs typeface="Arial" panose="020B0604020202020204" pitchFamily="34" charset="0"/>
            </a:endParaRPr>
          </a:p>
        </p:txBody>
      </p:sp>
      <p:sp>
        <p:nvSpPr>
          <p:cNvPr id="5" name="TextBox 24">
            <a:extLst>
              <a:ext uri="{FF2B5EF4-FFF2-40B4-BE49-F238E27FC236}">
                <a16:creationId xmlns:a16="http://schemas.microsoft.com/office/drawing/2014/main" id="{AB278E1D-0762-797A-3D88-3F84CC51A081}"/>
              </a:ext>
            </a:extLst>
          </p:cNvPr>
          <p:cNvSpPr txBox="1"/>
          <p:nvPr/>
        </p:nvSpPr>
        <p:spPr>
          <a:xfrm>
            <a:off x="2025890" y="2005007"/>
            <a:ext cx="2704938" cy="307777"/>
          </a:xfrm>
          <a:prstGeom prst="rect">
            <a:avLst/>
          </a:prstGeom>
          <a:noFill/>
        </p:spPr>
        <p:txBody>
          <a:bodyPr wrap="square" rtlCol="0">
            <a:spAutoFit/>
          </a:bodyPr>
          <a:lstStyle/>
          <a:p>
            <a:pPr algn="r"/>
            <a:r>
              <a:rPr lang="en-US" altLang="ko-KR" sz="1400" b="1" dirty="0">
                <a:solidFill>
                  <a:schemeClr val="bg1"/>
                </a:solidFill>
                <a:latin typeface="Arial" panose="020B0604020202020204" pitchFamily="34" charset="0"/>
                <a:cs typeface="Arial" panose="020B0604020202020204" pitchFamily="34" charset="0"/>
              </a:rPr>
              <a:t>Sequence extraction</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6" name="TextBox 24">
            <a:extLst>
              <a:ext uri="{FF2B5EF4-FFF2-40B4-BE49-F238E27FC236}">
                <a16:creationId xmlns:a16="http://schemas.microsoft.com/office/drawing/2014/main" id="{08585A2C-D575-AED2-1F59-FDF9BAE61CF6}"/>
              </a:ext>
            </a:extLst>
          </p:cNvPr>
          <p:cNvSpPr txBox="1"/>
          <p:nvPr/>
        </p:nvSpPr>
        <p:spPr>
          <a:xfrm>
            <a:off x="5572294" y="1269087"/>
            <a:ext cx="1321289" cy="311482"/>
          </a:xfrm>
          <a:prstGeom prst="rect">
            <a:avLst/>
          </a:prstGeom>
          <a:noFill/>
        </p:spPr>
        <p:txBody>
          <a:bodyPr wrap="square" rtlCol="0">
            <a:spAutoFit/>
          </a:bodyPr>
          <a:lstStyle/>
          <a:p>
            <a:pPr algn="ctr"/>
            <a:r>
              <a:rPr lang="en-US" altLang="ko-KR" sz="1400" b="1" dirty="0">
                <a:solidFill>
                  <a:schemeClr val="bg1"/>
                </a:solidFill>
                <a:latin typeface="Arial" panose="020B0604020202020204" pitchFamily="34" charset="0"/>
                <a:cs typeface="Arial" panose="020B0604020202020204" pitchFamily="34" charset="0"/>
              </a:rPr>
              <a:t>FASTQ</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8" name="TextBox 30">
            <a:extLst>
              <a:ext uri="{FF2B5EF4-FFF2-40B4-BE49-F238E27FC236}">
                <a16:creationId xmlns:a16="http://schemas.microsoft.com/office/drawing/2014/main" id="{CE34A1F9-9820-17A0-7802-16B0708CA530}"/>
              </a:ext>
            </a:extLst>
          </p:cNvPr>
          <p:cNvSpPr txBox="1"/>
          <p:nvPr/>
        </p:nvSpPr>
        <p:spPr>
          <a:xfrm>
            <a:off x="5001845" y="5697160"/>
            <a:ext cx="2520853" cy="307777"/>
          </a:xfrm>
          <a:prstGeom prst="rect">
            <a:avLst/>
          </a:prstGeom>
          <a:noFill/>
        </p:spPr>
        <p:txBody>
          <a:bodyPr wrap="square" rtlCol="0">
            <a:spAutoFit/>
          </a:bodyPr>
          <a:lstStyle/>
          <a:p>
            <a:pPr algn="ctr"/>
            <a:r>
              <a:rPr lang="en-US" altLang="ko-KR" sz="1400" b="1" dirty="0">
                <a:solidFill>
                  <a:schemeClr val="bg1"/>
                </a:solidFill>
                <a:latin typeface="Arial" panose="020B0604020202020204" pitchFamily="34" charset="0"/>
                <a:cs typeface="Arial" panose="020B0604020202020204" pitchFamily="34" charset="0"/>
              </a:rPr>
              <a:t>Deterministic validation</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9" name="TextBox 30">
            <a:extLst>
              <a:ext uri="{FF2B5EF4-FFF2-40B4-BE49-F238E27FC236}">
                <a16:creationId xmlns:a16="http://schemas.microsoft.com/office/drawing/2014/main" id="{BB6656ED-7EA9-7EB9-14CB-483712C5586F}"/>
              </a:ext>
            </a:extLst>
          </p:cNvPr>
          <p:cNvSpPr txBox="1"/>
          <p:nvPr/>
        </p:nvSpPr>
        <p:spPr>
          <a:xfrm>
            <a:off x="7723200" y="4917109"/>
            <a:ext cx="2716788" cy="307777"/>
          </a:xfrm>
          <a:prstGeom prst="rect">
            <a:avLst/>
          </a:prstGeom>
          <a:noFill/>
        </p:spPr>
        <p:txBody>
          <a:bodyPr wrap="square" rtlCol="0">
            <a:spAutoFit/>
          </a:bodyPr>
          <a:lstStyle/>
          <a:p>
            <a:r>
              <a:rPr lang="en-US" altLang="ko-KR" sz="1400" b="1" dirty="0">
                <a:solidFill>
                  <a:schemeClr val="bg1"/>
                </a:solidFill>
                <a:latin typeface="Arial" panose="020B0604020202020204" pitchFamily="34" charset="0"/>
                <a:cs typeface="Arial" panose="020B0604020202020204" pitchFamily="34" charset="0"/>
              </a:rPr>
              <a:t>JSON dictionary</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10" name="TextBox 30">
            <a:extLst>
              <a:ext uri="{FF2B5EF4-FFF2-40B4-BE49-F238E27FC236}">
                <a16:creationId xmlns:a16="http://schemas.microsoft.com/office/drawing/2014/main" id="{1C8A2BC8-7A7D-D0D9-DBB3-5E1B8F620CFD}"/>
              </a:ext>
            </a:extLst>
          </p:cNvPr>
          <p:cNvSpPr txBox="1"/>
          <p:nvPr/>
        </p:nvSpPr>
        <p:spPr>
          <a:xfrm>
            <a:off x="8387449" y="3427495"/>
            <a:ext cx="2716788" cy="523220"/>
          </a:xfrm>
          <a:prstGeom prst="rect">
            <a:avLst/>
          </a:prstGeom>
          <a:noFill/>
        </p:spPr>
        <p:txBody>
          <a:bodyPr wrap="square" rtlCol="0">
            <a:spAutoFit/>
          </a:bodyPr>
          <a:lstStyle/>
          <a:p>
            <a:r>
              <a:rPr lang="en-US" altLang="ko-KR" sz="1400" b="1" dirty="0">
                <a:solidFill>
                  <a:schemeClr val="bg1"/>
                </a:solidFill>
                <a:latin typeface="Arial" panose="020B0604020202020204" pitchFamily="34" charset="0"/>
                <a:cs typeface="Arial" panose="020B0604020202020204" pitchFamily="34" charset="0"/>
              </a:rPr>
              <a:t>Compression / Decompression</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11" name="TextBox 30">
            <a:extLst>
              <a:ext uri="{FF2B5EF4-FFF2-40B4-BE49-F238E27FC236}">
                <a16:creationId xmlns:a16="http://schemas.microsoft.com/office/drawing/2014/main" id="{D1166CA4-4826-903E-3952-47F0629BB339}"/>
              </a:ext>
            </a:extLst>
          </p:cNvPr>
          <p:cNvSpPr txBox="1"/>
          <p:nvPr/>
        </p:nvSpPr>
        <p:spPr>
          <a:xfrm>
            <a:off x="7880417" y="2282504"/>
            <a:ext cx="2716788" cy="307777"/>
          </a:xfrm>
          <a:prstGeom prst="rect">
            <a:avLst/>
          </a:prstGeom>
          <a:noFill/>
        </p:spPr>
        <p:txBody>
          <a:bodyPr wrap="square" rtlCol="0">
            <a:spAutoFit/>
          </a:bodyPr>
          <a:lstStyle/>
          <a:p>
            <a:r>
              <a:rPr lang="en-US" altLang="ko-KR" sz="1400" b="1" dirty="0">
                <a:solidFill>
                  <a:schemeClr val="bg1"/>
                </a:solidFill>
                <a:latin typeface="Arial" panose="020B0604020202020204" pitchFamily="34" charset="0"/>
                <a:cs typeface="Arial" panose="020B0604020202020204" pitchFamily="34" charset="0"/>
              </a:rPr>
              <a:t>Integrity verification</a:t>
            </a:r>
            <a:endParaRPr lang="ko-KR" altLang="en-US" sz="1400" b="1" dirty="0">
              <a:solidFill>
                <a:schemeClr val="bg1"/>
              </a:solidFill>
              <a:latin typeface="Arial" panose="020B0604020202020204" pitchFamily="34" charset="0"/>
              <a:cs typeface="Arial" panose="020B0604020202020204" pitchFamily="34" charset="0"/>
            </a:endParaRPr>
          </a:p>
        </p:txBody>
      </p:sp>
      <p:sp>
        <p:nvSpPr>
          <p:cNvPr id="12" name="TextBox 51">
            <a:extLst>
              <a:ext uri="{FF2B5EF4-FFF2-40B4-BE49-F238E27FC236}">
                <a16:creationId xmlns:a16="http://schemas.microsoft.com/office/drawing/2014/main" id="{02CAFD0D-F17E-DE66-0433-CCF0DAADABF2}"/>
              </a:ext>
            </a:extLst>
          </p:cNvPr>
          <p:cNvSpPr txBox="1"/>
          <p:nvPr/>
        </p:nvSpPr>
        <p:spPr>
          <a:xfrm flipH="1">
            <a:off x="3378359" y="6541314"/>
            <a:ext cx="6054717" cy="307777"/>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Key note:</a:t>
            </a:r>
            <a:r>
              <a:rPr lang="en-US" sz="1400" dirty="0">
                <a:solidFill>
                  <a:schemeClr val="bg1"/>
                </a:solidFill>
                <a:latin typeface="Arial" panose="020B0604020202020204" pitchFamily="34" charset="0"/>
                <a:cs typeface="Arial" panose="020B0604020202020204" pitchFamily="34" charset="0"/>
              </a:rPr>
              <a:t> Modular system, easy to understand and improve in the future</a:t>
            </a:r>
            <a:endParaRPr lang="ko-KR" altLang="en-US" sz="1400" dirty="0">
              <a:solidFill>
                <a:schemeClr val="bg1"/>
              </a:solidFill>
              <a:latin typeface="Arial" panose="020B0604020202020204" pitchFamily="34" charset="0"/>
              <a:cs typeface="Arial" panose="020B0604020202020204" pitchFamily="34" charset="0"/>
            </a:endParaRPr>
          </a:p>
        </p:txBody>
      </p:sp>
      <p:pic>
        <p:nvPicPr>
          <p:cNvPr id="2050" name="Picture 2" descr="prioridad ">
            <a:extLst>
              <a:ext uri="{FF2B5EF4-FFF2-40B4-BE49-F238E27FC236}">
                <a16:creationId xmlns:a16="http://schemas.microsoft.com/office/drawing/2014/main" id="{980451D6-DBC1-4540-D83E-EFDAA8FF2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2732" y="3202493"/>
            <a:ext cx="757518" cy="757518"/>
          </a:xfrm>
          <a:prstGeom prst="rect">
            <a:avLst/>
          </a:prstGeom>
          <a:noFill/>
          <a:extLst>
            <a:ext uri="{909E8E84-426E-40DD-AFC4-6F175D3DCCD1}">
              <a14:hiddenFill xmlns:a14="http://schemas.microsoft.com/office/drawing/2010/main">
                <a:solidFill>
                  <a:srgbClr val="FFFFFF"/>
                </a:solidFill>
              </a14:hiddenFill>
            </a:ext>
          </a:extLst>
        </p:spPr>
      </p:pic>
      <p:sp>
        <p:nvSpPr>
          <p:cNvPr id="14" name="Diagrama de flujo: conector 13">
            <a:extLst>
              <a:ext uri="{FF2B5EF4-FFF2-40B4-BE49-F238E27FC236}">
                <a16:creationId xmlns:a16="http://schemas.microsoft.com/office/drawing/2014/main" id="{24217E1E-E01C-A89C-4A24-FBE0A47987F9}"/>
              </a:ext>
            </a:extLst>
          </p:cNvPr>
          <p:cNvSpPr/>
          <p:nvPr/>
        </p:nvSpPr>
        <p:spPr>
          <a:xfrm>
            <a:off x="4887551" y="2307728"/>
            <a:ext cx="370096" cy="349218"/>
          </a:xfrm>
          <a:prstGeom prst="flowChartConnector">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dirty="0"/>
              <a:t>2</a:t>
            </a:r>
          </a:p>
        </p:txBody>
      </p:sp>
      <p:sp>
        <p:nvSpPr>
          <p:cNvPr id="21" name="Diagrama de flujo: conector 20">
            <a:extLst>
              <a:ext uri="{FF2B5EF4-FFF2-40B4-BE49-F238E27FC236}">
                <a16:creationId xmlns:a16="http://schemas.microsoft.com/office/drawing/2014/main" id="{E409ADB7-F8F8-5B6D-4E8F-BE1A3215A91F}"/>
              </a:ext>
            </a:extLst>
          </p:cNvPr>
          <p:cNvSpPr/>
          <p:nvPr/>
        </p:nvSpPr>
        <p:spPr>
          <a:xfrm>
            <a:off x="4421040" y="3419675"/>
            <a:ext cx="370096" cy="349218"/>
          </a:xfrm>
          <a:prstGeom prst="flowChartConnector">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dirty="0"/>
              <a:t>3</a:t>
            </a:r>
          </a:p>
        </p:txBody>
      </p:sp>
      <p:sp>
        <p:nvSpPr>
          <p:cNvPr id="23" name="Diagrama de flujo: conector 22">
            <a:extLst>
              <a:ext uri="{FF2B5EF4-FFF2-40B4-BE49-F238E27FC236}">
                <a16:creationId xmlns:a16="http://schemas.microsoft.com/office/drawing/2014/main" id="{A216CA86-4B5F-7D43-2335-41F0EDB09F4C}"/>
              </a:ext>
            </a:extLst>
          </p:cNvPr>
          <p:cNvSpPr/>
          <p:nvPr/>
        </p:nvSpPr>
        <p:spPr>
          <a:xfrm>
            <a:off x="4691216" y="4399674"/>
            <a:ext cx="370096" cy="349218"/>
          </a:xfrm>
          <a:prstGeom prst="flowChartConnector">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dirty="0"/>
              <a:t>4</a:t>
            </a:r>
          </a:p>
        </p:txBody>
      </p:sp>
      <p:sp>
        <p:nvSpPr>
          <p:cNvPr id="24" name="Diagrama de flujo: conector 23">
            <a:extLst>
              <a:ext uri="{FF2B5EF4-FFF2-40B4-BE49-F238E27FC236}">
                <a16:creationId xmlns:a16="http://schemas.microsoft.com/office/drawing/2014/main" id="{66F4C163-6168-E91F-BCB5-668D36C31EF6}"/>
              </a:ext>
            </a:extLst>
          </p:cNvPr>
          <p:cNvSpPr/>
          <p:nvPr/>
        </p:nvSpPr>
        <p:spPr>
          <a:xfrm>
            <a:off x="6067136" y="5141485"/>
            <a:ext cx="370096" cy="349218"/>
          </a:xfrm>
          <a:prstGeom prst="flowChartConnector">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dirty="0"/>
              <a:t>5</a:t>
            </a:r>
          </a:p>
        </p:txBody>
      </p:sp>
      <p:sp>
        <p:nvSpPr>
          <p:cNvPr id="26" name="Diagrama de flujo: conector 25">
            <a:extLst>
              <a:ext uri="{FF2B5EF4-FFF2-40B4-BE49-F238E27FC236}">
                <a16:creationId xmlns:a16="http://schemas.microsoft.com/office/drawing/2014/main" id="{03FA347E-5375-8344-01C9-913C7A26BC8D}"/>
              </a:ext>
            </a:extLst>
          </p:cNvPr>
          <p:cNvSpPr/>
          <p:nvPr/>
        </p:nvSpPr>
        <p:spPr>
          <a:xfrm>
            <a:off x="7266434" y="4663751"/>
            <a:ext cx="370096" cy="349218"/>
          </a:xfrm>
          <a:prstGeom prst="flowChartConnector">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dirty="0"/>
              <a:t>6</a:t>
            </a:r>
          </a:p>
        </p:txBody>
      </p:sp>
      <p:sp>
        <p:nvSpPr>
          <p:cNvPr id="27" name="Diagrama de flujo: conector 26">
            <a:extLst>
              <a:ext uri="{FF2B5EF4-FFF2-40B4-BE49-F238E27FC236}">
                <a16:creationId xmlns:a16="http://schemas.microsoft.com/office/drawing/2014/main" id="{4A399FA0-5BB2-006E-8724-300E56D33073}"/>
              </a:ext>
            </a:extLst>
          </p:cNvPr>
          <p:cNvSpPr/>
          <p:nvPr/>
        </p:nvSpPr>
        <p:spPr>
          <a:xfrm>
            <a:off x="7749072" y="3419675"/>
            <a:ext cx="370096" cy="349218"/>
          </a:xfrm>
          <a:prstGeom prst="flowChartConnector">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dirty="0"/>
              <a:t>7</a:t>
            </a:r>
          </a:p>
        </p:txBody>
      </p:sp>
      <p:sp>
        <p:nvSpPr>
          <p:cNvPr id="29" name="Diagrama de flujo: conector 28">
            <a:extLst>
              <a:ext uri="{FF2B5EF4-FFF2-40B4-BE49-F238E27FC236}">
                <a16:creationId xmlns:a16="http://schemas.microsoft.com/office/drawing/2014/main" id="{D3073638-C9DF-41F1-E2FE-56E378742335}"/>
              </a:ext>
            </a:extLst>
          </p:cNvPr>
          <p:cNvSpPr/>
          <p:nvPr/>
        </p:nvSpPr>
        <p:spPr>
          <a:xfrm>
            <a:off x="7400782" y="2442585"/>
            <a:ext cx="370096" cy="349218"/>
          </a:xfrm>
          <a:prstGeom prst="flowChartConnector">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dirty="0"/>
              <a:t>8</a:t>
            </a:r>
          </a:p>
        </p:txBody>
      </p:sp>
      <p:sp>
        <p:nvSpPr>
          <p:cNvPr id="30" name="Diagrama de flujo: conector 29">
            <a:extLst>
              <a:ext uri="{FF2B5EF4-FFF2-40B4-BE49-F238E27FC236}">
                <a16:creationId xmlns:a16="http://schemas.microsoft.com/office/drawing/2014/main" id="{0B7267CE-33DE-032F-636A-50BF3C98597A}"/>
              </a:ext>
            </a:extLst>
          </p:cNvPr>
          <p:cNvSpPr/>
          <p:nvPr/>
        </p:nvSpPr>
        <p:spPr>
          <a:xfrm>
            <a:off x="6067136" y="1822077"/>
            <a:ext cx="370096" cy="349218"/>
          </a:xfrm>
          <a:prstGeom prst="flowChartConnector">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dirty="0"/>
              <a:t>1</a:t>
            </a:r>
          </a:p>
        </p:txBody>
      </p:sp>
    </p:spTree>
    <p:extLst>
      <p:ext uri="{BB962C8B-B14F-4D97-AF65-F5344CB8AC3E}">
        <p14:creationId xmlns:p14="http://schemas.microsoft.com/office/powerpoint/2010/main" val="3712308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a:t>Validation and Integrity</a:t>
            </a:r>
          </a:p>
        </p:txBody>
      </p:sp>
      <p:sp>
        <p:nvSpPr>
          <p:cNvPr id="3" name="Rectangle 78">
            <a:extLst>
              <a:ext uri="{FF2B5EF4-FFF2-40B4-BE49-F238E27FC236}">
                <a16:creationId xmlns:a16="http://schemas.microsoft.com/office/drawing/2014/main" id="{52F42846-5F55-44C9-9D41-0D9DC06957F9}"/>
              </a:ext>
            </a:extLst>
          </p:cNvPr>
          <p:cNvSpPr/>
          <p:nvPr/>
        </p:nvSpPr>
        <p:spPr>
          <a:xfrm>
            <a:off x="-18250" y="5415735"/>
            <a:ext cx="12210250" cy="14422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2">
            <a:extLst>
              <a:ext uri="{FF2B5EF4-FFF2-40B4-BE49-F238E27FC236}">
                <a16:creationId xmlns:a16="http://schemas.microsoft.com/office/drawing/2014/main" id="{FB624CC2-287E-4EC4-9391-6971C52B842D}"/>
              </a:ext>
            </a:extLst>
          </p:cNvPr>
          <p:cNvGrpSpPr/>
          <p:nvPr/>
        </p:nvGrpSpPr>
        <p:grpSpPr>
          <a:xfrm>
            <a:off x="-255818" y="5774253"/>
            <a:ext cx="4939255" cy="729254"/>
            <a:chOff x="-255818" y="5774253"/>
            <a:chExt cx="4939255" cy="729254"/>
          </a:xfrm>
        </p:grpSpPr>
        <p:sp>
          <p:nvSpPr>
            <p:cNvPr id="5" name="Oval 66">
              <a:extLst>
                <a:ext uri="{FF2B5EF4-FFF2-40B4-BE49-F238E27FC236}">
                  <a16:creationId xmlns:a16="http://schemas.microsoft.com/office/drawing/2014/main" id="{4D589ED0-57E9-4F1A-906F-7AEEEFA0E814}"/>
                </a:ext>
              </a:extLst>
            </p:cNvPr>
            <p:cNvSpPr/>
            <p:nvPr/>
          </p:nvSpPr>
          <p:spPr>
            <a:xfrm rot="20779325">
              <a:off x="-255818" y="6021198"/>
              <a:ext cx="3495178" cy="482309"/>
            </a:xfrm>
            <a:prstGeom prst="ellipse">
              <a:avLst/>
            </a:prstGeom>
            <a:solidFill>
              <a:schemeClr val="accent2">
                <a:lumMod val="50000"/>
              </a:schemeClr>
            </a:solidFill>
            <a:ln>
              <a:noFill/>
            </a:ln>
            <a:effectLst>
              <a:softEdge rad="215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 name="Oval 67">
              <a:extLst>
                <a:ext uri="{FF2B5EF4-FFF2-40B4-BE49-F238E27FC236}">
                  <a16:creationId xmlns:a16="http://schemas.microsoft.com/office/drawing/2014/main" id="{62B4DBD9-070A-4139-975F-DFCF6024AC2D}"/>
                </a:ext>
              </a:extLst>
            </p:cNvPr>
            <p:cNvSpPr/>
            <p:nvPr/>
          </p:nvSpPr>
          <p:spPr>
            <a:xfrm>
              <a:off x="1327736" y="5774253"/>
              <a:ext cx="3355701" cy="482309"/>
            </a:xfrm>
            <a:prstGeom prst="ellipse">
              <a:avLst/>
            </a:prstGeom>
            <a:solidFill>
              <a:schemeClr val="accent2">
                <a:lumMod val="50000"/>
              </a:schemeClr>
            </a:solidFill>
            <a:ln>
              <a:noFill/>
            </a:ln>
            <a:effectLst>
              <a:softEdge rad="215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7" name="Group 44">
            <a:extLst>
              <a:ext uri="{FF2B5EF4-FFF2-40B4-BE49-F238E27FC236}">
                <a16:creationId xmlns:a16="http://schemas.microsoft.com/office/drawing/2014/main" id="{2A9DDB69-568B-4D4F-AD1D-45B9A2513BBF}"/>
              </a:ext>
            </a:extLst>
          </p:cNvPr>
          <p:cNvGrpSpPr/>
          <p:nvPr/>
        </p:nvGrpSpPr>
        <p:grpSpPr>
          <a:xfrm>
            <a:off x="1855021" y="4408438"/>
            <a:ext cx="2903365" cy="2200720"/>
            <a:chOff x="1855021" y="4408438"/>
            <a:chExt cx="2903365" cy="2200720"/>
          </a:xfrm>
        </p:grpSpPr>
        <p:sp>
          <p:nvSpPr>
            <p:cNvPr id="8" name="Oval 45">
              <a:extLst>
                <a:ext uri="{FF2B5EF4-FFF2-40B4-BE49-F238E27FC236}">
                  <a16:creationId xmlns:a16="http://schemas.microsoft.com/office/drawing/2014/main" id="{D907F79B-A745-4162-B2EE-50D8CEFF418B}"/>
                </a:ext>
              </a:extLst>
            </p:cNvPr>
            <p:cNvSpPr/>
            <p:nvPr/>
          </p:nvSpPr>
          <p:spPr>
            <a:xfrm>
              <a:off x="3221301" y="6126849"/>
              <a:ext cx="1537085" cy="482309"/>
            </a:xfrm>
            <a:prstGeom prst="ellipse">
              <a:avLst/>
            </a:prstGeom>
            <a:solidFill>
              <a:schemeClr val="accent2">
                <a:lumMod val="50000"/>
              </a:schemeClr>
            </a:solidFill>
            <a:ln>
              <a:noFill/>
            </a:ln>
            <a:effectLst>
              <a:softEdge rad="215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9" name="Group 46">
              <a:extLst>
                <a:ext uri="{FF2B5EF4-FFF2-40B4-BE49-F238E27FC236}">
                  <a16:creationId xmlns:a16="http://schemas.microsoft.com/office/drawing/2014/main" id="{DB6F21EB-B443-497A-A5F1-1D72E5D4CB2A}"/>
                </a:ext>
              </a:extLst>
            </p:cNvPr>
            <p:cNvGrpSpPr/>
            <p:nvPr/>
          </p:nvGrpSpPr>
          <p:grpSpPr>
            <a:xfrm flipH="1">
              <a:off x="1855021" y="4408438"/>
              <a:ext cx="2426144" cy="1612821"/>
              <a:chOff x="6917382" y="4652701"/>
              <a:chExt cx="2983072" cy="1983048"/>
            </a:xfrm>
          </p:grpSpPr>
          <p:sp>
            <p:nvSpPr>
              <p:cNvPr id="11" name="Freeform: Shape 48">
                <a:extLst>
                  <a:ext uri="{FF2B5EF4-FFF2-40B4-BE49-F238E27FC236}">
                    <a16:creationId xmlns:a16="http://schemas.microsoft.com/office/drawing/2014/main" id="{45F3B052-AD08-4FA3-A3CA-98355590D8B1}"/>
                  </a:ext>
                </a:extLst>
              </p:cNvPr>
              <p:cNvSpPr/>
              <p:nvPr/>
            </p:nvSpPr>
            <p:spPr>
              <a:xfrm>
                <a:off x="6917382" y="4652701"/>
                <a:ext cx="2983072" cy="1983048"/>
              </a:xfrm>
              <a:custGeom>
                <a:avLst/>
                <a:gdLst>
                  <a:gd name="connsiteX0" fmla="*/ 2977241 w 2983072"/>
                  <a:gd name="connsiteY0" fmla="*/ 1404120 h 1983048"/>
                  <a:gd name="connsiteX1" fmla="*/ 1664038 w 2983072"/>
                  <a:gd name="connsiteY1" fmla="*/ 1312116 h 1983048"/>
                  <a:gd name="connsiteX2" fmla="*/ 1634323 w 2983072"/>
                  <a:gd name="connsiteY2" fmla="*/ 1288114 h 1983048"/>
                  <a:gd name="connsiteX3" fmla="*/ 1230305 w 2983072"/>
                  <a:gd name="connsiteY3" fmla="*/ 69774 h 1983048"/>
                  <a:gd name="connsiteX4" fmla="*/ 1130872 w 2983072"/>
                  <a:gd name="connsiteY4" fmla="*/ 56 h 1983048"/>
                  <a:gd name="connsiteX5" fmla="*/ 68538 w 2983072"/>
                  <a:gd name="connsiteY5" fmla="*/ 15486 h 1983048"/>
                  <a:gd name="connsiteX6" fmla="*/ 1678 w 2983072"/>
                  <a:gd name="connsiteY6" fmla="*/ 98918 h 1983048"/>
                  <a:gd name="connsiteX7" fmla="*/ 437126 w 2983072"/>
                  <a:gd name="connsiteY7" fmla="*/ 1469265 h 1983048"/>
                  <a:gd name="connsiteX8" fmla="*/ 531416 w 2983072"/>
                  <a:gd name="connsiteY8" fmla="*/ 1703562 h 1983048"/>
                  <a:gd name="connsiteX9" fmla="*/ 478271 w 2983072"/>
                  <a:gd name="connsiteY9" fmla="*/ 1825853 h 1983048"/>
                  <a:gd name="connsiteX10" fmla="*/ 554274 w 2983072"/>
                  <a:gd name="connsiteY10" fmla="*/ 1888141 h 1983048"/>
                  <a:gd name="connsiteX11" fmla="*/ 2109201 w 2983072"/>
                  <a:gd name="connsiteY11" fmla="*/ 1983003 h 1983048"/>
                  <a:gd name="connsiteX12" fmla="*/ 2322354 w 2983072"/>
                  <a:gd name="connsiteY12" fmla="*/ 1912714 h 1983048"/>
                  <a:gd name="connsiteX13" fmla="*/ 2959525 w 2983072"/>
                  <a:gd name="connsiteY13" fmla="*/ 1470408 h 1983048"/>
                  <a:gd name="connsiteX14" fmla="*/ 2977241 w 2983072"/>
                  <a:gd name="connsiteY14" fmla="*/ 1404120 h 1983048"/>
                  <a:gd name="connsiteX15" fmla="*/ 2977241 w 2983072"/>
                  <a:gd name="connsiteY15" fmla="*/ 1404120 h 19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3072" h="1983048">
                    <a:moveTo>
                      <a:pt x="2977241" y="1404120"/>
                    </a:moveTo>
                    <a:cubicBezTo>
                      <a:pt x="2934953" y="1378976"/>
                      <a:pt x="1826903" y="1330402"/>
                      <a:pt x="1664038" y="1312116"/>
                    </a:cubicBezTo>
                    <a:cubicBezTo>
                      <a:pt x="1645752" y="1310401"/>
                      <a:pt x="1638895" y="1303544"/>
                      <a:pt x="1634323" y="1288114"/>
                    </a:cubicBezTo>
                    <a:cubicBezTo>
                      <a:pt x="1595464" y="1168680"/>
                      <a:pt x="1325737" y="356644"/>
                      <a:pt x="1230305" y="69774"/>
                    </a:cubicBezTo>
                    <a:cubicBezTo>
                      <a:pt x="1212018" y="14914"/>
                      <a:pt x="1189160" y="-1087"/>
                      <a:pt x="1130872" y="56"/>
                    </a:cubicBezTo>
                    <a:cubicBezTo>
                      <a:pt x="1060011" y="1199"/>
                      <a:pt x="140541" y="14914"/>
                      <a:pt x="68538" y="15486"/>
                    </a:cubicBezTo>
                    <a:cubicBezTo>
                      <a:pt x="17678" y="16057"/>
                      <a:pt x="-6894" y="48059"/>
                      <a:pt x="1678" y="98918"/>
                    </a:cubicBezTo>
                    <a:cubicBezTo>
                      <a:pt x="6249" y="125776"/>
                      <a:pt x="422840" y="1433835"/>
                      <a:pt x="437126" y="1469265"/>
                    </a:cubicBezTo>
                    <a:cubicBezTo>
                      <a:pt x="467413" y="1548126"/>
                      <a:pt x="471413" y="1637273"/>
                      <a:pt x="531416" y="1703562"/>
                    </a:cubicBezTo>
                    <a:cubicBezTo>
                      <a:pt x="458270" y="1744707"/>
                      <a:pt x="455413" y="1751564"/>
                      <a:pt x="478271" y="1825853"/>
                    </a:cubicBezTo>
                    <a:cubicBezTo>
                      <a:pt x="489700" y="1863569"/>
                      <a:pt x="514272" y="1885284"/>
                      <a:pt x="554274" y="1888141"/>
                    </a:cubicBezTo>
                    <a:cubicBezTo>
                      <a:pt x="729711" y="1900713"/>
                      <a:pt x="1952051" y="1985289"/>
                      <a:pt x="2109201" y="1983003"/>
                    </a:cubicBezTo>
                    <a:cubicBezTo>
                      <a:pt x="2188062" y="1981288"/>
                      <a:pt x="2226350" y="1983574"/>
                      <a:pt x="2322354" y="1912714"/>
                    </a:cubicBezTo>
                    <a:cubicBezTo>
                      <a:pt x="2388643" y="1865283"/>
                      <a:pt x="2905809" y="1512125"/>
                      <a:pt x="2959525" y="1470408"/>
                    </a:cubicBezTo>
                    <a:cubicBezTo>
                      <a:pt x="2984670" y="1449836"/>
                      <a:pt x="2988098" y="1430978"/>
                      <a:pt x="2977241" y="1404120"/>
                    </a:cubicBezTo>
                    <a:lnTo>
                      <a:pt x="2977241" y="1404120"/>
                    </a:lnTo>
                    <a:close/>
                  </a:path>
                </a:pathLst>
              </a:custGeom>
              <a:solidFill>
                <a:srgbClr val="484848"/>
              </a:solidFill>
              <a:ln w="5709" cap="flat">
                <a:noFill/>
                <a:prstDash val="solid"/>
                <a:miter/>
              </a:ln>
            </p:spPr>
            <p:txBody>
              <a:bodyPr rtlCol="0" anchor="ctr"/>
              <a:lstStyle/>
              <a:p>
                <a:endParaRPr lang="en-US"/>
              </a:p>
            </p:txBody>
          </p:sp>
          <p:sp>
            <p:nvSpPr>
              <p:cNvPr id="12" name="Freeform: Shape 49">
                <a:extLst>
                  <a:ext uri="{FF2B5EF4-FFF2-40B4-BE49-F238E27FC236}">
                    <a16:creationId xmlns:a16="http://schemas.microsoft.com/office/drawing/2014/main" id="{8EBC0678-4E2E-4C84-A6F9-6ACDDC95CACF}"/>
                  </a:ext>
                </a:extLst>
              </p:cNvPr>
              <p:cNvSpPr/>
              <p:nvPr/>
            </p:nvSpPr>
            <p:spPr>
              <a:xfrm>
                <a:off x="7049409" y="4778370"/>
                <a:ext cx="1445617" cy="1416648"/>
              </a:xfrm>
              <a:custGeom>
                <a:avLst/>
                <a:gdLst>
                  <a:gd name="connsiteX0" fmla="*/ 1442293 w 1445617"/>
                  <a:gd name="connsiteY0" fmla="*/ 1036725 h 1416648"/>
                  <a:gd name="connsiteX1" fmla="*/ 1349718 w 1445617"/>
                  <a:gd name="connsiteY1" fmla="*/ 770427 h 1416648"/>
                  <a:gd name="connsiteX2" fmla="*/ 1094277 w 1445617"/>
                  <a:gd name="connsiteY2" fmla="*/ 25251 h 1416648"/>
                  <a:gd name="connsiteX3" fmla="*/ 1059419 w 1445617"/>
                  <a:gd name="connsiteY3" fmla="*/ 107 h 1416648"/>
                  <a:gd name="connsiteX4" fmla="*/ 62802 w 1445617"/>
                  <a:gd name="connsiteY4" fmla="*/ 41251 h 1416648"/>
                  <a:gd name="connsiteX5" fmla="*/ 13086 w 1445617"/>
                  <a:gd name="connsiteY5" fmla="*/ 109255 h 1416648"/>
                  <a:gd name="connsiteX6" fmla="*/ 166807 w 1445617"/>
                  <a:gd name="connsiteY6" fmla="*/ 575561 h 1416648"/>
                  <a:gd name="connsiteX7" fmla="*/ 430247 w 1445617"/>
                  <a:gd name="connsiteY7" fmla="*/ 1385312 h 1416648"/>
                  <a:gd name="connsiteX8" fmla="*/ 478250 w 1445617"/>
                  <a:gd name="connsiteY8" fmla="*/ 1408742 h 1416648"/>
                  <a:gd name="connsiteX9" fmla="*/ 1106278 w 1445617"/>
                  <a:gd name="connsiteY9" fmla="*/ 1184160 h 1416648"/>
                  <a:gd name="connsiteX10" fmla="*/ 1245141 w 1445617"/>
                  <a:gd name="connsiteY10" fmla="*/ 1132729 h 1416648"/>
                  <a:gd name="connsiteX11" fmla="*/ 1245141 w 1445617"/>
                  <a:gd name="connsiteY11" fmla="*/ 1132729 h 1416648"/>
                  <a:gd name="connsiteX12" fmla="*/ 1245141 w 1445617"/>
                  <a:gd name="connsiteY12" fmla="*/ 1132729 h 1416648"/>
                  <a:gd name="connsiteX13" fmla="*/ 1424007 w 1445617"/>
                  <a:gd name="connsiteY13" fmla="*/ 1071012 h 1416648"/>
                  <a:gd name="connsiteX14" fmla="*/ 1442293 w 1445617"/>
                  <a:gd name="connsiteY14" fmla="*/ 1036725 h 1416648"/>
                  <a:gd name="connsiteX15" fmla="*/ 1442293 w 1445617"/>
                  <a:gd name="connsiteY15" fmla="*/ 1036725 h 141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5617" h="1416648">
                    <a:moveTo>
                      <a:pt x="1442293" y="1036725"/>
                    </a:moveTo>
                    <a:cubicBezTo>
                      <a:pt x="1410292" y="948150"/>
                      <a:pt x="1380005" y="859003"/>
                      <a:pt x="1349718" y="770427"/>
                    </a:cubicBezTo>
                    <a:cubicBezTo>
                      <a:pt x="1263999" y="521845"/>
                      <a:pt x="1178853" y="273833"/>
                      <a:pt x="1094277" y="25251"/>
                    </a:cubicBezTo>
                    <a:cubicBezTo>
                      <a:pt x="1087991" y="6964"/>
                      <a:pt x="1080563" y="-1036"/>
                      <a:pt x="1059419" y="107"/>
                    </a:cubicBezTo>
                    <a:cubicBezTo>
                      <a:pt x="1013131" y="2964"/>
                      <a:pt x="181093" y="35537"/>
                      <a:pt x="62802" y="41251"/>
                    </a:cubicBezTo>
                    <a:cubicBezTo>
                      <a:pt x="-9201" y="44680"/>
                      <a:pt x="-9201" y="41823"/>
                      <a:pt x="13086" y="109255"/>
                    </a:cubicBezTo>
                    <a:cubicBezTo>
                      <a:pt x="64517" y="264690"/>
                      <a:pt x="115948" y="420126"/>
                      <a:pt x="166807" y="575561"/>
                    </a:cubicBezTo>
                    <a:cubicBezTo>
                      <a:pt x="254811" y="845288"/>
                      <a:pt x="342243" y="1115586"/>
                      <a:pt x="430247" y="1385312"/>
                    </a:cubicBezTo>
                    <a:cubicBezTo>
                      <a:pt x="442248" y="1422457"/>
                      <a:pt x="442819" y="1421314"/>
                      <a:pt x="478250" y="1408742"/>
                    </a:cubicBezTo>
                    <a:cubicBezTo>
                      <a:pt x="687973" y="1333881"/>
                      <a:pt x="897126" y="1259592"/>
                      <a:pt x="1106278" y="1184160"/>
                    </a:cubicBezTo>
                    <a:cubicBezTo>
                      <a:pt x="1152566" y="1167588"/>
                      <a:pt x="1201139" y="1155016"/>
                      <a:pt x="1245141" y="1132729"/>
                    </a:cubicBezTo>
                    <a:lnTo>
                      <a:pt x="1245141" y="1132729"/>
                    </a:lnTo>
                    <a:lnTo>
                      <a:pt x="1245141" y="1132729"/>
                    </a:lnTo>
                    <a:cubicBezTo>
                      <a:pt x="1304573" y="1112157"/>
                      <a:pt x="1364004" y="1090442"/>
                      <a:pt x="1424007" y="1071012"/>
                    </a:cubicBezTo>
                    <a:cubicBezTo>
                      <a:pt x="1445150" y="1065298"/>
                      <a:pt x="1449722" y="1057869"/>
                      <a:pt x="1442293" y="1036725"/>
                    </a:cubicBezTo>
                    <a:lnTo>
                      <a:pt x="1442293" y="1036725"/>
                    </a:lnTo>
                    <a:close/>
                  </a:path>
                </a:pathLst>
              </a:custGeom>
              <a:solidFill>
                <a:srgbClr val="8F8C8D"/>
              </a:solidFill>
              <a:ln w="5709" cap="flat">
                <a:noFill/>
                <a:prstDash val="solid"/>
                <a:miter/>
              </a:ln>
            </p:spPr>
            <p:txBody>
              <a:bodyPr rtlCol="0" anchor="ctr"/>
              <a:lstStyle/>
              <a:p>
                <a:endParaRPr lang="en-US"/>
              </a:p>
            </p:txBody>
          </p:sp>
          <p:sp>
            <p:nvSpPr>
              <p:cNvPr id="13" name="Freeform: Shape 50">
                <a:extLst>
                  <a:ext uri="{FF2B5EF4-FFF2-40B4-BE49-F238E27FC236}">
                    <a16:creationId xmlns:a16="http://schemas.microsoft.com/office/drawing/2014/main" id="{EEE22C42-F3B1-4CA8-9502-0D8034828D64}"/>
                  </a:ext>
                </a:extLst>
              </p:cNvPr>
              <p:cNvSpPr/>
              <p:nvPr/>
            </p:nvSpPr>
            <p:spPr>
              <a:xfrm>
                <a:off x="7048837" y="4800764"/>
                <a:ext cx="1251998" cy="1394255"/>
              </a:xfrm>
              <a:custGeom>
                <a:avLst/>
                <a:gdLst>
                  <a:gd name="connsiteX0" fmla="*/ 1251999 w 1251998"/>
                  <a:gd name="connsiteY0" fmla="*/ 1108050 h 1394255"/>
                  <a:gd name="connsiteX1" fmla="*/ 413104 w 1251998"/>
                  <a:gd name="connsiteY1" fmla="*/ 0 h 1394255"/>
                  <a:gd name="connsiteX2" fmla="*/ 62802 w 1251998"/>
                  <a:gd name="connsiteY2" fmla="*/ 16001 h 1394255"/>
                  <a:gd name="connsiteX3" fmla="*/ 13086 w 1251998"/>
                  <a:gd name="connsiteY3" fmla="*/ 84575 h 1394255"/>
                  <a:gd name="connsiteX4" fmla="*/ 166807 w 1251998"/>
                  <a:gd name="connsiteY4" fmla="*/ 551453 h 1394255"/>
                  <a:gd name="connsiteX5" fmla="*/ 429676 w 1251998"/>
                  <a:gd name="connsiteY5" fmla="*/ 1362919 h 1394255"/>
                  <a:gd name="connsiteX6" fmla="*/ 477678 w 1251998"/>
                  <a:gd name="connsiteY6" fmla="*/ 1386348 h 1394255"/>
                  <a:gd name="connsiteX7" fmla="*/ 1105706 w 1251998"/>
                  <a:gd name="connsiteY7" fmla="*/ 1161195 h 1394255"/>
                  <a:gd name="connsiteX8" fmla="*/ 1244570 w 1251998"/>
                  <a:gd name="connsiteY8" fmla="*/ 1109764 h 1394255"/>
                  <a:gd name="connsiteX9" fmla="*/ 1244570 w 1251998"/>
                  <a:gd name="connsiteY9" fmla="*/ 1109764 h 1394255"/>
                  <a:gd name="connsiteX10" fmla="*/ 1244570 w 1251998"/>
                  <a:gd name="connsiteY10" fmla="*/ 1109764 h 1394255"/>
                  <a:gd name="connsiteX11" fmla="*/ 1251999 w 1251998"/>
                  <a:gd name="connsiteY11" fmla="*/ 1108050 h 1394255"/>
                  <a:gd name="connsiteX12" fmla="*/ 1251999 w 1251998"/>
                  <a:gd name="connsiteY12" fmla="*/ 1108050 h 13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998" h="1394255">
                    <a:moveTo>
                      <a:pt x="1251999" y="1108050"/>
                    </a:moveTo>
                    <a:lnTo>
                      <a:pt x="413104" y="0"/>
                    </a:lnTo>
                    <a:cubicBezTo>
                      <a:pt x="296527" y="10858"/>
                      <a:pt x="179379" y="10286"/>
                      <a:pt x="62802" y="16001"/>
                    </a:cubicBezTo>
                    <a:cubicBezTo>
                      <a:pt x="-9201" y="19429"/>
                      <a:pt x="-9201" y="16572"/>
                      <a:pt x="13086" y="84575"/>
                    </a:cubicBezTo>
                    <a:cubicBezTo>
                      <a:pt x="64517" y="240011"/>
                      <a:pt x="115948" y="396018"/>
                      <a:pt x="166807" y="551453"/>
                    </a:cubicBezTo>
                    <a:cubicBezTo>
                      <a:pt x="254811" y="821751"/>
                      <a:pt x="342243" y="1092049"/>
                      <a:pt x="429676" y="1362919"/>
                    </a:cubicBezTo>
                    <a:cubicBezTo>
                      <a:pt x="441677" y="1400063"/>
                      <a:pt x="442248" y="1398920"/>
                      <a:pt x="477678" y="1386348"/>
                    </a:cubicBezTo>
                    <a:cubicBezTo>
                      <a:pt x="686830" y="1311488"/>
                      <a:pt x="896554" y="1237199"/>
                      <a:pt x="1105706" y="1161195"/>
                    </a:cubicBezTo>
                    <a:cubicBezTo>
                      <a:pt x="1151994" y="1144623"/>
                      <a:pt x="1200568" y="1132051"/>
                      <a:pt x="1244570" y="1109764"/>
                    </a:cubicBezTo>
                    <a:lnTo>
                      <a:pt x="1244570" y="1109764"/>
                    </a:lnTo>
                    <a:lnTo>
                      <a:pt x="1244570" y="1109764"/>
                    </a:lnTo>
                    <a:cubicBezTo>
                      <a:pt x="1247427" y="1109764"/>
                      <a:pt x="1249713" y="1108621"/>
                      <a:pt x="1251999" y="1108050"/>
                    </a:cubicBezTo>
                    <a:lnTo>
                      <a:pt x="1251999" y="1108050"/>
                    </a:lnTo>
                    <a:close/>
                  </a:path>
                </a:pathLst>
              </a:custGeom>
              <a:solidFill>
                <a:srgbClr val="6F6F6F"/>
              </a:solidFill>
              <a:ln w="5709" cap="flat">
                <a:noFill/>
                <a:prstDash val="solid"/>
                <a:miter/>
              </a:ln>
            </p:spPr>
            <p:txBody>
              <a:bodyPr rtlCol="0" anchor="ctr"/>
              <a:lstStyle/>
              <a:p>
                <a:endParaRPr lang="en-US"/>
              </a:p>
            </p:txBody>
          </p:sp>
          <p:sp>
            <p:nvSpPr>
              <p:cNvPr id="14" name="Freeform: Shape 51">
                <a:extLst>
                  <a:ext uri="{FF2B5EF4-FFF2-40B4-BE49-F238E27FC236}">
                    <a16:creationId xmlns:a16="http://schemas.microsoft.com/office/drawing/2014/main" id="{26742F30-5C4B-4E4A-BFA3-5BBED7BE7FB9}"/>
                  </a:ext>
                </a:extLst>
              </p:cNvPr>
              <p:cNvSpPr/>
              <p:nvPr/>
            </p:nvSpPr>
            <p:spPr>
              <a:xfrm>
                <a:off x="7409336" y="6400982"/>
                <a:ext cx="1760252" cy="217078"/>
              </a:xfrm>
              <a:custGeom>
                <a:avLst/>
                <a:gdLst>
                  <a:gd name="connsiteX0" fmla="*/ 1634963 w 1760252"/>
                  <a:gd name="connsiteY0" fmla="*/ 216435 h 217078"/>
                  <a:gd name="connsiteX1" fmla="*/ 84035 w 1760252"/>
                  <a:gd name="connsiteY1" fmla="*/ 121574 h 217078"/>
                  <a:gd name="connsiteX2" fmla="*/ 603 w 1760252"/>
                  <a:gd name="connsiteY2" fmla="*/ 29570 h 217078"/>
                  <a:gd name="connsiteX3" fmla="*/ 37748 w 1760252"/>
                  <a:gd name="connsiteY3" fmla="*/ 997 h 217078"/>
                  <a:gd name="connsiteX4" fmla="*/ 1735539 w 1760252"/>
                  <a:gd name="connsiteY4" fmla="*/ 162718 h 217078"/>
                  <a:gd name="connsiteX5" fmla="*/ 1760111 w 1760252"/>
                  <a:gd name="connsiteY5" fmla="*/ 178719 h 217078"/>
                  <a:gd name="connsiteX6" fmla="*/ 1737824 w 1760252"/>
                  <a:gd name="connsiteY6" fmla="*/ 197577 h 217078"/>
                  <a:gd name="connsiteX7" fmla="*/ 1634963 w 1760252"/>
                  <a:gd name="connsiteY7" fmla="*/ 216435 h 217078"/>
                  <a:gd name="connsiteX8" fmla="*/ 1634963 w 1760252"/>
                  <a:gd name="connsiteY8" fmla="*/ 216435 h 21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252" h="217078">
                    <a:moveTo>
                      <a:pt x="1634963" y="216435"/>
                    </a:moveTo>
                    <a:cubicBezTo>
                      <a:pt x="1518386" y="208435"/>
                      <a:pt x="207470" y="130145"/>
                      <a:pt x="84035" y="121574"/>
                    </a:cubicBezTo>
                    <a:cubicBezTo>
                      <a:pt x="30319" y="118145"/>
                      <a:pt x="-5111" y="77572"/>
                      <a:pt x="603" y="29570"/>
                    </a:cubicBezTo>
                    <a:cubicBezTo>
                      <a:pt x="3460" y="7854"/>
                      <a:pt x="13175" y="-3575"/>
                      <a:pt x="37748" y="997"/>
                    </a:cubicBezTo>
                    <a:cubicBezTo>
                      <a:pt x="112608" y="13569"/>
                      <a:pt x="1641820" y="147289"/>
                      <a:pt x="1735539" y="162718"/>
                    </a:cubicBezTo>
                    <a:cubicBezTo>
                      <a:pt x="1746968" y="164433"/>
                      <a:pt x="1758397" y="167290"/>
                      <a:pt x="1760111" y="178719"/>
                    </a:cubicBezTo>
                    <a:cubicBezTo>
                      <a:pt x="1761825" y="192434"/>
                      <a:pt x="1747539" y="194148"/>
                      <a:pt x="1737824" y="197577"/>
                    </a:cubicBezTo>
                    <a:cubicBezTo>
                      <a:pt x="1704109" y="209006"/>
                      <a:pt x="1670964" y="219864"/>
                      <a:pt x="1634963" y="216435"/>
                    </a:cubicBezTo>
                    <a:lnTo>
                      <a:pt x="1634963" y="216435"/>
                    </a:lnTo>
                    <a:close/>
                  </a:path>
                </a:pathLst>
              </a:custGeom>
              <a:solidFill>
                <a:srgbClr val="6F6F6F"/>
              </a:solidFill>
              <a:ln w="5709" cap="flat">
                <a:noFill/>
                <a:prstDash val="solid"/>
                <a:miter/>
              </a:ln>
            </p:spPr>
            <p:txBody>
              <a:bodyPr rtlCol="0" anchor="ctr"/>
              <a:lstStyle/>
              <a:p>
                <a:endParaRPr lang="en-US"/>
              </a:p>
            </p:txBody>
          </p:sp>
          <p:sp>
            <p:nvSpPr>
              <p:cNvPr id="15" name="Freeform: Shape 52">
                <a:extLst>
                  <a:ext uri="{FF2B5EF4-FFF2-40B4-BE49-F238E27FC236}">
                    <a16:creationId xmlns:a16="http://schemas.microsoft.com/office/drawing/2014/main" id="{283166F6-D353-4676-8941-23BC2640C671}"/>
                  </a:ext>
                </a:extLst>
              </p:cNvPr>
              <p:cNvSpPr/>
              <p:nvPr/>
            </p:nvSpPr>
            <p:spPr>
              <a:xfrm>
                <a:off x="6952507" y="4726584"/>
                <a:ext cx="531234" cy="1611633"/>
              </a:xfrm>
              <a:custGeom>
                <a:avLst/>
                <a:gdLst>
                  <a:gd name="connsiteX0" fmla="*/ 531149 w 531234"/>
                  <a:gd name="connsiteY0" fmla="*/ 1599963 h 1611633"/>
                  <a:gd name="connsiteX1" fmla="*/ 524291 w 531234"/>
                  <a:gd name="connsiteY1" fmla="*/ 1610821 h 1611633"/>
                  <a:gd name="connsiteX2" fmla="*/ 511719 w 531234"/>
                  <a:gd name="connsiteY2" fmla="*/ 1606249 h 1611633"/>
                  <a:gd name="connsiteX3" fmla="*/ 500290 w 531234"/>
                  <a:gd name="connsiteY3" fmla="*/ 1573105 h 1611633"/>
                  <a:gd name="connsiteX4" fmla="*/ 294567 w 531234"/>
                  <a:gd name="connsiteY4" fmla="*/ 933648 h 1611633"/>
                  <a:gd name="connsiteX5" fmla="*/ 8840 w 531234"/>
                  <a:gd name="connsiteY5" fmla="*/ 36464 h 1611633"/>
                  <a:gd name="connsiteX6" fmla="*/ 8268 w 531234"/>
                  <a:gd name="connsiteY6" fmla="*/ 1034 h 1611633"/>
                  <a:gd name="connsiteX7" fmla="*/ 28269 w 531234"/>
                  <a:gd name="connsiteY7" fmla="*/ 29035 h 1611633"/>
                  <a:gd name="connsiteX8" fmla="*/ 288281 w 531234"/>
                  <a:gd name="connsiteY8" fmla="*/ 843358 h 1611633"/>
                  <a:gd name="connsiteX9" fmla="*/ 524863 w 531234"/>
                  <a:gd name="connsiteY9" fmla="*/ 1579962 h 1611633"/>
                  <a:gd name="connsiteX10" fmla="*/ 531149 w 531234"/>
                  <a:gd name="connsiteY10" fmla="*/ 1599963 h 1611633"/>
                  <a:gd name="connsiteX11" fmla="*/ 531149 w 531234"/>
                  <a:gd name="connsiteY11" fmla="*/ 1599963 h 161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1234" h="1611633">
                    <a:moveTo>
                      <a:pt x="531149" y="1599963"/>
                    </a:moveTo>
                    <a:cubicBezTo>
                      <a:pt x="531720" y="1604535"/>
                      <a:pt x="529434" y="1608535"/>
                      <a:pt x="524291" y="1610821"/>
                    </a:cubicBezTo>
                    <a:cubicBezTo>
                      <a:pt x="518577" y="1613107"/>
                      <a:pt x="514005" y="1610249"/>
                      <a:pt x="511719" y="1606249"/>
                    </a:cubicBezTo>
                    <a:cubicBezTo>
                      <a:pt x="507148" y="1595392"/>
                      <a:pt x="503719" y="1584534"/>
                      <a:pt x="500290" y="1573105"/>
                    </a:cubicBezTo>
                    <a:cubicBezTo>
                      <a:pt x="431716" y="1359953"/>
                      <a:pt x="363141" y="1146800"/>
                      <a:pt x="294567" y="933648"/>
                    </a:cubicBezTo>
                    <a:cubicBezTo>
                      <a:pt x="199134" y="634777"/>
                      <a:pt x="103701" y="335335"/>
                      <a:pt x="8840" y="36464"/>
                    </a:cubicBezTo>
                    <a:cubicBezTo>
                      <a:pt x="5411" y="25607"/>
                      <a:pt x="-8876" y="6749"/>
                      <a:pt x="8268" y="1034"/>
                    </a:cubicBezTo>
                    <a:cubicBezTo>
                      <a:pt x="27126" y="-5252"/>
                      <a:pt x="24840" y="18749"/>
                      <a:pt x="28269" y="29035"/>
                    </a:cubicBezTo>
                    <a:cubicBezTo>
                      <a:pt x="115702" y="299905"/>
                      <a:pt x="201420" y="571917"/>
                      <a:pt x="288281" y="843358"/>
                    </a:cubicBezTo>
                    <a:cubicBezTo>
                      <a:pt x="366570" y="1089083"/>
                      <a:pt x="446002" y="1334237"/>
                      <a:pt x="524863" y="1579962"/>
                    </a:cubicBezTo>
                    <a:cubicBezTo>
                      <a:pt x="526577" y="1585677"/>
                      <a:pt x="528292" y="1592535"/>
                      <a:pt x="531149" y="1599963"/>
                    </a:cubicBezTo>
                    <a:lnTo>
                      <a:pt x="531149" y="1599963"/>
                    </a:lnTo>
                    <a:close/>
                  </a:path>
                </a:pathLst>
              </a:custGeom>
              <a:solidFill>
                <a:srgbClr val="909090"/>
              </a:solidFill>
              <a:ln w="5709" cap="flat">
                <a:noFill/>
                <a:prstDash val="solid"/>
                <a:miter/>
              </a:ln>
            </p:spPr>
            <p:txBody>
              <a:bodyPr rtlCol="0" anchor="ctr"/>
              <a:lstStyle/>
              <a:p>
                <a:endParaRPr lang="en-US"/>
              </a:p>
            </p:txBody>
          </p:sp>
          <p:sp>
            <p:nvSpPr>
              <p:cNvPr id="16" name="Freeform: Shape 53">
                <a:extLst>
                  <a:ext uri="{FF2B5EF4-FFF2-40B4-BE49-F238E27FC236}">
                    <a16:creationId xmlns:a16="http://schemas.microsoft.com/office/drawing/2014/main" id="{938B0B45-B1E2-405C-95FF-4D9324C72EE0}"/>
                  </a:ext>
                </a:extLst>
              </p:cNvPr>
              <p:cNvSpPr/>
              <p:nvPr/>
            </p:nvSpPr>
            <p:spPr>
              <a:xfrm>
                <a:off x="7729130" y="6057561"/>
                <a:ext cx="662402" cy="280414"/>
              </a:xfrm>
              <a:custGeom>
                <a:avLst/>
                <a:gdLst>
                  <a:gd name="connsiteX0" fmla="*/ 13395 w 662402"/>
                  <a:gd name="connsiteY0" fmla="*/ 280415 h 280414"/>
                  <a:gd name="connsiteX1" fmla="*/ 251 w 662402"/>
                  <a:gd name="connsiteY1" fmla="*/ 273557 h 280414"/>
                  <a:gd name="connsiteX2" fmla="*/ 11109 w 662402"/>
                  <a:gd name="connsiteY2" fmla="*/ 259271 h 280414"/>
                  <a:gd name="connsiteX3" fmla="*/ 628280 w 662402"/>
                  <a:gd name="connsiteY3" fmla="*/ 10117 h 280414"/>
                  <a:gd name="connsiteX4" fmla="*/ 660853 w 662402"/>
                  <a:gd name="connsiteY4" fmla="*/ 7260 h 280414"/>
                  <a:gd name="connsiteX5" fmla="*/ 636852 w 662402"/>
                  <a:gd name="connsiteY5" fmla="*/ 28975 h 280414"/>
                  <a:gd name="connsiteX6" fmla="*/ 13395 w 662402"/>
                  <a:gd name="connsiteY6" fmla="*/ 280415 h 280414"/>
                  <a:gd name="connsiteX7" fmla="*/ 13395 w 662402"/>
                  <a:gd name="connsiteY7" fmla="*/ 280415 h 28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402" h="280414">
                    <a:moveTo>
                      <a:pt x="13395" y="280415"/>
                    </a:moveTo>
                    <a:cubicBezTo>
                      <a:pt x="6537" y="280415"/>
                      <a:pt x="1394" y="279844"/>
                      <a:pt x="251" y="273557"/>
                    </a:cubicBezTo>
                    <a:cubicBezTo>
                      <a:pt x="-1463" y="264414"/>
                      <a:pt x="5966" y="261557"/>
                      <a:pt x="11109" y="259271"/>
                    </a:cubicBezTo>
                    <a:cubicBezTo>
                      <a:pt x="48825" y="243270"/>
                      <a:pt x="460272" y="77549"/>
                      <a:pt x="628280" y="10117"/>
                    </a:cubicBezTo>
                    <a:cubicBezTo>
                      <a:pt x="638566" y="6117"/>
                      <a:pt x="653995" y="-8741"/>
                      <a:pt x="660853" y="7260"/>
                    </a:cubicBezTo>
                    <a:cubicBezTo>
                      <a:pt x="668282" y="23832"/>
                      <a:pt x="647138" y="24403"/>
                      <a:pt x="636852" y="28975"/>
                    </a:cubicBezTo>
                    <a:cubicBezTo>
                      <a:pt x="435700" y="111265"/>
                      <a:pt x="18538" y="278701"/>
                      <a:pt x="13395" y="280415"/>
                    </a:cubicBezTo>
                    <a:lnTo>
                      <a:pt x="13395" y="280415"/>
                    </a:lnTo>
                    <a:close/>
                  </a:path>
                </a:pathLst>
              </a:custGeom>
              <a:solidFill>
                <a:srgbClr val="908F90"/>
              </a:solidFill>
              <a:ln w="5709" cap="flat">
                <a:noFill/>
                <a:prstDash val="solid"/>
                <a:miter/>
              </a:ln>
            </p:spPr>
            <p:txBody>
              <a:bodyPr rtlCol="0" anchor="ctr"/>
              <a:lstStyle/>
              <a:p>
                <a:endParaRPr lang="en-US"/>
              </a:p>
            </p:txBody>
          </p:sp>
          <p:sp>
            <p:nvSpPr>
              <p:cNvPr id="17" name="Freeform: Shape 54">
                <a:extLst>
                  <a:ext uri="{FF2B5EF4-FFF2-40B4-BE49-F238E27FC236}">
                    <a16:creationId xmlns:a16="http://schemas.microsoft.com/office/drawing/2014/main" id="{502BB919-4C13-4DEC-949E-12DAC54CF1FB}"/>
                  </a:ext>
                </a:extLst>
              </p:cNvPr>
              <p:cNvSpPr/>
              <p:nvPr/>
            </p:nvSpPr>
            <p:spPr>
              <a:xfrm>
                <a:off x="7609376" y="6263687"/>
                <a:ext cx="114290" cy="51430"/>
              </a:xfrm>
              <a:custGeom>
                <a:avLst/>
                <a:gdLst>
                  <a:gd name="connsiteX0" fmla="*/ 0 w 114290"/>
                  <a:gd name="connsiteY0" fmla="*/ 42288 h 51430"/>
                  <a:gd name="connsiteX1" fmla="*/ 110862 w 114290"/>
                  <a:gd name="connsiteY1" fmla="*/ 0 h 51430"/>
                  <a:gd name="connsiteX2" fmla="*/ 114291 w 114290"/>
                  <a:gd name="connsiteY2" fmla="*/ 9143 h 51430"/>
                  <a:gd name="connsiteX3" fmla="*/ 3429 w 114290"/>
                  <a:gd name="connsiteY3" fmla="*/ 51431 h 51430"/>
                  <a:gd name="connsiteX4" fmla="*/ 0 w 114290"/>
                  <a:gd name="connsiteY4" fmla="*/ 42288 h 51430"/>
                  <a:gd name="connsiteX5" fmla="*/ 0 w 114290"/>
                  <a:gd name="connsiteY5" fmla="*/ 42288 h 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90" h="51430">
                    <a:moveTo>
                      <a:pt x="0" y="42288"/>
                    </a:moveTo>
                    <a:cubicBezTo>
                      <a:pt x="36573" y="28001"/>
                      <a:pt x="73718" y="14286"/>
                      <a:pt x="110862" y="0"/>
                    </a:cubicBezTo>
                    <a:cubicBezTo>
                      <a:pt x="112005" y="3429"/>
                      <a:pt x="113148" y="6286"/>
                      <a:pt x="114291" y="9143"/>
                    </a:cubicBezTo>
                    <a:cubicBezTo>
                      <a:pt x="77718" y="23429"/>
                      <a:pt x="40573" y="37145"/>
                      <a:pt x="3429" y="51431"/>
                    </a:cubicBezTo>
                    <a:cubicBezTo>
                      <a:pt x="2286" y="48574"/>
                      <a:pt x="1143" y="45145"/>
                      <a:pt x="0" y="42288"/>
                    </a:cubicBezTo>
                    <a:lnTo>
                      <a:pt x="0" y="42288"/>
                    </a:lnTo>
                    <a:close/>
                  </a:path>
                </a:pathLst>
              </a:custGeom>
              <a:solidFill>
                <a:srgbClr val="D0D0D0"/>
              </a:solidFill>
              <a:ln w="5709" cap="flat">
                <a:noFill/>
                <a:prstDash val="solid"/>
                <a:miter/>
              </a:ln>
            </p:spPr>
            <p:txBody>
              <a:bodyPr rtlCol="0" anchor="ctr"/>
              <a:lstStyle/>
              <a:p>
                <a:endParaRPr lang="en-US"/>
              </a:p>
            </p:txBody>
          </p:sp>
        </p:grpSp>
        <p:sp>
          <p:nvSpPr>
            <p:cNvPr id="10" name="Freeform: Shape 47">
              <a:extLst>
                <a:ext uri="{FF2B5EF4-FFF2-40B4-BE49-F238E27FC236}">
                  <a16:creationId xmlns:a16="http://schemas.microsoft.com/office/drawing/2014/main" id="{FA6806EA-82F7-4CA3-ABE7-966495984156}"/>
                </a:ext>
              </a:extLst>
            </p:cNvPr>
            <p:cNvSpPr/>
            <p:nvPr/>
          </p:nvSpPr>
          <p:spPr>
            <a:xfrm rot="20712819">
              <a:off x="3437394" y="5860147"/>
              <a:ext cx="857891" cy="515601"/>
            </a:xfrm>
            <a:custGeom>
              <a:avLst/>
              <a:gdLst>
                <a:gd name="connsiteX0" fmla="*/ 1463215 w 1885950"/>
                <a:gd name="connsiteY0" fmla="*/ 833805 h 1133475"/>
                <a:gd name="connsiteX1" fmla="*/ 1517508 w 1885950"/>
                <a:gd name="connsiteY1" fmla="*/ 851903 h 1133475"/>
                <a:gd name="connsiteX2" fmla="*/ 1873742 w 1885950"/>
                <a:gd name="connsiteY2" fmla="*/ 670928 h 1133475"/>
                <a:gd name="connsiteX3" fmla="*/ 1798495 w 1885950"/>
                <a:gd name="connsiteY3" fmla="*/ 408038 h 1133475"/>
                <a:gd name="connsiteX4" fmla="*/ 1629902 w 1885950"/>
                <a:gd name="connsiteY4" fmla="*/ 322313 h 1133475"/>
                <a:gd name="connsiteX5" fmla="*/ 1587992 w 1885950"/>
                <a:gd name="connsiteY5" fmla="*/ 289928 h 1133475"/>
                <a:gd name="connsiteX6" fmla="*/ 1541320 w 1885950"/>
                <a:gd name="connsiteY6" fmla="*/ 250875 h 1133475"/>
                <a:gd name="connsiteX7" fmla="*/ 583105 w 1885950"/>
                <a:gd name="connsiteY7" fmla="*/ 3225 h 1133475"/>
                <a:gd name="connsiteX8" fmla="*/ 514525 w 1885950"/>
                <a:gd name="connsiteY8" fmla="*/ 39420 h 1133475"/>
                <a:gd name="connsiteX9" fmla="*/ 510715 w 1885950"/>
                <a:gd name="connsiteY9" fmla="*/ 609015 h 1133475"/>
                <a:gd name="connsiteX10" fmla="*/ 521192 w 1885950"/>
                <a:gd name="connsiteY10" fmla="*/ 651878 h 1133475"/>
                <a:gd name="connsiteX11" fmla="*/ 476425 w 1885950"/>
                <a:gd name="connsiteY11" fmla="*/ 648068 h 1133475"/>
                <a:gd name="connsiteX12" fmla="*/ 43037 w 1885950"/>
                <a:gd name="connsiteY12" fmla="*/ 535673 h 1133475"/>
                <a:gd name="connsiteX13" fmla="*/ 3032 w 1885950"/>
                <a:gd name="connsiteY13" fmla="*/ 535673 h 1133475"/>
                <a:gd name="connsiteX14" fmla="*/ 8748 w 1885950"/>
                <a:gd name="connsiteY14" fmla="*/ 571868 h 1133475"/>
                <a:gd name="connsiteX15" fmla="*/ 158290 w 1885950"/>
                <a:gd name="connsiteY15" fmla="*/ 764273 h 1133475"/>
                <a:gd name="connsiteX16" fmla="*/ 499285 w 1885950"/>
                <a:gd name="connsiteY16" fmla="*/ 930960 h 1133475"/>
                <a:gd name="connsiteX17" fmla="*/ 540242 w 1885950"/>
                <a:gd name="connsiteY17" fmla="*/ 957630 h 1133475"/>
                <a:gd name="connsiteX18" fmla="*/ 581200 w 1885950"/>
                <a:gd name="connsiteY18" fmla="*/ 993825 h 1133475"/>
                <a:gd name="connsiteX19" fmla="*/ 1139365 w 1885950"/>
                <a:gd name="connsiteY19" fmla="*/ 1135748 h 1133475"/>
                <a:gd name="connsiteX20" fmla="*/ 1185085 w 1885950"/>
                <a:gd name="connsiteY20" fmla="*/ 1133843 h 1133475"/>
                <a:gd name="connsiteX21" fmla="*/ 1265095 w 1885950"/>
                <a:gd name="connsiteY21" fmla="*/ 1114793 h 1133475"/>
                <a:gd name="connsiteX22" fmla="*/ 1568942 w 1885950"/>
                <a:gd name="connsiteY22" fmla="*/ 1110983 h 1133475"/>
                <a:gd name="connsiteX23" fmla="*/ 1801352 w 1885950"/>
                <a:gd name="connsiteY23" fmla="*/ 1026210 h 1133475"/>
                <a:gd name="connsiteX24" fmla="*/ 1831833 w 1885950"/>
                <a:gd name="connsiteY24" fmla="*/ 988110 h 1133475"/>
                <a:gd name="connsiteX25" fmla="*/ 1789923 w 1885950"/>
                <a:gd name="connsiteY25" fmla="*/ 970965 h 1133475"/>
                <a:gd name="connsiteX26" fmla="*/ 1640380 w 1885950"/>
                <a:gd name="connsiteY26" fmla="*/ 940485 h 1133475"/>
                <a:gd name="connsiteX27" fmla="*/ 1326055 w 1885950"/>
                <a:gd name="connsiteY27" fmla="*/ 876668 h 1133475"/>
                <a:gd name="connsiteX28" fmla="*/ 1463215 w 1885950"/>
                <a:gd name="connsiteY28" fmla="*/ 833805 h 1133475"/>
                <a:gd name="connsiteX29" fmla="*/ 1534652 w 1885950"/>
                <a:gd name="connsiteY29" fmla="*/ 655688 h 1133475"/>
                <a:gd name="connsiteX30" fmla="*/ 1596565 w 1885950"/>
                <a:gd name="connsiteY30" fmla="*/ 439470 h 1133475"/>
                <a:gd name="connsiteX31" fmla="*/ 1642285 w 1885950"/>
                <a:gd name="connsiteY31" fmla="*/ 408990 h 1133475"/>
                <a:gd name="connsiteX32" fmla="*/ 1764205 w 1885950"/>
                <a:gd name="connsiteY32" fmla="*/ 675690 h 1133475"/>
                <a:gd name="connsiteX33" fmla="*/ 1621330 w 1885950"/>
                <a:gd name="connsiteY33" fmla="*/ 760463 h 1133475"/>
                <a:gd name="connsiteX34" fmla="*/ 1583230 w 1885950"/>
                <a:gd name="connsiteY34" fmla="*/ 756653 h 1133475"/>
                <a:gd name="connsiteX35" fmla="*/ 1534652 w 1885950"/>
                <a:gd name="connsiteY35" fmla="*/ 655688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85950" h="1133475">
                  <a:moveTo>
                    <a:pt x="1463215" y="833805"/>
                  </a:moveTo>
                  <a:cubicBezTo>
                    <a:pt x="1481313" y="840473"/>
                    <a:pt x="1499410" y="847140"/>
                    <a:pt x="1517508" y="851903"/>
                  </a:cubicBezTo>
                  <a:cubicBezTo>
                    <a:pt x="1684195" y="899528"/>
                    <a:pt x="1814688" y="833805"/>
                    <a:pt x="1873742" y="670928"/>
                  </a:cubicBezTo>
                  <a:cubicBezTo>
                    <a:pt x="1911842" y="566153"/>
                    <a:pt x="1886125" y="477570"/>
                    <a:pt x="1798495" y="408038"/>
                  </a:cubicBezTo>
                  <a:cubicBezTo>
                    <a:pt x="1748013" y="368033"/>
                    <a:pt x="1689910" y="342315"/>
                    <a:pt x="1629902" y="322313"/>
                  </a:cubicBezTo>
                  <a:cubicBezTo>
                    <a:pt x="1611805" y="316598"/>
                    <a:pt x="1590850" y="313740"/>
                    <a:pt x="1587992" y="289928"/>
                  </a:cubicBezTo>
                  <a:cubicBezTo>
                    <a:pt x="1585135" y="261353"/>
                    <a:pt x="1563227" y="255638"/>
                    <a:pt x="1541320" y="250875"/>
                  </a:cubicBezTo>
                  <a:cubicBezTo>
                    <a:pt x="1222233" y="168008"/>
                    <a:pt x="902192" y="86093"/>
                    <a:pt x="583105" y="3225"/>
                  </a:cubicBezTo>
                  <a:cubicBezTo>
                    <a:pt x="545957" y="-6300"/>
                    <a:pt x="527860" y="5130"/>
                    <a:pt x="514525" y="39420"/>
                  </a:cubicBezTo>
                  <a:cubicBezTo>
                    <a:pt x="436420" y="228968"/>
                    <a:pt x="409750" y="418515"/>
                    <a:pt x="510715" y="609015"/>
                  </a:cubicBezTo>
                  <a:cubicBezTo>
                    <a:pt x="517382" y="622350"/>
                    <a:pt x="533575" y="638543"/>
                    <a:pt x="521192" y="651878"/>
                  </a:cubicBezTo>
                  <a:cubicBezTo>
                    <a:pt x="509762" y="664260"/>
                    <a:pt x="491665" y="651878"/>
                    <a:pt x="476425" y="648068"/>
                  </a:cubicBezTo>
                  <a:cubicBezTo>
                    <a:pt x="331645" y="610920"/>
                    <a:pt x="187817" y="572820"/>
                    <a:pt x="43037" y="535673"/>
                  </a:cubicBezTo>
                  <a:cubicBezTo>
                    <a:pt x="29702" y="531863"/>
                    <a:pt x="13510" y="522338"/>
                    <a:pt x="3032" y="535673"/>
                  </a:cubicBezTo>
                  <a:cubicBezTo>
                    <a:pt x="-4588" y="546150"/>
                    <a:pt x="3985" y="560438"/>
                    <a:pt x="8748" y="571868"/>
                  </a:cubicBezTo>
                  <a:cubicBezTo>
                    <a:pt x="41132" y="649973"/>
                    <a:pt x="87805" y="715695"/>
                    <a:pt x="158290" y="764273"/>
                  </a:cubicBezTo>
                  <a:cubicBezTo>
                    <a:pt x="264017" y="835710"/>
                    <a:pt x="380223" y="886193"/>
                    <a:pt x="499285" y="930960"/>
                  </a:cubicBezTo>
                  <a:cubicBezTo>
                    <a:pt x="514525" y="936675"/>
                    <a:pt x="539290" y="936675"/>
                    <a:pt x="540242" y="957630"/>
                  </a:cubicBezTo>
                  <a:cubicBezTo>
                    <a:pt x="541195" y="988110"/>
                    <a:pt x="561198" y="989063"/>
                    <a:pt x="581200" y="993825"/>
                  </a:cubicBezTo>
                  <a:cubicBezTo>
                    <a:pt x="766937" y="1041450"/>
                    <a:pt x="953627" y="1088123"/>
                    <a:pt x="1139365" y="1135748"/>
                  </a:cubicBezTo>
                  <a:cubicBezTo>
                    <a:pt x="1154605" y="1139558"/>
                    <a:pt x="1172702" y="1147178"/>
                    <a:pt x="1185085" y="1133843"/>
                  </a:cubicBezTo>
                  <a:cubicBezTo>
                    <a:pt x="1207945" y="1108125"/>
                    <a:pt x="1236520" y="1111935"/>
                    <a:pt x="1265095" y="1114793"/>
                  </a:cubicBezTo>
                  <a:cubicBezTo>
                    <a:pt x="1367013" y="1127175"/>
                    <a:pt x="1467977" y="1116698"/>
                    <a:pt x="1568942" y="1110983"/>
                  </a:cubicBezTo>
                  <a:cubicBezTo>
                    <a:pt x="1654667" y="1106220"/>
                    <a:pt x="1734677" y="1083360"/>
                    <a:pt x="1801352" y="1026210"/>
                  </a:cubicBezTo>
                  <a:cubicBezTo>
                    <a:pt x="1813735" y="1015733"/>
                    <a:pt x="1836595" y="1007160"/>
                    <a:pt x="1831833" y="988110"/>
                  </a:cubicBezTo>
                  <a:cubicBezTo>
                    <a:pt x="1828023" y="971918"/>
                    <a:pt x="1805163" y="974775"/>
                    <a:pt x="1789923" y="970965"/>
                  </a:cubicBezTo>
                  <a:cubicBezTo>
                    <a:pt x="1740392" y="960488"/>
                    <a:pt x="1690863" y="950010"/>
                    <a:pt x="1640380" y="940485"/>
                  </a:cubicBezTo>
                  <a:cubicBezTo>
                    <a:pt x="1538463" y="919530"/>
                    <a:pt x="1435592" y="898575"/>
                    <a:pt x="1326055" y="876668"/>
                  </a:cubicBezTo>
                  <a:cubicBezTo>
                    <a:pt x="1387967" y="810945"/>
                    <a:pt x="1398445" y="809040"/>
                    <a:pt x="1463215" y="833805"/>
                  </a:cubicBezTo>
                  <a:close/>
                  <a:moveTo>
                    <a:pt x="1534652" y="655688"/>
                  </a:moveTo>
                  <a:cubicBezTo>
                    <a:pt x="1576563" y="589965"/>
                    <a:pt x="1595613" y="516623"/>
                    <a:pt x="1596565" y="439470"/>
                  </a:cubicBezTo>
                  <a:cubicBezTo>
                    <a:pt x="1596565" y="404228"/>
                    <a:pt x="1607995" y="394703"/>
                    <a:pt x="1642285" y="408990"/>
                  </a:cubicBezTo>
                  <a:cubicBezTo>
                    <a:pt x="1773730" y="464235"/>
                    <a:pt x="1822308" y="568058"/>
                    <a:pt x="1764205" y="675690"/>
                  </a:cubicBezTo>
                  <a:cubicBezTo>
                    <a:pt x="1733725" y="732840"/>
                    <a:pt x="1688005" y="763320"/>
                    <a:pt x="1621330" y="760463"/>
                  </a:cubicBezTo>
                  <a:cubicBezTo>
                    <a:pt x="1608948" y="759510"/>
                    <a:pt x="1595613" y="758558"/>
                    <a:pt x="1583230" y="756653"/>
                  </a:cubicBezTo>
                  <a:cubicBezTo>
                    <a:pt x="1493695" y="743318"/>
                    <a:pt x="1487980" y="729983"/>
                    <a:pt x="1534652" y="655688"/>
                  </a:cubicBezTo>
                  <a:close/>
                </a:path>
              </a:pathLst>
            </a:custGeom>
            <a:gradFill>
              <a:gsLst>
                <a:gs pos="41000">
                  <a:schemeClr val="bg1">
                    <a:lumMod val="95000"/>
                  </a:schemeClr>
                </a:gs>
                <a:gs pos="0">
                  <a:schemeClr val="bg1">
                    <a:lumMod val="95000"/>
                  </a:schemeClr>
                </a:gs>
                <a:gs pos="100000">
                  <a:schemeClr val="bg1">
                    <a:lumMod val="65000"/>
                  </a:schemeClr>
                </a:gs>
              </a:gsLst>
              <a:lin ang="20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2" name="TextBox 31">
            <a:extLst>
              <a:ext uri="{FF2B5EF4-FFF2-40B4-BE49-F238E27FC236}">
                <a16:creationId xmlns:a16="http://schemas.microsoft.com/office/drawing/2014/main" id="{D5FFEAD3-0D8A-43B6-A30A-3F549E0FFC1B}"/>
              </a:ext>
            </a:extLst>
          </p:cNvPr>
          <p:cNvSpPr txBox="1"/>
          <p:nvPr/>
        </p:nvSpPr>
        <p:spPr>
          <a:xfrm>
            <a:off x="4502999" y="2048314"/>
            <a:ext cx="7280001" cy="369332"/>
          </a:xfrm>
          <a:prstGeom prst="rect">
            <a:avLst/>
          </a:prstGeom>
          <a:noFill/>
        </p:spPr>
        <p:txBody>
          <a:bodyPr wrap="square" rtlCol="0">
            <a:spAutoFit/>
          </a:bodyPr>
          <a:lstStyle/>
          <a:p>
            <a:r>
              <a:rPr lang="en-US" altLang="ko-KR" dirty="0">
                <a:solidFill>
                  <a:schemeClr val="accent3"/>
                </a:solidFill>
              </a:rPr>
              <a:t>Accuracy is ensured outside the model</a:t>
            </a:r>
            <a:endParaRPr lang="ko-KR" altLang="en-US" dirty="0">
              <a:solidFill>
                <a:schemeClr val="accent3"/>
              </a:solidFill>
            </a:endParaRPr>
          </a:p>
        </p:txBody>
      </p:sp>
      <p:sp>
        <p:nvSpPr>
          <p:cNvPr id="33" name="Rectangle 37">
            <a:extLst>
              <a:ext uri="{FF2B5EF4-FFF2-40B4-BE49-F238E27FC236}">
                <a16:creationId xmlns:a16="http://schemas.microsoft.com/office/drawing/2014/main" id="{B42402B0-8513-400C-9578-25C648803139}"/>
              </a:ext>
            </a:extLst>
          </p:cNvPr>
          <p:cNvSpPr/>
          <p:nvPr/>
        </p:nvSpPr>
        <p:spPr>
          <a:xfrm>
            <a:off x="4472540" y="2771971"/>
            <a:ext cx="510308" cy="47551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t>01</a:t>
            </a:r>
            <a:endParaRPr lang="ko-KR" altLang="en-US" sz="1200" b="1" dirty="0"/>
          </a:p>
        </p:txBody>
      </p:sp>
      <p:sp>
        <p:nvSpPr>
          <p:cNvPr id="34" name="Rectangle 38">
            <a:extLst>
              <a:ext uri="{FF2B5EF4-FFF2-40B4-BE49-F238E27FC236}">
                <a16:creationId xmlns:a16="http://schemas.microsoft.com/office/drawing/2014/main" id="{C2456B52-3BBF-47C2-8DA0-23DAEF519D91}"/>
              </a:ext>
            </a:extLst>
          </p:cNvPr>
          <p:cNvSpPr/>
          <p:nvPr/>
        </p:nvSpPr>
        <p:spPr>
          <a:xfrm>
            <a:off x="8143000" y="2771971"/>
            <a:ext cx="510308" cy="47551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t>04</a:t>
            </a:r>
            <a:endParaRPr lang="ko-KR" altLang="en-US" sz="1200" b="1" dirty="0"/>
          </a:p>
        </p:txBody>
      </p:sp>
      <p:sp>
        <p:nvSpPr>
          <p:cNvPr id="35" name="Rectangle 39">
            <a:extLst>
              <a:ext uri="{FF2B5EF4-FFF2-40B4-BE49-F238E27FC236}">
                <a16:creationId xmlns:a16="http://schemas.microsoft.com/office/drawing/2014/main" id="{B8E605EA-4E04-4C3B-9591-0199C1FB8CCE}"/>
              </a:ext>
            </a:extLst>
          </p:cNvPr>
          <p:cNvSpPr/>
          <p:nvPr/>
        </p:nvSpPr>
        <p:spPr>
          <a:xfrm>
            <a:off x="4472540" y="3745881"/>
            <a:ext cx="510308" cy="4755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t>02</a:t>
            </a:r>
            <a:endParaRPr lang="ko-KR" altLang="en-US" sz="1200" b="1" dirty="0"/>
          </a:p>
        </p:txBody>
      </p:sp>
      <p:sp>
        <p:nvSpPr>
          <p:cNvPr id="36" name="Rectangle 40">
            <a:extLst>
              <a:ext uri="{FF2B5EF4-FFF2-40B4-BE49-F238E27FC236}">
                <a16:creationId xmlns:a16="http://schemas.microsoft.com/office/drawing/2014/main" id="{2E9E9DCF-7A3E-4670-8579-1DD7CE5205D3}"/>
              </a:ext>
            </a:extLst>
          </p:cNvPr>
          <p:cNvSpPr/>
          <p:nvPr/>
        </p:nvSpPr>
        <p:spPr>
          <a:xfrm>
            <a:off x="8143000" y="3745881"/>
            <a:ext cx="510308" cy="475514"/>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t>05</a:t>
            </a:r>
            <a:endParaRPr lang="ko-KR" altLang="en-US" sz="1200" b="1" dirty="0"/>
          </a:p>
        </p:txBody>
      </p:sp>
      <p:grpSp>
        <p:nvGrpSpPr>
          <p:cNvPr id="37" name="Group 43">
            <a:extLst>
              <a:ext uri="{FF2B5EF4-FFF2-40B4-BE49-F238E27FC236}">
                <a16:creationId xmlns:a16="http://schemas.microsoft.com/office/drawing/2014/main" id="{11B3F1E9-9326-4E41-BCDD-006AD21FB171}"/>
              </a:ext>
            </a:extLst>
          </p:cNvPr>
          <p:cNvGrpSpPr/>
          <p:nvPr/>
        </p:nvGrpSpPr>
        <p:grpSpPr>
          <a:xfrm>
            <a:off x="-25989" y="2855701"/>
            <a:ext cx="3031576" cy="3715552"/>
            <a:chOff x="-25989" y="2855701"/>
            <a:chExt cx="3031576" cy="3715552"/>
          </a:xfrm>
        </p:grpSpPr>
        <p:sp>
          <p:nvSpPr>
            <p:cNvPr id="38" name="Freeform: Shape 55">
              <a:extLst>
                <a:ext uri="{FF2B5EF4-FFF2-40B4-BE49-F238E27FC236}">
                  <a16:creationId xmlns:a16="http://schemas.microsoft.com/office/drawing/2014/main" id="{29B37E6D-93B5-4837-BAA1-9A6436803FE7}"/>
                </a:ext>
              </a:extLst>
            </p:cNvPr>
            <p:cNvSpPr/>
            <p:nvPr/>
          </p:nvSpPr>
          <p:spPr>
            <a:xfrm flipH="1">
              <a:off x="-25989" y="3953013"/>
              <a:ext cx="2137656" cy="2618240"/>
            </a:xfrm>
            <a:custGeom>
              <a:avLst/>
              <a:gdLst>
                <a:gd name="connsiteX0" fmla="*/ 1550356 w 2619983"/>
                <a:gd name="connsiteY0" fmla="*/ 29716 h 2765267"/>
                <a:gd name="connsiteX1" fmla="*/ 1818939 w 2619983"/>
                <a:gd name="connsiteY1" fmla="*/ 176579 h 2765267"/>
                <a:gd name="connsiteX2" fmla="*/ 2097809 w 2619983"/>
                <a:gd name="connsiteY2" fmla="*/ 361731 h 2765267"/>
                <a:gd name="connsiteX3" fmla="*/ 2502398 w 2619983"/>
                <a:gd name="connsiteY3" fmla="*/ 974330 h 2765267"/>
                <a:gd name="connsiteX4" fmla="*/ 2593831 w 2619983"/>
                <a:gd name="connsiteY4" fmla="*/ 1389777 h 2765267"/>
                <a:gd name="connsiteX5" fmla="*/ 2619547 w 2619983"/>
                <a:gd name="connsiteY5" fmla="*/ 2749838 h 2765267"/>
                <a:gd name="connsiteX6" fmla="*/ 2604118 w 2619983"/>
                <a:gd name="connsiteY6" fmla="*/ 2765267 h 2765267"/>
                <a:gd name="connsiteX7" fmla="*/ 2594403 w 2619983"/>
                <a:gd name="connsiteY7" fmla="*/ 2764696 h 2765267"/>
                <a:gd name="connsiteX8" fmla="*/ 52002 w 2619983"/>
                <a:gd name="connsiteY8" fmla="*/ 2764696 h 2765267"/>
                <a:gd name="connsiteX9" fmla="*/ 49145 w 2619983"/>
                <a:gd name="connsiteY9" fmla="*/ 2764696 h 2765267"/>
                <a:gd name="connsiteX10" fmla="*/ 66289 w 2619983"/>
                <a:gd name="connsiteY10" fmla="*/ 2446396 h 2765267"/>
                <a:gd name="connsiteX11" fmla="*/ 266298 w 2619983"/>
                <a:gd name="connsiteY11" fmla="*/ 2153811 h 2765267"/>
                <a:gd name="connsiteX12" fmla="*/ 269155 w 2619983"/>
                <a:gd name="connsiteY12" fmla="*/ 2152668 h 2765267"/>
                <a:gd name="connsiteX13" fmla="*/ 543453 w 2619983"/>
                <a:gd name="connsiteY13" fmla="*/ 2153240 h 2765267"/>
                <a:gd name="connsiteX14" fmla="*/ 549739 w 2619983"/>
                <a:gd name="connsiteY14" fmla="*/ 2155526 h 2765267"/>
                <a:gd name="connsiteX15" fmla="*/ 747462 w 2619983"/>
                <a:gd name="connsiteY15" fmla="*/ 2181813 h 2765267"/>
                <a:gd name="connsiteX16" fmla="*/ 750891 w 2619983"/>
                <a:gd name="connsiteY16" fmla="*/ 2181813 h 2765267"/>
                <a:gd name="connsiteX17" fmla="*/ 763463 w 2619983"/>
                <a:gd name="connsiteY17" fmla="*/ 2156097 h 2765267"/>
                <a:gd name="connsiteX18" fmla="*/ 753748 w 2619983"/>
                <a:gd name="connsiteY18" fmla="*/ 2143525 h 2765267"/>
                <a:gd name="connsiteX19" fmla="*/ 694317 w 2619983"/>
                <a:gd name="connsiteY19" fmla="*/ 2010376 h 2765267"/>
                <a:gd name="connsiteX20" fmla="*/ 665173 w 2619983"/>
                <a:gd name="connsiteY20" fmla="*/ 1980661 h 2765267"/>
                <a:gd name="connsiteX21" fmla="*/ 641172 w 2619983"/>
                <a:gd name="connsiteY21" fmla="*/ 1970946 h 2765267"/>
                <a:gd name="connsiteX22" fmla="*/ 555454 w 2619983"/>
                <a:gd name="connsiteY22" fmla="*/ 1953231 h 2765267"/>
                <a:gd name="connsiteX23" fmla="*/ 306299 w 2619983"/>
                <a:gd name="connsiteY23" fmla="*/ 1973232 h 2765267"/>
                <a:gd name="connsiteX24" fmla="*/ 70289 w 2619983"/>
                <a:gd name="connsiteY24" fmla="*/ 1953802 h 2765267"/>
                <a:gd name="connsiteX25" fmla="*/ 133149 w 2619983"/>
                <a:gd name="connsiteY25" fmla="*/ 1856655 h 2765267"/>
                <a:gd name="connsiteX26" fmla="*/ 127434 w 2619983"/>
                <a:gd name="connsiteY26" fmla="*/ 1732078 h 2765267"/>
                <a:gd name="connsiteX27" fmla="*/ 0 w 2619983"/>
                <a:gd name="connsiteY27" fmla="*/ 1622930 h 2765267"/>
                <a:gd name="connsiteX28" fmla="*/ 205724 w 2619983"/>
                <a:gd name="connsiteY28" fmla="*/ 1596072 h 2765267"/>
                <a:gd name="connsiteX29" fmla="*/ 257154 w 2619983"/>
                <a:gd name="connsiteY29" fmla="*/ 1580071 h 2765267"/>
                <a:gd name="connsiteX30" fmla="*/ 358873 w 2619983"/>
                <a:gd name="connsiteY30" fmla="*/ 1557213 h 2765267"/>
                <a:gd name="connsiteX31" fmla="*/ 389732 w 2619983"/>
                <a:gd name="connsiteY31" fmla="*/ 1545212 h 2765267"/>
                <a:gd name="connsiteX32" fmla="*/ 496594 w 2619983"/>
                <a:gd name="connsiteY32" fmla="*/ 1495496 h 2765267"/>
                <a:gd name="connsiteX33" fmla="*/ 561168 w 2619983"/>
                <a:gd name="connsiteY33" fmla="*/ 1446922 h 2765267"/>
                <a:gd name="connsiteX34" fmla="*/ 588598 w 2619983"/>
                <a:gd name="connsiteY34" fmla="*/ 1332060 h 2765267"/>
                <a:gd name="connsiteX35" fmla="*/ 595456 w 2619983"/>
                <a:gd name="connsiteY35" fmla="*/ 1076048 h 2765267"/>
                <a:gd name="connsiteX36" fmla="*/ 586884 w 2619983"/>
                <a:gd name="connsiteY36" fmla="*/ 886897 h 2765267"/>
                <a:gd name="connsiteX37" fmla="*/ 614313 w 2619983"/>
                <a:gd name="connsiteY37" fmla="*/ 677745 h 2765267"/>
                <a:gd name="connsiteX38" fmla="*/ 710318 w 2619983"/>
                <a:gd name="connsiteY38" fmla="*/ 530881 h 2765267"/>
                <a:gd name="connsiteX39" fmla="*/ 770320 w 2619983"/>
                <a:gd name="connsiteY39" fmla="*/ 472021 h 2765267"/>
                <a:gd name="connsiteX40" fmla="*/ 1458923 w 2619983"/>
                <a:gd name="connsiteY40" fmla="*/ 0 h 2765267"/>
                <a:gd name="connsiteX41" fmla="*/ 1460637 w 2619983"/>
                <a:gd name="connsiteY41" fmla="*/ 0 h 2765267"/>
                <a:gd name="connsiteX42" fmla="*/ 1550356 w 2619983"/>
                <a:gd name="connsiteY42" fmla="*/ 29716 h 2765267"/>
                <a:gd name="connsiteX0" fmla="*/ 1576316 w 2645944"/>
                <a:gd name="connsiteY0" fmla="*/ 29716 h 2776917"/>
                <a:gd name="connsiteX1" fmla="*/ 1844899 w 2645944"/>
                <a:gd name="connsiteY1" fmla="*/ 176579 h 2776917"/>
                <a:gd name="connsiteX2" fmla="*/ 2123769 w 2645944"/>
                <a:gd name="connsiteY2" fmla="*/ 361731 h 2776917"/>
                <a:gd name="connsiteX3" fmla="*/ 2528358 w 2645944"/>
                <a:gd name="connsiteY3" fmla="*/ 974330 h 2776917"/>
                <a:gd name="connsiteX4" fmla="*/ 2619791 w 2645944"/>
                <a:gd name="connsiteY4" fmla="*/ 1389777 h 2776917"/>
                <a:gd name="connsiteX5" fmla="*/ 2645507 w 2645944"/>
                <a:gd name="connsiteY5" fmla="*/ 2749838 h 2776917"/>
                <a:gd name="connsiteX6" fmla="*/ 2630078 w 2645944"/>
                <a:gd name="connsiteY6" fmla="*/ 2765267 h 2776917"/>
                <a:gd name="connsiteX7" fmla="*/ 2620363 w 2645944"/>
                <a:gd name="connsiteY7" fmla="*/ 2764696 h 2776917"/>
                <a:gd name="connsiteX8" fmla="*/ 77962 w 2645944"/>
                <a:gd name="connsiteY8" fmla="*/ 2764696 h 2776917"/>
                <a:gd name="connsiteX9" fmla="*/ 600594 w 2645944"/>
                <a:gd name="connsiteY9" fmla="*/ 2776917 h 2776917"/>
                <a:gd name="connsiteX10" fmla="*/ 92249 w 2645944"/>
                <a:gd name="connsiteY10" fmla="*/ 2446396 h 2776917"/>
                <a:gd name="connsiteX11" fmla="*/ 292258 w 2645944"/>
                <a:gd name="connsiteY11" fmla="*/ 2153811 h 2776917"/>
                <a:gd name="connsiteX12" fmla="*/ 295115 w 2645944"/>
                <a:gd name="connsiteY12" fmla="*/ 2152668 h 2776917"/>
                <a:gd name="connsiteX13" fmla="*/ 569413 w 2645944"/>
                <a:gd name="connsiteY13" fmla="*/ 2153240 h 2776917"/>
                <a:gd name="connsiteX14" fmla="*/ 575699 w 2645944"/>
                <a:gd name="connsiteY14" fmla="*/ 2155526 h 2776917"/>
                <a:gd name="connsiteX15" fmla="*/ 773422 w 2645944"/>
                <a:gd name="connsiteY15" fmla="*/ 2181813 h 2776917"/>
                <a:gd name="connsiteX16" fmla="*/ 776851 w 2645944"/>
                <a:gd name="connsiteY16" fmla="*/ 2181813 h 2776917"/>
                <a:gd name="connsiteX17" fmla="*/ 789423 w 2645944"/>
                <a:gd name="connsiteY17" fmla="*/ 2156097 h 2776917"/>
                <a:gd name="connsiteX18" fmla="*/ 779708 w 2645944"/>
                <a:gd name="connsiteY18" fmla="*/ 2143525 h 2776917"/>
                <a:gd name="connsiteX19" fmla="*/ 720277 w 2645944"/>
                <a:gd name="connsiteY19" fmla="*/ 2010376 h 2776917"/>
                <a:gd name="connsiteX20" fmla="*/ 691133 w 2645944"/>
                <a:gd name="connsiteY20" fmla="*/ 1980661 h 2776917"/>
                <a:gd name="connsiteX21" fmla="*/ 667132 w 2645944"/>
                <a:gd name="connsiteY21" fmla="*/ 1970946 h 2776917"/>
                <a:gd name="connsiteX22" fmla="*/ 581414 w 2645944"/>
                <a:gd name="connsiteY22" fmla="*/ 1953231 h 2776917"/>
                <a:gd name="connsiteX23" fmla="*/ 332259 w 2645944"/>
                <a:gd name="connsiteY23" fmla="*/ 1973232 h 2776917"/>
                <a:gd name="connsiteX24" fmla="*/ 96249 w 2645944"/>
                <a:gd name="connsiteY24" fmla="*/ 1953802 h 2776917"/>
                <a:gd name="connsiteX25" fmla="*/ 159109 w 2645944"/>
                <a:gd name="connsiteY25" fmla="*/ 1856655 h 2776917"/>
                <a:gd name="connsiteX26" fmla="*/ 153394 w 2645944"/>
                <a:gd name="connsiteY26" fmla="*/ 1732078 h 2776917"/>
                <a:gd name="connsiteX27" fmla="*/ 25960 w 2645944"/>
                <a:gd name="connsiteY27" fmla="*/ 1622930 h 2776917"/>
                <a:gd name="connsiteX28" fmla="*/ 231684 w 2645944"/>
                <a:gd name="connsiteY28" fmla="*/ 1596072 h 2776917"/>
                <a:gd name="connsiteX29" fmla="*/ 283114 w 2645944"/>
                <a:gd name="connsiteY29" fmla="*/ 1580071 h 2776917"/>
                <a:gd name="connsiteX30" fmla="*/ 384833 w 2645944"/>
                <a:gd name="connsiteY30" fmla="*/ 1557213 h 2776917"/>
                <a:gd name="connsiteX31" fmla="*/ 415692 w 2645944"/>
                <a:gd name="connsiteY31" fmla="*/ 1545212 h 2776917"/>
                <a:gd name="connsiteX32" fmla="*/ 522554 w 2645944"/>
                <a:gd name="connsiteY32" fmla="*/ 1495496 h 2776917"/>
                <a:gd name="connsiteX33" fmla="*/ 587128 w 2645944"/>
                <a:gd name="connsiteY33" fmla="*/ 1446922 h 2776917"/>
                <a:gd name="connsiteX34" fmla="*/ 614558 w 2645944"/>
                <a:gd name="connsiteY34" fmla="*/ 1332060 h 2776917"/>
                <a:gd name="connsiteX35" fmla="*/ 621416 w 2645944"/>
                <a:gd name="connsiteY35" fmla="*/ 1076048 h 2776917"/>
                <a:gd name="connsiteX36" fmla="*/ 612844 w 2645944"/>
                <a:gd name="connsiteY36" fmla="*/ 886897 h 2776917"/>
                <a:gd name="connsiteX37" fmla="*/ 640273 w 2645944"/>
                <a:gd name="connsiteY37" fmla="*/ 677745 h 2776917"/>
                <a:gd name="connsiteX38" fmla="*/ 736278 w 2645944"/>
                <a:gd name="connsiteY38" fmla="*/ 530881 h 2776917"/>
                <a:gd name="connsiteX39" fmla="*/ 796280 w 2645944"/>
                <a:gd name="connsiteY39" fmla="*/ 472021 h 2776917"/>
                <a:gd name="connsiteX40" fmla="*/ 1484883 w 2645944"/>
                <a:gd name="connsiteY40" fmla="*/ 0 h 2776917"/>
                <a:gd name="connsiteX41" fmla="*/ 1486597 w 2645944"/>
                <a:gd name="connsiteY41" fmla="*/ 0 h 2776917"/>
                <a:gd name="connsiteX42" fmla="*/ 1576316 w 2645944"/>
                <a:gd name="connsiteY42" fmla="*/ 29716 h 2776917"/>
                <a:gd name="connsiteX0" fmla="*/ 1550356 w 2619984"/>
                <a:gd name="connsiteY0" fmla="*/ 29716 h 2776917"/>
                <a:gd name="connsiteX1" fmla="*/ 1818939 w 2619984"/>
                <a:gd name="connsiteY1" fmla="*/ 176579 h 2776917"/>
                <a:gd name="connsiteX2" fmla="*/ 2097809 w 2619984"/>
                <a:gd name="connsiteY2" fmla="*/ 361731 h 2776917"/>
                <a:gd name="connsiteX3" fmla="*/ 2502398 w 2619984"/>
                <a:gd name="connsiteY3" fmla="*/ 974330 h 2776917"/>
                <a:gd name="connsiteX4" fmla="*/ 2593831 w 2619984"/>
                <a:gd name="connsiteY4" fmla="*/ 1389777 h 2776917"/>
                <a:gd name="connsiteX5" fmla="*/ 2619547 w 2619984"/>
                <a:gd name="connsiteY5" fmla="*/ 2749838 h 2776917"/>
                <a:gd name="connsiteX6" fmla="*/ 2604118 w 2619984"/>
                <a:gd name="connsiteY6" fmla="*/ 2765267 h 2776917"/>
                <a:gd name="connsiteX7" fmla="*/ 2594403 w 2619984"/>
                <a:gd name="connsiteY7" fmla="*/ 2764696 h 2776917"/>
                <a:gd name="connsiteX8" fmla="*/ 574634 w 2619984"/>
                <a:gd name="connsiteY8" fmla="*/ 2776917 h 2776917"/>
                <a:gd name="connsiteX9" fmla="*/ 66289 w 2619984"/>
                <a:gd name="connsiteY9" fmla="*/ 2446396 h 2776917"/>
                <a:gd name="connsiteX10" fmla="*/ 266298 w 2619984"/>
                <a:gd name="connsiteY10" fmla="*/ 2153811 h 2776917"/>
                <a:gd name="connsiteX11" fmla="*/ 269155 w 2619984"/>
                <a:gd name="connsiteY11" fmla="*/ 2152668 h 2776917"/>
                <a:gd name="connsiteX12" fmla="*/ 543453 w 2619984"/>
                <a:gd name="connsiteY12" fmla="*/ 2153240 h 2776917"/>
                <a:gd name="connsiteX13" fmla="*/ 549739 w 2619984"/>
                <a:gd name="connsiteY13" fmla="*/ 2155526 h 2776917"/>
                <a:gd name="connsiteX14" fmla="*/ 747462 w 2619984"/>
                <a:gd name="connsiteY14" fmla="*/ 2181813 h 2776917"/>
                <a:gd name="connsiteX15" fmla="*/ 750891 w 2619984"/>
                <a:gd name="connsiteY15" fmla="*/ 2181813 h 2776917"/>
                <a:gd name="connsiteX16" fmla="*/ 763463 w 2619984"/>
                <a:gd name="connsiteY16" fmla="*/ 2156097 h 2776917"/>
                <a:gd name="connsiteX17" fmla="*/ 753748 w 2619984"/>
                <a:gd name="connsiteY17" fmla="*/ 2143525 h 2776917"/>
                <a:gd name="connsiteX18" fmla="*/ 694317 w 2619984"/>
                <a:gd name="connsiteY18" fmla="*/ 2010376 h 2776917"/>
                <a:gd name="connsiteX19" fmla="*/ 665173 w 2619984"/>
                <a:gd name="connsiteY19" fmla="*/ 1980661 h 2776917"/>
                <a:gd name="connsiteX20" fmla="*/ 641172 w 2619984"/>
                <a:gd name="connsiteY20" fmla="*/ 1970946 h 2776917"/>
                <a:gd name="connsiteX21" fmla="*/ 555454 w 2619984"/>
                <a:gd name="connsiteY21" fmla="*/ 1953231 h 2776917"/>
                <a:gd name="connsiteX22" fmla="*/ 306299 w 2619984"/>
                <a:gd name="connsiteY22" fmla="*/ 1973232 h 2776917"/>
                <a:gd name="connsiteX23" fmla="*/ 70289 w 2619984"/>
                <a:gd name="connsiteY23" fmla="*/ 1953802 h 2776917"/>
                <a:gd name="connsiteX24" fmla="*/ 133149 w 2619984"/>
                <a:gd name="connsiteY24" fmla="*/ 1856655 h 2776917"/>
                <a:gd name="connsiteX25" fmla="*/ 127434 w 2619984"/>
                <a:gd name="connsiteY25" fmla="*/ 1732078 h 2776917"/>
                <a:gd name="connsiteX26" fmla="*/ 0 w 2619984"/>
                <a:gd name="connsiteY26" fmla="*/ 1622930 h 2776917"/>
                <a:gd name="connsiteX27" fmla="*/ 205724 w 2619984"/>
                <a:gd name="connsiteY27" fmla="*/ 1596072 h 2776917"/>
                <a:gd name="connsiteX28" fmla="*/ 257154 w 2619984"/>
                <a:gd name="connsiteY28" fmla="*/ 1580071 h 2776917"/>
                <a:gd name="connsiteX29" fmla="*/ 358873 w 2619984"/>
                <a:gd name="connsiteY29" fmla="*/ 1557213 h 2776917"/>
                <a:gd name="connsiteX30" fmla="*/ 389732 w 2619984"/>
                <a:gd name="connsiteY30" fmla="*/ 1545212 h 2776917"/>
                <a:gd name="connsiteX31" fmla="*/ 496594 w 2619984"/>
                <a:gd name="connsiteY31" fmla="*/ 1495496 h 2776917"/>
                <a:gd name="connsiteX32" fmla="*/ 561168 w 2619984"/>
                <a:gd name="connsiteY32" fmla="*/ 1446922 h 2776917"/>
                <a:gd name="connsiteX33" fmla="*/ 588598 w 2619984"/>
                <a:gd name="connsiteY33" fmla="*/ 1332060 h 2776917"/>
                <a:gd name="connsiteX34" fmla="*/ 595456 w 2619984"/>
                <a:gd name="connsiteY34" fmla="*/ 1076048 h 2776917"/>
                <a:gd name="connsiteX35" fmla="*/ 586884 w 2619984"/>
                <a:gd name="connsiteY35" fmla="*/ 886897 h 2776917"/>
                <a:gd name="connsiteX36" fmla="*/ 614313 w 2619984"/>
                <a:gd name="connsiteY36" fmla="*/ 677745 h 2776917"/>
                <a:gd name="connsiteX37" fmla="*/ 710318 w 2619984"/>
                <a:gd name="connsiteY37" fmla="*/ 530881 h 2776917"/>
                <a:gd name="connsiteX38" fmla="*/ 770320 w 2619984"/>
                <a:gd name="connsiteY38" fmla="*/ 472021 h 2776917"/>
                <a:gd name="connsiteX39" fmla="*/ 1458923 w 2619984"/>
                <a:gd name="connsiteY39" fmla="*/ 0 h 2776917"/>
                <a:gd name="connsiteX40" fmla="*/ 1460637 w 2619984"/>
                <a:gd name="connsiteY40" fmla="*/ 0 h 2776917"/>
                <a:gd name="connsiteX41" fmla="*/ 1550356 w 2619984"/>
                <a:gd name="connsiteY41" fmla="*/ 29716 h 2776917"/>
                <a:gd name="connsiteX0" fmla="*/ 1550356 w 2619984"/>
                <a:gd name="connsiteY0" fmla="*/ 29716 h 2776917"/>
                <a:gd name="connsiteX1" fmla="*/ 1818939 w 2619984"/>
                <a:gd name="connsiteY1" fmla="*/ 176579 h 2776917"/>
                <a:gd name="connsiteX2" fmla="*/ 2097809 w 2619984"/>
                <a:gd name="connsiteY2" fmla="*/ 361731 h 2776917"/>
                <a:gd name="connsiteX3" fmla="*/ 2502398 w 2619984"/>
                <a:gd name="connsiteY3" fmla="*/ 974330 h 2776917"/>
                <a:gd name="connsiteX4" fmla="*/ 2593831 w 2619984"/>
                <a:gd name="connsiteY4" fmla="*/ 1389777 h 2776917"/>
                <a:gd name="connsiteX5" fmla="*/ 2619547 w 2619984"/>
                <a:gd name="connsiteY5" fmla="*/ 2749838 h 2776917"/>
                <a:gd name="connsiteX6" fmla="*/ 2604118 w 2619984"/>
                <a:gd name="connsiteY6" fmla="*/ 2765267 h 2776917"/>
                <a:gd name="connsiteX7" fmla="*/ 2594403 w 2619984"/>
                <a:gd name="connsiteY7" fmla="*/ 2764696 h 2776917"/>
                <a:gd name="connsiteX8" fmla="*/ 574634 w 2619984"/>
                <a:gd name="connsiteY8" fmla="*/ 2776917 h 2776917"/>
                <a:gd name="connsiteX9" fmla="*/ 5185 w 2619984"/>
                <a:gd name="connsiteY9" fmla="*/ 2593044 h 2776917"/>
                <a:gd name="connsiteX10" fmla="*/ 266298 w 2619984"/>
                <a:gd name="connsiteY10" fmla="*/ 2153811 h 2776917"/>
                <a:gd name="connsiteX11" fmla="*/ 269155 w 2619984"/>
                <a:gd name="connsiteY11" fmla="*/ 2152668 h 2776917"/>
                <a:gd name="connsiteX12" fmla="*/ 543453 w 2619984"/>
                <a:gd name="connsiteY12" fmla="*/ 2153240 h 2776917"/>
                <a:gd name="connsiteX13" fmla="*/ 549739 w 2619984"/>
                <a:gd name="connsiteY13" fmla="*/ 2155526 h 2776917"/>
                <a:gd name="connsiteX14" fmla="*/ 747462 w 2619984"/>
                <a:gd name="connsiteY14" fmla="*/ 2181813 h 2776917"/>
                <a:gd name="connsiteX15" fmla="*/ 750891 w 2619984"/>
                <a:gd name="connsiteY15" fmla="*/ 2181813 h 2776917"/>
                <a:gd name="connsiteX16" fmla="*/ 763463 w 2619984"/>
                <a:gd name="connsiteY16" fmla="*/ 2156097 h 2776917"/>
                <a:gd name="connsiteX17" fmla="*/ 753748 w 2619984"/>
                <a:gd name="connsiteY17" fmla="*/ 2143525 h 2776917"/>
                <a:gd name="connsiteX18" fmla="*/ 694317 w 2619984"/>
                <a:gd name="connsiteY18" fmla="*/ 2010376 h 2776917"/>
                <a:gd name="connsiteX19" fmla="*/ 665173 w 2619984"/>
                <a:gd name="connsiteY19" fmla="*/ 1980661 h 2776917"/>
                <a:gd name="connsiteX20" fmla="*/ 641172 w 2619984"/>
                <a:gd name="connsiteY20" fmla="*/ 1970946 h 2776917"/>
                <a:gd name="connsiteX21" fmla="*/ 555454 w 2619984"/>
                <a:gd name="connsiteY21" fmla="*/ 1953231 h 2776917"/>
                <a:gd name="connsiteX22" fmla="*/ 306299 w 2619984"/>
                <a:gd name="connsiteY22" fmla="*/ 1973232 h 2776917"/>
                <a:gd name="connsiteX23" fmla="*/ 70289 w 2619984"/>
                <a:gd name="connsiteY23" fmla="*/ 1953802 h 2776917"/>
                <a:gd name="connsiteX24" fmla="*/ 133149 w 2619984"/>
                <a:gd name="connsiteY24" fmla="*/ 1856655 h 2776917"/>
                <a:gd name="connsiteX25" fmla="*/ 127434 w 2619984"/>
                <a:gd name="connsiteY25" fmla="*/ 1732078 h 2776917"/>
                <a:gd name="connsiteX26" fmla="*/ 0 w 2619984"/>
                <a:gd name="connsiteY26" fmla="*/ 1622930 h 2776917"/>
                <a:gd name="connsiteX27" fmla="*/ 205724 w 2619984"/>
                <a:gd name="connsiteY27" fmla="*/ 1596072 h 2776917"/>
                <a:gd name="connsiteX28" fmla="*/ 257154 w 2619984"/>
                <a:gd name="connsiteY28" fmla="*/ 1580071 h 2776917"/>
                <a:gd name="connsiteX29" fmla="*/ 358873 w 2619984"/>
                <a:gd name="connsiteY29" fmla="*/ 1557213 h 2776917"/>
                <a:gd name="connsiteX30" fmla="*/ 389732 w 2619984"/>
                <a:gd name="connsiteY30" fmla="*/ 1545212 h 2776917"/>
                <a:gd name="connsiteX31" fmla="*/ 496594 w 2619984"/>
                <a:gd name="connsiteY31" fmla="*/ 1495496 h 2776917"/>
                <a:gd name="connsiteX32" fmla="*/ 561168 w 2619984"/>
                <a:gd name="connsiteY32" fmla="*/ 1446922 h 2776917"/>
                <a:gd name="connsiteX33" fmla="*/ 588598 w 2619984"/>
                <a:gd name="connsiteY33" fmla="*/ 1332060 h 2776917"/>
                <a:gd name="connsiteX34" fmla="*/ 595456 w 2619984"/>
                <a:gd name="connsiteY34" fmla="*/ 1076048 h 2776917"/>
                <a:gd name="connsiteX35" fmla="*/ 586884 w 2619984"/>
                <a:gd name="connsiteY35" fmla="*/ 886897 h 2776917"/>
                <a:gd name="connsiteX36" fmla="*/ 614313 w 2619984"/>
                <a:gd name="connsiteY36" fmla="*/ 677745 h 2776917"/>
                <a:gd name="connsiteX37" fmla="*/ 710318 w 2619984"/>
                <a:gd name="connsiteY37" fmla="*/ 530881 h 2776917"/>
                <a:gd name="connsiteX38" fmla="*/ 770320 w 2619984"/>
                <a:gd name="connsiteY38" fmla="*/ 472021 h 2776917"/>
                <a:gd name="connsiteX39" fmla="*/ 1458923 w 2619984"/>
                <a:gd name="connsiteY39" fmla="*/ 0 h 2776917"/>
                <a:gd name="connsiteX40" fmla="*/ 1460637 w 2619984"/>
                <a:gd name="connsiteY40" fmla="*/ 0 h 2776917"/>
                <a:gd name="connsiteX41" fmla="*/ 1550356 w 2619984"/>
                <a:gd name="connsiteY41" fmla="*/ 29716 h 2776917"/>
                <a:gd name="connsiteX0" fmla="*/ 1550356 w 2731128"/>
                <a:gd name="connsiteY0" fmla="*/ 29716 h 2801358"/>
                <a:gd name="connsiteX1" fmla="*/ 1818939 w 2731128"/>
                <a:gd name="connsiteY1" fmla="*/ 176579 h 2801358"/>
                <a:gd name="connsiteX2" fmla="*/ 2097809 w 2731128"/>
                <a:gd name="connsiteY2" fmla="*/ 361731 h 2801358"/>
                <a:gd name="connsiteX3" fmla="*/ 2502398 w 2731128"/>
                <a:gd name="connsiteY3" fmla="*/ 974330 h 2801358"/>
                <a:gd name="connsiteX4" fmla="*/ 2593831 w 2731128"/>
                <a:gd name="connsiteY4" fmla="*/ 1389777 h 2801358"/>
                <a:gd name="connsiteX5" fmla="*/ 2619547 w 2731128"/>
                <a:gd name="connsiteY5" fmla="*/ 2749838 h 2801358"/>
                <a:gd name="connsiteX6" fmla="*/ 2604118 w 2731128"/>
                <a:gd name="connsiteY6" fmla="*/ 2765267 h 2801358"/>
                <a:gd name="connsiteX7" fmla="*/ 2594403 w 2731128"/>
                <a:gd name="connsiteY7" fmla="*/ 2764696 h 2801358"/>
                <a:gd name="connsiteX8" fmla="*/ 782385 w 2731128"/>
                <a:gd name="connsiteY8" fmla="*/ 2801358 h 2801358"/>
                <a:gd name="connsiteX9" fmla="*/ 5185 w 2731128"/>
                <a:gd name="connsiteY9" fmla="*/ 2593044 h 2801358"/>
                <a:gd name="connsiteX10" fmla="*/ 266298 w 2731128"/>
                <a:gd name="connsiteY10" fmla="*/ 2153811 h 2801358"/>
                <a:gd name="connsiteX11" fmla="*/ 269155 w 2731128"/>
                <a:gd name="connsiteY11" fmla="*/ 2152668 h 2801358"/>
                <a:gd name="connsiteX12" fmla="*/ 543453 w 2731128"/>
                <a:gd name="connsiteY12" fmla="*/ 2153240 h 2801358"/>
                <a:gd name="connsiteX13" fmla="*/ 549739 w 2731128"/>
                <a:gd name="connsiteY13" fmla="*/ 2155526 h 2801358"/>
                <a:gd name="connsiteX14" fmla="*/ 747462 w 2731128"/>
                <a:gd name="connsiteY14" fmla="*/ 2181813 h 2801358"/>
                <a:gd name="connsiteX15" fmla="*/ 750891 w 2731128"/>
                <a:gd name="connsiteY15" fmla="*/ 2181813 h 2801358"/>
                <a:gd name="connsiteX16" fmla="*/ 763463 w 2731128"/>
                <a:gd name="connsiteY16" fmla="*/ 2156097 h 2801358"/>
                <a:gd name="connsiteX17" fmla="*/ 753748 w 2731128"/>
                <a:gd name="connsiteY17" fmla="*/ 2143525 h 2801358"/>
                <a:gd name="connsiteX18" fmla="*/ 694317 w 2731128"/>
                <a:gd name="connsiteY18" fmla="*/ 2010376 h 2801358"/>
                <a:gd name="connsiteX19" fmla="*/ 665173 w 2731128"/>
                <a:gd name="connsiteY19" fmla="*/ 1980661 h 2801358"/>
                <a:gd name="connsiteX20" fmla="*/ 641172 w 2731128"/>
                <a:gd name="connsiteY20" fmla="*/ 1970946 h 2801358"/>
                <a:gd name="connsiteX21" fmla="*/ 555454 w 2731128"/>
                <a:gd name="connsiteY21" fmla="*/ 1953231 h 2801358"/>
                <a:gd name="connsiteX22" fmla="*/ 306299 w 2731128"/>
                <a:gd name="connsiteY22" fmla="*/ 1973232 h 2801358"/>
                <a:gd name="connsiteX23" fmla="*/ 70289 w 2731128"/>
                <a:gd name="connsiteY23" fmla="*/ 1953802 h 2801358"/>
                <a:gd name="connsiteX24" fmla="*/ 133149 w 2731128"/>
                <a:gd name="connsiteY24" fmla="*/ 1856655 h 2801358"/>
                <a:gd name="connsiteX25" fmla="*/ 127434 w 2731128"/>
                <a:gd name="connsiteY25" fmla="*/ 1732078 h 2801358"/>
                <a:gd name="connsiteX26" fmla="*/ 0 w 2731128"/>
                <a:gd name="connsiteY26" fmla="*/ 1622930 h 2801358"/>
                <a:gd name="connsiteX27" fmla="*/ 205724 w 2731128"/>
                <a:gd name="connsiteY27" fmla="*/ 1596072 h 2801358"/>
                <a:gd name="connsiteX28" fmla="*/ 257154 w 2731128"/>
                <a:gd name="connsiteY28" fmla="*/ 1580071 h 2801358"/>
                <a:gd name="connsiteX29" fmla="*/ 358873 w 2731128"/>
                <a:gd name="connsiteY29" fmla="*/ 1557213 h 2801358"/>
                <a:gd name="connsiteX30" fmla="*/ 389732 w 2731128"/>
                <a:gd name="connsiteY30" fmla="*/ 1545212 h 2801358"/>
                <a:gd name="connsiteX31" fmla="*/ 496594 w 2731128"/>
                <a:gd name="connsiteY31" fmla="*/ 1495496 h 2801358"/>
                <a:gd name="connsiteX32" fmla="*/ 561168 w 2731128"/>
                <a:gd name="connsiteY32" fmla="*/ 1446922 h 2801358"/>
                <a:gd name="connsiteX33" fmla="*/ 588598 w 2731128"/>
                <a:gd name="connsiteY33" fmla="*/ 1332060 h 2801358"/>
                <a:gd name="connsiteX34" fmla="*/ 595456 w 2731128"/>
                <a:gd name="connsiteY34" fmla="*/ 1076048 h 2801358"/>
                <a:gd name="connsiteX35" fmla="*/ 586884 w 2731128"/>
                <a:gd name="connsiteY35" fmla="*/ 886897 h 2801358"/>
                <a:gd name="connsiteX36" fmla="*/ 614313 w 2731128"/>
                <a:gd name="connsiteY36" fmla="*/ 677745 h 2801358"/>
                <a:gd name="connsiteX37" fmla="*/ 710318 w 2731128"/>
                <a:gd name="connsiteY37" fmla="*/ 530881 h 2801358"/>
                <a:gd name="connsiteX38" fmla="*/ 770320 w 2731128"/>
                <a:gd name="connsiteY38" fmla="*/ 472021 h 2801358"/>
                <a:gd name="connsiteX39" fmla="*/ 1458923 w 2731128"/>
                <a:gd name="connsiteY39" fmla="*/ 0 h 2801358"/>
                <a:gd name="connsiteX40" fmla="*/ 1460637 w 2731128"/>
                <a:gd name="connsiteY40" fmla="*/ 0 h 2801358"/>
                <a:gd name="connsiteX41" fmla="*/ 1550356 w 2731128"/>
                <a:gd name="connsiteY41" fmla="*/ 29716 h 2801358"/>
                <a:gd name="connsiteX0" fmla="*/ 1550356 w 2740446"/>
                <a:gd name="connsiteY0" fmla="*/ 29716 h 3583481"/>
                <a:gd name="connsiteX1" fmla="*/ 1818939 w 2740446"/>
                <a:gd name="connsiteY1" fmla="*/ 176579 h 3583481"/>
                <a:gd name="connsiteX2" fmla="*/ 2097809 w 2740446"/>
                <a:gd name="connsiteY2" fmla="*/ 361731 h 3583481"/>
                <a:gd name="connsiteX3" fmla="*/ 2502398 w 2740446"/>
                <a:gd name="connsiteY3" fmla="*/ 974330 h 3583481"/>
                <a:gd name="connsiteX4" fmla="*/ 2593831 w 2740446"/>
                <a:gd name="connsiteY4" fmla="*/ 1389777 h 3583481"/>
                <a:gd name="connsiteX5" fmla="*/ 2619547 w 2740446"/>
                <a:gd name="connsiteY5" fmla="*/ 2749838 h 3583481"/>
                <a:gd name="connsiteX6" fmla="*/ 2604118 w 2740446"/>
                <a:gd name="connsiteY6" fmla="*/ 2765267 h 3583481"/>
                <a:gd name="connsiteX7" fmla="*/ 2606624 w 2740446"/>
                <a:gd name="connsiteY7" fmla="*/ 3583481 h 3583481"/>
                <a:gd name="connsiteX8" fmla="*/ 782385 w 2740446"/>
                <a:gd name="connsiteY8" fmla="*/ 2801358 h 3583481"/>
                <a:gd name="connsiteX9" fmla="*/ 5185 w 2740446"/>
                <a:gd name="connsiteY9" fmla="*/ 2593044 h 3583481"/>
                <a:gd name="connsiteX10" fmla="*/ 266298 w 2740446"/>
                <a:gd name="connsiteY10" fmla="*/ 2153811 h 3583481"/>
                <a:gd name="connsiteX11" fmla="*/ 269155 w 2740446"/>
                <a:gd name="connsiteY11" fmla="*/ 2152668 h 3583481"/>
                <a:gd name="connsiteX12" fmla="*/ 543453 w 2740446"/>
                <a:gd name="connsiteY12" fmla="*/ 2153240 h 3583481"/>
                <a:gd name="connsiteX13" fmla="*/ 549739 w 2740446"/>
                <a:gd name="connsiteY13" fmla="*/ 2155526 h 3583481"/>
                <a:gd name="connsiteX14" fmla="*/ 747462 w 2740446"/>
                <a:gd name="connsiteY14" fmla="*/ 2181813 h 3583481"/>
                <a:gd name="connsiteX15" fmla="*/ 750891 w 2740446"/>
                <a:gd name="connsiteY15" fmla="*/ 2181813 h 3583481"/>
                <a:gd name="connsiteX16" fmla="*/ 763463 w 2740446"/>
                <a:gd name="connsiteY16" fmla="*/ 2156097 h 3583481"/>
                <a:gd name="connsiteX17" fmla="*/ 753748 w 2740446"/>
                <a:gd name="connsiteY17" fmla="*/ 2143525 h 3583481"/>
                <a:gd name="connsiteX18" fmla="*/ 694317 w 2740446"/>
                <a:gd name="connsiteY18" fmla="*/ 2010376 h 3583481"/>
                <a:gd name="connsiteX19" fmla="*/ 665173 w 2740446"/>
                <a:gd name="connsiteY19" fmla="*/ 1980661 h 3583481"/>
                <a:gd name="connsiteX20" fmla="*/ 641172 w 2740446"/>
                <a:gd name="connsiteY20" fmla="*/ 1970946 h 3583481"/>
                <a:gd name="connsiteX21" fmla="*/ 555454 w 2740446"/>
                <a:gd name="connsiteY21" fmla="*/ 1953231 h 3583481"/>
                <a:gd name="connsiteX22" fmla="*/ 306299 w 2740446"/>
                <a:gd name="connsiteY22" fmla="*/ 1973232 h 3583481"/>
                <a:gd name="connsiteX23" fmla="*/ 70289 w 2740446"/>
                <a:gd name="connsiteY23" fmla="*/ 1953802 h 3583481"/>
                <a:gd name="connsiteX24" fmla="*/ 133149 w 2740446"/>
                <a:gd name="connsiteY24" fmla="*/ 1856655 h 3583481"/>
                <a:gd name="connsiteX25" fmla="*/ 127434 w 2740446"/>
                <a:gd name="connsiteY25" fmla="*/ 1732078 h 3583481"/>
                <a:gd name="connsiteX26" fmla="*/ 0 w 2740446"/>
                <a:gd name="connsiteY26" fmla="*/ 1622930 h 3583481"/>
                <a:gd name="connsiteX27" fmla="*/ 205724 w 2740446"/>
                <a:gd name="connsiteY27" fmla="*/ 1596072 h 3583481"/>
                <a:gd name="connsiteX28" fmla="*/ 257154 w 2740446"/>
                <a:gd name="connsiteY28" fmla="*/ 1580071 h 3583481"/>
                <a:gd name="connsiteX29" fmla="*/ 358873 w 2740446"/>
                <a:gd name="connsiteY29" fmla="*/ 1557213 h 3583481"/>
                <a:gd name="connsiteX30" fmla="*/ 389732 w 2740446"/>
                <a:gd name="connsiteY30" fmla="*/ 1545212 h 3583481"/>
                <a:gd name="connsiteX31" fmla="*/ 496594 w 2740446"/>
                <a:gd name="connsiteY31" fmla="*/ 1495496 h 3583481"/>
                <a:gd name="connsiteX32" fmla="*/ 561168 w 2740446"/>
                <a:gd name="connsiteY32" fmla="*/ 1446922 h 3583481"/>
                <a:gd name="connsiteX33" fmla="*/ 588598 w 2740446"/>
                <a:gd name="connsiteY33" fmla="*/ 1332060 h 3583481"/>
                <a:gd name="connsiteX34" fmla="*/ 595456 w 2740446"/>
                <a:gd name="connsiteY34" fmla="*/ 1076048 h 3583481"/>
                <a:gd name="connsiteX35" fmla="*/ 586884 w 2740446"/>
                <a:gd name="connsiteY35" fmla="*/ 886897 h 3583481"/>
                <a:gd name="connsiteX36" fmla="*/ 614313 w 2740446"/>
                <a:gd name="connsiteY36" fmla="*/ 677745 h 3583481"/>
                <a:gd name="connsiteX37" fmla="*/ 710318 w 2740446"/>
                <a:gd name="connsiteY37" fmla="*/ 530881 h 3583481"/>
                <a:gd name="connsiteX38" fmla="*/ 770320 w 2740446"/>
                <a:gd name="connsiteY38" fmla="*/ 472021 h 3583481"/>
                <a:gd name="connsiteX39" fmla="*/ 1458923 w 2740446"/>
                <a:gd name="connsiteY39" fmla="*/ 0 h 3583481"/>
                <a:gd name="connsiteX40" fmla="*/ 1460637 w 2740446"/>
                <a:gd name="connsiteY40" fmla="*/ 0 h 3583481"/>
                <a:gd name="connsiteX41" fmla="*/ 1550356 w 2740446"/>
                <a:gd name="connsiteY41" fmla="*/ 29716 h 3583481"/>
                <a:gd name="connsiteX0" fmla="*/ 1550356 w 2619984"/>
                <a:gd name="connsiteY0" fmla="*/ 29716 h 3583481"/>
                <a:gd name="connsiteX1" fmla="*/ 1818939 w 2619984"/>
                <a:gd name="connsiteY1" fmla="*/ 176579 h 3583481"/>
                <a:gd name="connsiteX2" fmla="*/ 2097809 w 2619984"/>
                <a:gd name="connsiteY2" fmla="*/ 361731 h 3583481"/>
                <a:gd name="connsiteX3" fmla="*/ 2502398 w 2619984"/>
                <a:gd name="connsiteY3" fmla="*/ 974330 h 3583481"/>
                <a:gd name="connsiteX4" fmla="*/ 2593831 w 2619984"/>
                <a:gd name="connsiteY4" fmla="*/ 1389777 h 3583481"/>
                <a:gd name="connsiteX5" fmla="*/ 2619547 w 2619984"/>
                <a:gd name="connsiteY5" fmla="*/ 2749838 h 3583481"/>
                <a:gd name="connsiteX6" fmla="*/ 2604118 w 2619984"/>
                <a:gd name="connsiteY6" fmla="*/ 2765267 h 3583481"/>
                <a:gd name="connsiteX7" fmla="*/ 2606624 w 2619984"/>
                <a:gd name="connsiteY7" fmla="*/ 3583481 h 3583481"/>
                <a:gd name="connsiteX8" fmla="*/ 782385 w 2619984"/>
                <a:gd name="connsiteY8" fmla="*/ 2801358 h 3583481"/>
                <a:gd name="connsiteX9" fmla="*/ 5185 w 2619984"/>
                <a:gd name="connsiteY9" fmla="*/ 2593044 h 3583481"/>
                <a:gd name="connsiteX10" fmla="*/ 266298 w 2619984"/>
                <a:gd name="connsiteY10" fmla="*/ 2153811 h 3583481"/>
                <a:gd name="connsiteX11" fmla="*/ 269155 w 2619984"/>
                <a:gd name="connsiteY11" fmla="*/ 2152668 h 3583481"/>
                <a:gd name="connsiteX12" fmla="*/ 543453 w 2619984"/>
                <a:gd name="connsiteY12" fmla="*/ 2153240 h 3583481"/>
                <a:gd name="connsiteX13" fmla="*/ 549739 w 2619984"/>
                <a:gd name="connsiteY13" fmla="*/ 2155526 h 3583481"/>
                <a:gd name="connsiteX14" fmla="*/ 747462 w 2619984"/>
                <a:gd name="connsiteY14" fmla="*/ 2181813 h 3583481"/>
                <a:gd name="connsiteX15" fmla="*/ 750891 w 2619984"/>
                <a:gd name="connsiteY15" fmla="*/ 2181813 h 3583481"/>
                <a:gd name="connsiteX16" fmla="*/ 763463 w 2619984"/>
                <a:gd name="connsiteY16" fmla="*/ 2156097 h 3583481"/>
                <a:gd name="connsiteX17" fmla="*/ 753748 w 2619984"/>
                <a:gd name="connsiteY17" fmla="*/ 2143525 h 3583481"/>
                <a:gd name="connsiteX18" fmla="*/ 694317 w 2619984"/>
                <a:gd name="connsiteY18" fmla="*/ 2010376 h 3583481"/>
                <a:gd name="connsiteX19" fmla="*/ 665173 w 2619984"/>
                <a:gd name="connsiteY19" fmla="*/ 1980661 h 3583481"/>
                <a:gd name="connsiteX20" fmla="*/ 641172 w 2619984"/>
                <a:gd name="connsiteY20" fmla="*/ 1970946 h 3583481"/>
                <a:gd name="connsiteX21" fmla="*/ 555454 w 2619984"/>
                <a:gd name="connsiteY21" fmla="*/ 1953231 h 3583481"/>
                <a:gd name="connsiteX22" fmla="*/ 306299 w 2619984"/>
                <a:gd name="connsiteY22" fmla="*/ 1973232 h 3583481"/>
                <a:gd name="connsiteX23" fmla="*/ 70289 w 2619984"/>
                <a:gd name="connsiteY23" fmla="*/ 1953802 h 3583481"/>
                <a:gd name="connsiteX24" fmla="*/ 133149 w 2619984"/>
                <a:gd name="connsiteY24" fmla="*/ 1856655 h 3583481"/>
                <a:gd name="connsiteX25" fmla="*/ 127434 w 2619984"/>
                <a:gd name="connsiteY25" fmla="*/ 1732078 h 3583481"/>
                <a:gd name="connsiteX26" fmla="*/ 0 w 2619984"/>
                <a:gd name="connsiteY26" fmla="*/ 1622930 h 3583481"/>
                <a:gd name="connsiteX27" fmla="*/ 205724 w 2619984"/>
                <a:gd name="connsiteY27" fmla="*/ 1596072 h 3583481"/>
                <a:gd name="connsiteX28" fmla="*/ 257154 w 2619984"/>
                <a:gd name="connsiteY28" fmla="*/ 1580071 h 3583481"/>
                <a:gd name="connsiteX29" fmla="*/ 358873 w 2619984"/>
                <a:gd name="connsiteY29" fmla="*/ 1557213 h 3583481"/>
                <a:gd name="connsiteX30" fmla="*/ 389732 w 2619984"/>
                <a:gd name="connsiteY30" fmla="*/ 1545212 h 3583481"/>
                <a:gd name="connsiteX31" fmla="*/ 496594 w 2619984"/>
                <a:gd name="connsiteY31" fmla="*/ 1495496 h 3583481"/>
                <a:gd name="connsiteX32" fmla="*/ 561168 w 2619984"/>
                <a:gd name="connsiteY32" fmla="*/ 1446922 h 3583481"/>
                <a:gd name="connsiteX33" fmla="*/ 588598 w 2619984"/>
                <a:gd name="connsiteY33" fmla="*/ 1332060 h 3583481"/>
                <a:gd name="connsiteX34" fmla="*/ 595456 w 2619984"/>
                <a:gd name="connsiteY34" fmla="*/ 1076048 h 3583481"/>
                <a:gd name="connsiteX35" fmla="*/ 586884 w 2619984"/>
                <a:gd name="connsiteY35" fmla="*/ 886897 h 3583481"/>
                <a:gd name="connsiteX36" fmla="*/ 614313 w 2619984"/>
                <a:gd name="connsiteY36" fmla="*/ 677745 h 3583481"/>
                <a:gd name="connsiteX37" fmla="*/ 710318 w 2619984"/>
                <a:gd name="connsiteY37" fmla="*/ 530881 h 3583481"/>
                <a:gd name="connsiteX38" fmla="*/ 770320 w 2619984"/>
                <a:gd name="connsiteY38" fmla="*/ 472021 h 3583481"/>
                <a:gd name="connsiteX39" fmla="*/ 1458923 w 2619984"/>
                <a:gd name="connsiteY39" fmla="*/ 0 h 3583481"/>
                <a:gd name="connsiteX40" fmla="*/ 1460637 w 2619984"/>
                <a:gd name="connsiteY40" fmla="*/ 0 h 3583481"/>
                <a:gd name="connsiteX41" fmla="*/ 1550356 w 2619984"/>
                <a:gd name="connsiteY41" fmla="*/ 29716 h 3583481"/>
                <a:gd name="connsiteX0" fmla="*/ 1550356 w 2746639"/>
                <a:gd name="connsiteY0" fmla="*/ 29716 h 3583481"/>
                <a:gd name="connsiteX1" fmla="*/ 1818939 w 2746639"/>
                <a:gd name="connsiteY1" fmla="*/ 176579 h 3583481"/>
                <a:gd name="connsiteX2" fmla="*/ 2097809 w 2746639"/>
                <a:gd name="connsiteY2" fmla="*/ 361731 h 3583481"/>
                <a:gd name="connsiteX3" fmla="*/ 2502398 w 2746639"/>
                <a:gd name="connsiteY3" fmla="*/ 974330 h 3583481"/>
                <a:gd name="connsiteX4" fmla="*/ 2593831 w 2746639"/>
                <a:gd name="connsiteY4" fmla="*/ 1389777 h 3583481"/>
                <a:gd name="connsiteX5" fmla="*/ 2619547 w 2746639"/>
                <a:gd name="connsiteY5" fmla="*/ 2749838 h 3583481"/>
                <a:gd name="connsiteX6" fmla="*/ 2606624 w 2746639"/>
                <a:gd name="connsiteY6" fmla="*/ 3583481 h 3583481"/>
                <a:gd name="connsiteX7" fmla="*/ 782385 w 2746639"/>
                <a:gd name="connsiteY7" fmla="*/ 2801358 h 3583481"/>
                <a:gd name="connsiteX8" fmla="*/ 5185 w 2746639"/>
                <a:gd name="connsiteY8" fmla="*/ 2593044 h 3583481"/>
                <a:gd name="connsiteX9" fmla="*/ 266298 w 2746639"/>
                <a:gd name="connsiteY9" fmla="*/ 2153811 h 3583481"/>
                <a:gd name="connsiteX10" fmla="*/ 269155 w 2746639"/>
                <a:gd name="connsiteY10" fmla="*/ 2152668 h 3583481"/>
                <a:gd name="connsiteX11" fmla="*/ 543453 w 2746639"/>
                <a:gd name="connsiteY11" fmla="*/ 2153240 h 3583481"/>
                <a:gd name="connsiteX12" fmla="*/ 549739 w 2746639"/>
                <a:gd name="connsiteY12" fmla="*/ 2155526 h 3583481"/>
                <a:gd name="connsiteX13" fmla="*/ 747462 w 2746639"/>
                <a:gd name="connsiteY13" fmla="*/ 2181813 h 3583481"/>
                <a:gd name="connsiteX14" fmla="*/ 750891 w 2746639"/>
                <a:gd name="connsiteY14" fmla="*/ 2181813 h 3583481"/>
                <a:gd name="connsiteX15" fmla="*/ 763463 w 2746639"/>
                <a:gd name="connsiteY15" fmla="*/ 2156097 h 3583481"/>
                <a:gd name="connsiteX16" fmla="*/ 753748 w 2746639"/>
                <a:gd name="connsiteY16" fmla="*/ 2143525 h 3583481"/>
                <a:gd name="connsiteX17" fmla="*/ 694317 w 2746639"/>
                <a:gd name="connsiteY17" fmla="*/ 2010376 h 3583481"/>
                <a:gd name="connsiteX18" fmla="*/ 665173 w 2746639"/>
                <a:gd name="connsiteY18" fmla="*/ 1980661 h 3583481"/>
                <a:gd name="connsiteX19" fmla="*/ 641172 w 2746639"/>
                <a:gd name="connsiteY19" fmla="*/ 1970946 h 3583481"/>
                <a:gd name="connsiteX20" fmla="*/ 555454 w 2746639"/>
                <a:gd name="connsiteY20" fmla="*/ 1953231 h 3583481"/>
                <a:gd name="connsiteX21" fmla="*/ 306299 w 2746639"/>
                <a:gd name="connsiteY21" fmla="*/ 1973232 h 3583481"/>
                <a:gd name="connsiteX22" fmla="*/ 70289 w 2746639"/>
                <a:gd name="connsiteY22" fmla="*/ 1953802 h 3583481"/>
                <a:gd name="connsiteX23" fmla="*/ 133149 w 2746639"/>
                <a:gd name="connsiteY23" fmla="*/ 1856655 h 3583481"/>
                <a:gd name="connsiteX24" fmla="*/ 127434 w 2746639"/>
                <a:gd name="connsiteY24" fmla="*/ 1732078 h 3583481"/>
                <a:gd name="connsiteX25" fmla="*/ 0 w 2746639"/>
                <a:gd name="connsiteY25" fmla="*/ 1622930 h 3583481"/>
                <a:gd name="connsiteX26" fmla="*/ 205724 w 2746639"/>
                <a:gd name="connsiteY26" fmla="*/ 1596072 h 3583481"/>
                <a:gd name="connsiteX27" fmla="*/ 257154 w 2746639"/>
                <a:gd name="connsiteY27" fmla="*/ 1580071 h 3583481"/>
                <a:gd name="connsiteX28" fmla="*/ 358873 w 2746639"/>
                <a:gd name="connsiteY28" fmla="*/ 1557213 h 3583481"/>
                <a:gd name="connsiteX29" fmla="*/ 389732 w 2746639"/>
                <a:gd name="connsiteY29" fmla="*/ 1545212 h 3583481"/>
                <a:gd name="connsiteX30" fmla="*/ 496594 w 2746639"/>
                <a:gd name="connsiteY30" fmla="*/ 1495496 h 3583481"/>
                <a:gd name="connsiteX31" fmla="*/ 561168 w 2746639"/>
                <a:gd name="connsiteY31" fmla="*/ 1446922 h 3583481"/>
                <a:gd name="connsiteX32" fmla="*/ 588598 w 2746639"/>
                <a:gd name="connsiteY32" fmla="*/ 1332060 h 3583481"/>
                <a:gd name="connsiteX33" fmla="*/ 595456 w 2746639"/>
                <a:gd name="connsiteY33" fmla="*/ 1076048 h 3583481"/>
                <a:gd name="connsiteX34" fmla="*/ 586884 w 2746639"/>
                <a:gd name="connsiteY34" fmla="*/ 886897 h 3583481"/>
                <a:gd name="connsiteX35" fmla="*/ 614313 w 2746639"/>
                <a:gd name="connsiteY35" fmla="*/ 677745 h 3583481"/>
                <a:gd name="connsiteX36" fmla="*/ 710318 w 2746639"/>
                <a:gd name="connsiteY36" fmla="*/ 530881 h 3583481"/>
                <a:gd name="connsiteX37" fmla="*/ 770320 w 2746639"/>
                <a:gd name="connsiteY37" fmla="*/ 472021 h 3583481"/>
                <a:gd name="connsiteX38" fmla="*/ 1458923 w 2746639"/>
                <a:gd name="connsiteY38" fmla="*/ 0 h 3583481"/>
                <a:gd name="connsiteX39" fmla="*/ 1460637 w 2746639"/>
                <a:gd name="connsiteY39" fmla="*/ 0 h 3583481"/>
                <a:gd name="connsiteX40" fmla="*/ 1550356 w 2746639"/>
                <a:gd name="connsiteY40" fmla="*/ 29716 h 3583481"/>
                <a:gd name="connsiteX0" fmla="*/ 1550356 w 2741348"/>
                <a:gd name="connsiteY0" fmla="*/ 29716 h 3583481"/>
                <a:gd name="connsiteX1" fmla="*/ 1818939 w 2741348"/>
                <a:gd name="connsiteY1" fmla="*/ 176579 h 3583481"/>
                <a:gd name="connsiteX2" fmla="*/ 2097809 w 2741348"/>
                <a:gd name="connsiteY2" fmla="*/ 361731 h 3583481"/>
                <a:gd name="connsiteX3" fmla="*/ 2502398 w 2741348"/>
                <a:gd name="connsiteY3" fmla="*/ 974330 h 3583481"/>
                <a:gd name="connsiteX4" fmla="*/ 2593831 w 2741348"/>
                <a:gd name="connsiteY4" fmla="*/ 1389777 h 3583481"/>
                <a:gd name="connsiteX5" fmla="*/ 2606624 w 2741348"/>
                <a:gd name="connsiteY5" fmla="*/ 3583481 h 3583481"/>
                <a:gd name="connsiteX6" fmla="*/ 782385 w 2741348"/>
                <a:gd name="connsiteY6" fmla="*/ 2801358 h 3583481"/>
                <a:gd name="connsiteX7" fmla="*/ 5185 w 2741348"/>
                <a:gd name="connsiteY7" fmla="*/ 2593044 h 3583481"/>
                <a:gd name="connsiteX8" fmla="*/ 266298 w 2741348"/>
                <a:gd name="connsiteY8" fmla="*/ 2153811 h 3583481"/>
                <a:gd name="connsiteX9" fmla="*/ 269155 w 2741348"/>
                <a:gd name="connsiteY9" fmla="*/ 2152668 h 3583481"/>
                <a:gd name="connsiteX10" fmla="*/ 543453 w 2741348"/>
                <a:gd name="connsiteY10" fmla="*/ 2153240 h 3583481"/>
                <a:gd name="connsiteX11" fmla="*/ 549739 w 2741348"/>
                <a:gd name="connsiteY11" fmla="*/ 2155526 h 3583481"/>
                <a:gd name="connsiteX12" fmla="*/ 747462 w 2741348"/>
                <a:gd name="connsiteY12" fmla="*/ 2181813 h 3583481"/>
                <a:gd name="connsiteX13" fmla="*/ 750891 w 2741348"/>
                <a:gd name="connsiteY13" fmla="*/ 2181813 h 3583481"/>
                <a:gd name="connsiteX14" fmla="*/ 763463 w 2741348"/>
                <a:gd name="connsiteY14" fmla="*/ 2156097 h 3583481"/>
                <a:gd name="connsiteX15" fmla="*/ 753748 w 2741348"/>
                <a:gd name="connsiteY15" fmla="*/ 2143525 h 3583481"/>
                <a:gd name="connsiteX16" fmla="*/ 694317 w 2741348"/>
                <a:gd name="connsiteY16" fmla="*/ 2010376 h 3583481"/>
                <a:gd name="connsiteX17" fmla="*/ 665173 w 2741348"/>
                <a:gd name="connsiteY17" fmla="*/ 1980661 h 3583481"/>
                <a:gd name="connsiteX18" fmla="*/ 641172 w 2741348"/>
                <a:gd name="connsiteY18" fmla="*/ 1970946 h 3583481"/>
                <a:gd name="connsiteX19" fmla="*/ 555454 w 2741348"/>
                <a:gd name="connsiteY19" fmla="*/ 1953231 h 3583481"/>
                <a:gd name="connsiteX20" fmla="*/ 306299 w 2741348"/>
                <a:gd name="connsiteY20" fmla="*/ 1973232 h 3583481"/>
                <a:gd name="connsiteX21" fmla="*/ 70289 w 2741348"/>
                <a:gd name="connsiteY21" fmla="*/ 1953802 h 3583481"/>
                <a:gd name="connsiteX22" fmla="*/ 133149 w 2741348"/>
                <a:gd name="connsiteY22" fmla="*/ 1856655 h 3583481"/>
                <a:gd name="connsiteX23" fmla="*/ 127434 w 2741348"/>
                <a:gd name="connsiteY23" fmla="*/ 1732078 h 3583481"/>
                <a:gd name="connsiteX24" fmla="*/ 0 w 2741348"/>
                <a:gd name="connsiteY24" fmla="*/ 1622930 h 3583481"/>
                <a:gd name="connsiteX25" fmla="*/ 205724 w 2741348"/>
                <a:gd name="connsiteY25" fmla="*/ 1596072 h 3583481"/>
                <a:gd name="connsiteX26" fmla="*/ 257154 w 2741348"/>
                <a:gd name="connsiteY26" fmla="*/ 1580071 h 3583481"/>
                <a:gd name="connsiteX27" fmla="*/ 358873 w 2741348"/>
                <a:gd name="connsiteY27" fmla="*/ 1557213 h 3583481"/>
                <a:gd name="connsiteX28" fmla="*/ 389732 w 2741348"/>
                <a:gd name="connsiteY28" fmla="*/ 1545212 h 3583481"/>
                <a:gd name="connsiteX29" fmla="*/ 496594 w 2741348"/>
                <a:gd name="connsiteY29" fmla="*/ 1495496 h 3583481"/>
                <a:gd name="connsiteX30" fmla="*/ 561168 w 2741348"/>
                <a:gd name="connsiteY30" fmla="*/ 1446922 h 3583481"/>
                <a:gd name="connsiteX31" fmla="*/ 588598 w 2741348"/>
                <a:gd name="connsiteY31" fmla="*/ 1332060 h 3583481"/>
                <a:gd name="connsiteX32" fmla="*/ 595456 w 2741348"/>
                <a:gd name="connsiteY32" fmla="*/ 1076048 h 3583481"/>
                <a:gd name="connsiteX33" fmla="*/ 586884 w 2741348"/>
                <a:gd name="connsiteY33" fmla="*/ 886897 h 3583481"/>
                <a:gd name="connsiteX34" fmla="*/ 614313 w 2741348"/>
                <a:gd name="connsiteY34" fmla="*/ 677745 h 3583481"/>
                <a:gd name="connsiteX35" fmla="*/ 710318 w 2741348"/>
                <a:gd name="connsiteY35" fmla="*/ 530881 h 3583481"/>
                <a:gd name="connsiteX36" fmla="*/ 770320 w 2741348"/>
                <a:gd name="connsiteY36" fmla="*/ 472021 h 3583481"/>
                <a:gd name="connsiteX37" fmla="*/ 1458923 w 2741348"/>
                <a:gd name="connsiteY37" fmla="*/ 0 h 3583481"/>
                <a:gd name="connsiteX38" fmla="*/ 1460637 w 2741348"/>
                <a:gd name="connsiteY38" fmla="*/ 0 h 3583481"/>
                <a:gd name="connsiteX39" fmla="*/ 1550356 w 2741348"/>
                <a:gd name="connsiteY39" fmla="*/ 29716 h 3583481"/>
                <a:gd name="connsiteX0" fmla="*/ 1550356 w 2627289"/>
                <a:gd name="connsiteY0" fmla="*/ 29716 h 3583481"/>
                <a:gd name="connsiteX1" fmla="*/ 1818939 w 2627289"/>
                <a:gd name="connsiteY1" fmla="*/ 176579 h 3583481"/>
                <a:gd name="connsiteX2" fmla="*/ 2097809 w 2627289"/>
                <a:gd name="connsiteY2" fmla="*/ 361731 h 3583481"/>
                <a:gd name="connsiteX3" fmla="*/ 2502398 w 2627289"/>
                <a:gd name="connsiteY3" fmla="*/ 974330 h 3583481"/>
                <a:gd name="connsiteX4" fmla="*/ 2593831 w 2627289"/>
                <a:gd name="connsiteY4" fmla="*/ 1389777 h 3583481"/>
                <a:gd name="connsiteX5" fmla="*/ 2606624 w 2627289"/>
                <a:gd name="connsiteY5" fmla="*/ 3583481 h 3583481"/>
                <a:gd name="connsiteX6" fmla="*/ 782385 w 2627289"/>
                <a:gd name="connsiteY6" fmla="*/ 2801358 h 3583481"/>
                <a:gd name="connsiteX7" fmla="*/ 5185 w 2627289"/>
                <a:gd name="connsiteY7" fmla="*/ 2593044 h 3583481"/>
                <a:gd name="connsiteX8" fmla="*/ 266298 w 2627289"/>
                <a:gd name="connsiteY8" fmla="*/ 2153811 h 3583481"/>
                <a:gd name="connsiteX9" fmla="*/ 269155 w 2627289"/>
                <a:gd name="connsiteY9" fmla="*/ 2152668 h 3583481"/>
                <a:gd name="connsiteX10" fmla="*/ 543453 w 2627289"/>
                <a:gd name="connsiteY10" fmla="*/ 2153240 h 3583481"/>
                <a:gd name="connsiteX11" fmla="*/ 549739 w 2627289"/>
                <a:gd name="connsiteY11" fmla="*/ 2155526 h 3583481"/>
                <a:gd name="connsiteX12" fmla="*/ 747462 w 2627289"/>
                <a:gd name="connsiteY12" fmla="*/ 2181813 h 3583481"/>
                <a:gd name="connsiteX13" fmla="*/ 750891 w 2627289"/>
                <a:gd name="connsiteY13" fmla="*/ 2181813 h 3583481"/>
                <a:gd name="connsiteX14" fmla="*/ 763463 w 2627289"/>
                <a:gd name="connsiteY14" fmla="*/ 2156097 h 3583481"/>
                <a:gd name="connsiteX15" fmla="*/ 753748 w 2627289"/>
                <a:gd name="connsiteY15" fmla="*/ 2143525 h 3583481"/>
                <a:gd name="connsiteX16" fmla="*/ 694317 w 2627289"/>
                <a:gd name="connsiteY16" fmla="*/ 2010376 h 3583481"/>
                <a:gd name="connsiteX17" fmla="*/ 665173 w 2627289"/>
                <a:gd name="connsiteY17" fmla="*/ 1980661 h 3583481"/>
                <a:gd name="connsiteX18" fmla="*/ 641172 w 2627289"/>
                <a:gd name="connsiteY18" fmla="*/ 1970946 h 3583481"/>
                <a:gd name="connsiteX19" fmla="*/ 555454 w 2627289"/>
                <a:gd name="connsiteY19" fmla="*/ 1953231 h 3583481"/>
                <a:gd name="connsiteX20" fmla="*/ 306299 w 2627289"/>
                <a:gd name="connsiteY20" fmla="*/ 1973232 h 3583481"/>
                <a:gd name="connsiteX21" fmla="*/ 70289 w 2627289"/>
                <a:gd name="connsiteY21" fmla="*/ 1953802 h 3583481"/>
                <a:gd name="connsiteX22" fmla="*/ 133149 w 2627289"/>
                <a:gd name="connsiteY22" fmla="*/ 1856655 h 3583481"/>
                <a:gd name="connsiteX23" fmla="*/ 127434 w 2627289"/>
                <a:gd name="connsiteY23" fmla="*/ 1732078 h 3583481"/>
                <a:gd name="connsiteX24" fmla="*/ 0 w 2627289"/>
                <a:gd name="connsiteY24" fmla="*/ 1622930 h 3583481"/>
                <a:gd name="connsiteX25" fmla="*/ 205724 w 2627289"/>
                <a:gd name="connsiteY25" fmla="*/ 1596072 h 3583481"/>
                <a:gd name="connsiteX26" fmla="*/ 257154 w 2627289"/>
                <a:gd name="connsiteY26" fmla="*/ 1580071 h 3583481"/>
                <a:gd name="connsiteX27" fmla="*/ 358873 w 2627289"/>
                <a:gd name="connsiteY27" fmla="*/ 1557213 h 3583481"/>
                <a:gd name="connsiteX28" fmla="*/ 389732 w 2627289"/>
                <a:gd name="connsiteY28" fmla="*/ 1545212 h 3583481"/>
                <a:gd name="connsiteX29" fmla="*/ 496594 w 2627289"/>
                <a:gd name="connsiteY29" fmla="*/ 1495496 h 3583481"/>
                <a:gd name="connsiteX30" fmla="*/ 561168 w 2627289"/>
                <a:gd name="connsiteY30" fmla="*/ 1446922 h 3583481"/>
                <a:gd name="connsiteX31" fmla="*/ 588598 w 2627289"/>
                <a:gd name="connsiteY31" fmla="*/ 1332060 h 3583481"/>
                <a:gd name="connsiteX32" fmla="*/ 595456 w 2627289"/>
                <a:gd name="connsiteY32" fmla="*/ 1076048 h 3583481"/>
                <a:gd name="connsiteX33" fmla="*/ 586884 w 2627289"/>
                <a:gd name="connsiteY33" fmla="*/ 886897 h 3583481"/>
                <a:gd name="connsiteX34" fmla="*/ 614313 w 2627289"/>
                <a:gd name="connsiteY34" fmla="*/ 677745 h 3583481"/>
                <a:gd name="connsiteX35" fmla="*/ 710318 w 2627289"/>
                <a:gd name="connsiteY35" fmla="*/ 530881 h 3583481"/>
                <a:gd name="connsiteX36" fmla="*/ 770320 w 2627289"/>
                <a:gd name="connsiteY36" fmla="*/ 472021 h 3583481"/>
                <a:gd name="connsiteX37" fmla="*/ 1458923 w 2627289"/>
                <a:gd name="connsiteY37" fmla="*/ 0 h 3583481"/>
                <a:gd name="connsiteX38" fmla="*/ 1460637 w 2627289"/>
                <a:gd name="connsiteY38" fmla="*/ 0 h 3583481"/>
                <a:gd name="connsiteX39" fmla="*/ 1550356 w 2627289"/>
                <a:gd name="connsiteY39" fmla="*/ 29716 h 3583481"/>
                <a:gd name="connsiteX0" fmla="*/ 1550356 w 2627289"/>
                <a:gd name="connsiteY0" fmla="*/ 29716 h 3583481"/>
                <a:gd name="connsiteX1" fmla="*/ 1818939 w 2627289"/>
                <a:gd name="connsiteY1" fmla="*/ 176579 h 3583481"/>
                <a:gd name="connsiteX2" fmla="*/ 2097809 w 2627289"/>
                <a:gd name="connsiteY2" fmla="*/ 361731 h 3583481"/>
                <a:gd name="connsiteX3" fmla="*/ 2502398 w 2627289"/>
                <a:gd name="connsiteY3" fmla="*/ 974330 h 3583481"/>
                <a:gd name="connsiteX4" fmla="*/ 2593831 w 2627289"/>
                <a:gd name="connsiteY4" fmla="*/ 1389777 h 3583481"/>
                <a:gd name="connsiteX5" fmla="*/ 2606624 w 2627289"/>
                <a:gd name="connsiteY5" fmla="*/ 3583481 h 3583481"/>
                <a:gd name="connsiteX6" fmla="*/ 1124565 w 2627289"/>
                <a:gd name="connsiteY6" fmla="*/ 3546819 h 3583481"/>
                <a:gd name="connsiteX7" fmla="*/ 5185 w 2627289"/>
                <a:gd name="connsiteY7" fmla="*/ 2593044 h 3583481"/>
                <a:gd name="connsiteX8" fmla="*/ 266298 w 2627289"/>
                <a:gd name="connsiteY8" fmla="*/ 2153811 h 3583481"/>
                <a:gd name="connsiteX9" fmla="*/ 269155 w 2627289"/>
                <a:gd name="connsiteY9" fmla="*/ 2152668 h 3583481"/>
                <a:gd name="connsiteX10" fmla="*/ 543453 w 2627289"/>
                <a:gd name="connsiteY10" fmla="*/ 2153240 h 3583481"/>
                <a:gd name="connsiteX11" fmla="*/ 549739 w 2627289"/>
                <a:gd name="connsiteY11" fmla="*/ 2155526 h 3583481"/>
                <a:gd name="connsiteX12" fmla="*/ 747462 w 2627289"/>
                <a:gd name="connsiteY12" fmla="*/ 2181813 h 3583481"/>
                <a:gd name="connsiteX13" fmla="*/ 750891 w 2627289"/>
                <a:gd name="connsiteY13" fmla="*/ 2181813 h 3583481"/>
                <a:gd name="connsiteX14" fmla="*/ 763463 w 2627289"/>
                <a:gd name="connsiteY14" fmla="*/ 2156097 h 3583481"/>
                <a:gd name="connsiteX15" fmla="*/ 753748 w 2627289"/>
                <a:gd name="connsiteY15" fmla="*/ 2143525 h 3583481"/>
                <a:gd name="connsiteX16" fmla="*/ 694317 w 2627289"/>
                <a:gd name="connsiteY16" fmla="*/ 2010376 h 3583481"/>
                <a:gd name="connsiteX17" fmla="*/ 665173 w 2627289"/>
                <a:gd name="connsiteY17" fmla="*/ 1980661 h 3583481"/>
                <a:gd name="connsiteX18" fmla="*/ 641172 w 2627289"/>
                <a:gd name="connsiteY18" fmla="*/ 1970946 h 3583481"/>
                <a:gd name="connsiteX19" fmla="*/ 555454 w 2627289"/>
                <a:gd name="connsiteY19" fmla="*/ 1953231 h 3583481"/>
                <a:gd name="connsiteX20" fmla="*/ 306299 w 2627289"/>
                <a:gd name="connsiteY20" fmla="*/ 1973232 h 3583481"/>
                <a:gd name="connsiteX21" fmla="*/ 70289 w 2627289"/>
                <a:gd name="connsiteY21" fmla="*/ 1953802 h 3583481"/>
                <a:gd name="connsiteX22" fmla="*/ 133149 w 2627289"/>
                <a:gd name="connsiteY22" fmla="*/ 1856655 h 3583481"/>
                <a:gd name="connsiteX23" fmla="*/ 127434 w 2627289"/>
                <a:gd name="connsiteY23" fmla="*/ 1732078 h 3583481"/>
                <a:gd name="connsiteX24" fmla="*/ 0 w 2627289"/>
                <a:gd name="connsiteY24" fmla="*/ 1622930 h 3583481"/>
                <a:gd name="connsiteX25" fmla="*/ 205724 w 2627289"/>
                <a:gd name="connsiteY25" fmla="*/ 1596072 h 3583481"/>
                <a:gd name="connsiteX26" fmla="*/ 257154 w 2627289"/>
                <a:gd name="connsiteY26" fmla="*/ 1580071 h 3583481"/>
                <a:gd name="connsiteX27" fmla="*/ 358873 w 2627289"/>
                <a:gd name="connsiteY27" fmla="*/ 1557213 h 3583481"/>
                <a:gd name="connsiteX28" fmla="*/ 389732 w 2627289"/>
                <a:gd name="connsiteY28" fmla="*/ 1545212 h 3583481"/>
                <a:gd name="connsiteX29" fmla="*/ 496594 w 2627289"/>
                <a:gd name="connsiteY29" fmla="*/ 1495496 h 3583481"/>
                <a:gd name="connsiteX30" fmla="*/ 561168 w 2627289"/>
                <a:gd name="connsiteY30" fmla="*/ 1446922 h 3583481"/>
                <a:gd name="connsiteX31" fmla="*/ 588598 w 2627289"/>
                <a:gd name="connsiteY31" fmla="*/ 1332060 h 3583481"/>
                <a:gd name="connsiteX32" fmla="*/ 595456 w 2627289"/>
                <a:gd name="connsiteY32" fmla="*/ 1076048 h 3583481"/>
                <a:gd name="connsiteX33" fmla="*/ 586884 w 2627289"/>
                <a:gd name="connsiteY33" fmla="*/ 886897 h 3583481"/>
                <a:gd name="connsiteX34" fmla="*/ 614313 w 2627289"/>
                <a:gd name="connsiteY34" fmla="*/ 677745 h 3583481"/>
                <a:gd name="connsiteX35" fmla="*/ 710318 w 2627289"/>
                <a:gd name="connsiteY35" fmla="*/ 530881 h 3583481"/>
                <a:gd name="connsiteX36" fmla="*/ 770320 w 2627289"/>
                <a:gd name="connsiteY36" fmla="*/ 472021 h 3583481"/>
                <a:gd name="connsiteX37" fmla="*/ 1458923 w 2627289"/>
                <a:gd name="connsiteY37" fmla="*/ 0 h 3583481"/>
                <a:gd name="connsiteX38" fmla="*/ 1460637 w 2627289"/>
                <a:gd name="connsiteY38" fmla="*/ 0 h 3583481"/>
                <a:gd name="connsiteX39" fmla="*/ 1550356 w 2627289"/>
                <a:gd name="connsiteY39" fmla="*/ 29716 h 3583481"/>
                <a:gd name="connsiteX0" fmla="*/ 1550356 w 2627289"/>
                <a:gd name="connsiteY0" fmla="*/ 29716 h 3583481"/>
                <a:gd name="connsiteX1" fmla="*/ 1818939 w 2627289"/>
                <a:gd name="connsiteY1" fmla="*/ 176579 h 3583481"/>
                <a:gd name="connsiteX2" fmla="*/ 2097809 w 2627289"/>
                <a:gd name="connsiteY2" fmla="*/ 361731 h 3583481"/>
                <a:gd name="connsiteX3" fmla="*/ 2502398 w 2627289"/>
                <a:gd name="connsiteY3" fmla="*/ 974330 h 3583481"/>
                <a:gd name="connsiteX4" fmla="*/ 2593831 w 2627289"/>
                <a:gd name="connsiteY4" fmla="*/ 1389777 h 3583481"/>
                <a:gd name="connsiteX5" fmla="*/ 2606624 w 2627289"/>
                <a:gd name="connsiteY5" fmla="*/ 3583481 h 3583481"/>
                <a:gd name="connsiteX6" fmla="*/ 1161227 w 2627289"/>
                <a:gd name="connsiteY6" fmla="*/ 3571260 h 3583481"/>
                <a:gd name="connsiteX7" fmla="*/ 5185 w 2627289"/>
                <a:gd name="connsiteY7" fmla="*/ 2593044 h 3583481"/>
                <a:gd name="connsiteX8" fmla="*/ 266298 w 2627289"/>
                <a:gd name="connsiteY8" fmla="*/ 2153811 h 3583481"/>
                <a:gd name="connsiteX9" fmla="*/ 269155 w 2627289"/>
                <a:gd name="connsiteY9" fmla="*/ 2152668 h 3583481"/>
                <a:gd name="connsiteX10" fmla="*/ 543453 w 2627289"/>
                <a:gd name="connsiteY10" fmla="*/ 2153240 h 3583481"/>
                <a:gd name="connsiteX11" fmla="*/ 549739 w 2627289"/>
                <a:gd name="connsiteY11" fmla="*/ 2155526 h 3583481"/>
                <a:gd name="connsiteX12" fmla="*/ 747462 w 2627289"/>
                <a:gd name="connsiteY12" fmla="*/ 2181813 h 3583481"/>
                <a:gd name="connsiteX13" fmla="*/ 750891 w 2627289"/>
                <a:gd name="connsiteY13" fmla="*/ 2181813 h 3583481"/>
                <a:gd name="connsiteX14" fmla="*/ 763463 w 2627289"/>
                <a:gd name="connsiteY14" fmla="*/ 2156097 h 3583481"/>
                <a:gd name="connsiteX15" fmla="*/ 753748 w 2627289"/>
                <a:gd name="connsiteY15" fmla="*/ 2143525 h 3583481"/>
                <a:gd name="connsiteX16" fmla="*/ 694317 w 2627289"/>
                <a:gd name="connsiteY16" fmla="*/ 2010376 h 3583481"/>
                <a:gd name="connsiteX17" fmla="*/ 665173 w 2627289"/>
                <a:gd name="connsiteY17" fmla="*/ 1980661 h 3583481"/>
                <a:gd name="connsiteX18" fmla="*/ 641172 w 2627289"/>
                <a:gd name="connsiteY18" fmla="*/ 1970946 h 3583481"/>
                <a:gd name="connsiteX19" fmla="*/ 555454 w 2627289"/>
                <a:gd name="connsiteY19" fmla="*/ 1953231 h 3583481"/>
                <a:gd name="connsiteX20" fmla="*/ 306299 w 2627289"/>
                <a:gd name="connsiteY20" fmla="*/ 1973232 h 3583481"/>
                <a:gd name="connsiteX21" fmla="*/ 70289 w 2627289"/>
                <a:gd name="connsiteY21" fmla="*/ 1953802 h 3583481"/>
                <a:gd name="connsiteX22" fmla="*/ 133149 w 2627289"/>
                <a:gd name="connsiteY22" fmla="*/ 1856655 h 3583481"/>
                <a:gd name="connsiteX23" fmla="*/ 127434 w 2627289"/>
                <a:gd name="connsiteY23" fmla="*/ 1732078 h 3583481"/>
                <a:gd name="connsiteX24" fmla="*/ 0 w 2627289"/>
                <a:gd name="connsiteY24" fmla="*/ 1622930 h 3583481"/>
                <a:gd name="connsiteX25" fmla="*/ 205724 w 2627289"/>
                <a:gd name="connsiteY25" fmla="*/ 1596072 h 3583481"/>
                <a:gd name="connsiteX26" fmla="*/ 257154 w 2627289"/>
                <a:gd name="connsiteY26" fmla="*/ 1580071 h 3583481"/>
                <a:gd name="connsiteX27" fmla="*/ 358873 w 2627289"/>
                <a:gd name="connsiteY27" fmla="*/ 1557213 h 3583481"/>
                <a:gd name="connsiteX28" fmla="*/ 389732 w 2627289"/>
                <a:gd name="connsiteY28" fmla="*/ 1545212 h 3583481"/>
                <a:gd name="connsiteX29" fmla="*/ 496594 w 2627289"/>
                <a:gd name="connsiteY29" fmla="*/ 1495496 h 3583481"/>
                <a:gd name="connsiteX30" fmla="*/ 561168 w 2627289"/>
                <a:gd name="connsiteY30" fmla="*/ 1446922 h 3583481"/>
                <a:gd name="connsiteX31" fmla="*/ 588598 w 2627289"/>
                <a:gd name="connsiteY31" fmla="*/ 1332060 h 3583481"/>
                <a:gd name="connsiteX32" fmla="*/ 595456 w 2627289"/>
                <a:gd name="connsiteY32" fmla="*/ 1076048 h 3583481"/>
                <a:gd name="connsiteX33" fmla="*/ 586884 w 2627289"/>
                <a:gd name="connsiteY33" fmla="*/ 886897 h 3583481"/>
                <a:gd name="connsiteX34" fmla="*/ 614313 w 2627289"/>
                <a:gd name="connsiteY34" fmla="*/ 677745 h 3583481"/>
                <a:gd name="connsiteX35" fmla="*/ 710318 w 2627289"/>
                <a:gd name="connsiteY35" fmla="*/ 530881 h 3583481"/>
                <a:gd name="connsiteX36" fmla="*/ 770320 w 2627289"/>
                <a:gd name="connsiteY36" fmla="*/ 472021 h 3583481"/>
                <a:gd name="connsiteX37" fmla="*/ 1458923 w 2627289"/>
                <a:gd name="connsiteY37" fmla="*/ 0 h 3583481"/>
                <a:gd name="connsiteX38" fmla="*/ 1460637 w 2627289"/>
                <a:gd name="connsiteY38" fmla="*/ 0 h 3583481"/>
                <a:gd name="connsiteX39" fmla="*/ 1550356 w 2627289"/>
                <a:gd name="connsiteY39" fmla="*/ 29716 h 3583481"/>
                <a:gd name="connsiteX0" fmla="*/ 1550356 w 2627289"/>
                <a:gd name="connsiteY0" fmla="*/ 29716 h 3583481"/>
                <a:gd name="connsiteX1" fmla="*/ 1818939 w 2627289"/>
                <a:gd name="connsiteY1" fmla="*/ 176579 h 3583481"/>
                <a:gd name="connsiteX2" fmla="*/ 2097809 w 2627289"/>
                <a:gd name="connsiteY2" fmla="*/ 361731 h 3583481"/>
                <a:gd name="connsiteX3" fmla="*/ 2502398 w 2627289"/>
                <a:gd name="connsiteY3" fmla="*/ 974330 h 3583481"/>
                <a:gd name="connsiteX4" fmla="*/ 2593831 w 2627289"/>
                <a:gd name="connsiteY4" fmla="*/ 1389777 h 3583481"/>
                <a:gd name="connsiteX5" fmla="*/ 2606624 w 2627289"/>
                <a:gd name="connsiteY5" fmla="*/ 3583481 h 3583481"/>
                <a:gd name="connsiteX6" fmla="*/ 1258993 w 2627289"/>
                <a:gd name="connsiteY6" fmla="*/ 2923564 h 3583481"/>
                <a:gd name="connsiteX7" fmla="*/ 5185 w 2627289"/>
                <a:gd name="connsiteY7" fmla="*/ 2593044 h 3583481"/>
                <a:gd name="connsiteX8" fmla="*/ 266298 w 2627289"/>
                <a:gd name="connsiteY8" fmla="*/ 2153811 h 3583481"/>
                <a:gd name="connsiteX9" fmla="*/ 269155 w 2627289"/>
                <a:gd name="connsiteY9" fmla="*/ 2152668 h 3583481"/>
                <a:gd name="connsiteX10" fmla="*/ 543453 w 2627289"/>
                <a:gd name="connsiteY10" fmla="*/ 2153240 h 3583481"/>
                <a:gd name="connsiteX11" fmla="*/ 549739 w 2627289"/>
                <a:gd name="connsiteY11" fmla="*/ 2155526 h 3583481"/>
                <a:gd name="connsiteX12" fmla="*/ 747462 w 2627289"/>
                <a:gd name="connsiteY12" fmla="*/ 2181813 h 3583481"/>
                <a:gd name="connsiteX13" fmla="*/ 750891 w 2627289"/>
                <a:gd name="connsiteY13" fmla="*/ 2181813 h 3583481"/>
                <a:gd name="connsiteX14" fmla="*/ 763463 w 2627289"/>
                <a:gd name="connsiteY14" fmla="*/ 2156097 h 3583481"/>
                <a:gd name="connsiteX15" fmla="*/ 753748 w 2627289"/>
                <a:gd name="connsiteY15" fmla="*/ 2143525 h 3583481"/>
                <a:gd name="connsiteX16" fmla="*/ 694317 w 2627289"/>
                <a:gd name="connsiteY16" fmla="*/ 2010376 h 3583481"/>
                <a:gd name="connsiteX17" fmla="*/ 665173 w 2627289"/>
                <a:gd name="connsiteY17" fmla="*/ 1980661 h 3583481"/>
                <a:gd name="connsiteX18" fmla="*/ 641172 w 2627289"/>
                <a:gd name="connsiteY18" fmla="*/ 1970946 h 3583481"/>
                <a:gd name="connsiteX19" fmla="*/ 555454 w 2627289"/>
                <a:gd name="connsiteY19" fmla="*/ 1953231 h 3583481"/>
                <a:gd name="connsiteX20" fmla="*/ 306299 w 2627289"/>
                <a:gd name="connsiteY20" fmla="*/ 1973232 h 3583481"/>
                <a:gd name="connsiteX21" fmla="*/ 70289 w 2627289"/>
                <a:gd name="connsiteY21" fmla="*/ 1953802 h 3583481"/>
                <a:gd name="connsiteX22" fmla="*/ 133149 w 2627289"/>
                <a:gd name="connsiteY22" fmla="*/ 1856655 h 3583481"/>
                <a:gd name="connsiteX23" fmla="*/ 127434 w 2627289"/>
                <a:gd name="connsiteY23" fmla="*/ 1732078 h 3583481"/>
                <a:gd name="connsiteX24" fmla="*/ 0 w 2627289"/>
                <a:gd name="connsiteY24" fmla="*/ 1622930 h 3583481"/>
                <a:gd name="connsiteX25" fmla="*/ 205724 w 2627289"/>
                <a:gd name="connsiteY25" fmla="*/ 1596072 h 3583481"/>
                <a:gd name="connsiteX26" fmla="*/ 257154 w 2627289"/>
                <a:gd name="connsiteY26" fmla="*/ 1580071 h 3583481"/>
                <a:gd name="connsiteX27" fmla="*/ 358873 w 2627289"/>
                <a:gd name="connsiteY27" fmla="*/ 1557213 h 3583481"/>
                <a:gd name="connsiteX28" fmla="*/ 389732 w 2627289"/>
                <a:gd name="connsiteY28" fmla="*/ 1545212 h 3583481"/>
                <a:gd name="connsiteX29" fmla="*/ 496594 w 2627289"/>
                <a:gd name="connsiteY29" fmla="*/ 1495496 h 3583481"/>
                <a:gd name="connsiteX30" fmla="*/ 561168 w 2627289"/>
                <a:gd name="connsiteY30" fmla="*/ 1446922 h 3583481"/>
                <a:gd name="connsiteX31" fmla="*/ 588598 w 2627289"/>
                <a:gd name="connsiteY31" fmla="*/ 1332060 h 3583481"/>
                <a:gd name="connsiteX32" fmla="*/ 595456 w 2627289"/>
                <a:gd name="connsiteY32" fmla="*/ 1076048 h 3583481"/>
                <a:gd name="connsiteX33" fmla="*/ 586884 w 2627289"/>
                <a:gd name="connsiteY33" fmla="*/ 886897 h 3583481"/>
                <a:gd name="connsiteX34" fmla="*/ 614313 w 2627289"/>
                <a:gd name="connsiteY34" fmla="*/ 677745 h 3583481"/>
                <a:gd name="connsiteX35" fmla="*/ 710318 w 2627289"/>
                <a:gd name="connsiteY35" fmla="*/ 530881 h 3583481"/>
                <a:gd name="connsiteX36" fmla="*/ 770320 w 2627289"/>
                <a:gd name="connsiteY36" fmla="*/ 472021 h 3583481"/>
                <a:gd name="connsiteX37" fmla="*/ 1458923 w 2627289"/>
                <a:gd name="connsiteY37" fmla="*/ 0 h 3583481"/>
                <a:gd name="connsiteX38" fmla="*/ 1460637 w 2627289"/>
                <a:gd name="connsiteY38" fmla="*/ 0 h 3583481"/>
                <a:gd name="connsiteX39" fmla="*/ 1550356 w 2627289"/>
                <a:gd name="connsiteY39" fmla="*/ 29716 h 3583481"/>
                <a:gd name="connsiteX0" fmla="*/ 1550356 w 2627289"/>
                <a:gd name="connsiteY0" fmla="*/ 29716 h 3583481"/>
                <a:gd name="connsiteX1" fmla="*/ 1818939 w 2627289"/>
                <a:gd name="connsiteY1" fmla="*/ 176579 h 3583481"/>
                <a:gd name="connsiteX2" fmla="*/ 2097809 w 2627289"/>
                <a:gd name="connsiteY2" fmla="*/ 361731 h 3583481"/>
                <a:gd name="connsiteX3" fmla="*/ 2502398 w 2627289"/>
                <a:gd name="connsiteY3" fmla="*/ 974330 h 3583481"/>
                <a:gd name="connsiteX4" fmla="*/ 2593831 w 2627289"/>
                <a:gd name="connsiteY4" fmla="*/ 1389777 h 3583481"/>
                <a:gd name="connsiteX5" fmla="*/ 2606624 w 2627289"/>
                <a:gd name="connsiteY5" fmla="*/ 3583481 h 3583481"/>
                <a:gd name="connsiteX6" fmla="*/ 1258993 w 2627289"/>
                <a:gd name="connsiteY6" fmla="*/ 2923564 h 3583481"/>
                <a:gd name="connsiteX7" fmla="*/ 5185 w 2627289"/>
                <a:gd name="connsiteY7" fmla="*/ 2593044 h 3583481"/>
                <a:gd name="connsiteX8" fmla="*/ 266298 w 2627289"/>
                <a:gd name="connsiteY8" fmla="*/ 2153811 h 3583481"/>
                <a:gd name="connsiteX9" fmla="*/ 269155 w 2627289"/>
                <a:gd name="connsiteY9" fmla="*/ 2152668 h 3583481"/>
                <a:gd name="connsiteX10" fmla="*/ 543453 w 2627289"/>
                <a:gd name="connsiteY10" fmla="*/ 2153240 h 3583481"/>
                <a:gd name="connsiteX11" fmla="*/ 549739 w 2627289"/>
                <a:gd name="connsiteY11" fmla="*/ 2155526 h 3583481"/>
                <a:gd name="connsiteX12" fmla="*/ 747462 w 2627289"/>
                <a:gd name="connsiteY12" fmla="*/ 2181813 h 3583481"/>
                <a:gd name="connsiteX13" fmla="*/ 750891 w 2627289"/>
                <a:gd name="connsiteY13" fmla="*/ 2181813 h 3583481"/>
                <a:gd name="connsiteX14" fmla="*/ 763463 w 2627289"/>
                <a:gd name="connsiteY14" fmla="*/ 2156097 h 3583481"/>
                <a:gd name="connsiteX15" fmla="*/ 753748 w 2627289"/>
                <a:gd name="connsiteY15" fmla="*/ 2143525 h 3583481"/>
                <a:gd name="connsiteX16" fmla="*/ 694317 w 2627289"/>
                <a:gd name="connsiteY16" fmla="*/ 2010376 h 3583481"/>
                <a:gd name="connsiteX17" fmla="*/ 665173 w 2627289"/>
                <a:gd name="connsiteY17" fmla="*/ 1980661 h 3583481"/>
                <a:gd name="connsiteX18" fmla="*/ 641172 w 2627289"/>
                <a:gd name="connsiteY18" fmla="*/ 1970946 h 3583481"/>
                <a:gd name="connsiteX19" fmla="*/ 555454 w 2627289"/>
                <a:gd name="connsiteY19" fmla="*/ 1953231 h 3583481"/>
                <a:gd name="connsiteX20" fmla="*/ 306299 w 2627289"/>
                <a:gd name="connsiteY20" fmla="*/ 1973232 h 3583481"/>
                <a:gd name="connsiteX21" fmla="*/ 70289 w 2627289"/>
                <a:gd name="connsiteY21" fmla="*/ 1953802 h 3583481"/>
                <a:gd name="connsiteX22" fmla="*/ 133149 w 2627289"/>
                <a:gd name="connsiteY22" fmla="*/ 1856655 h 3583481"/>
                <a:gd name="connsiteX23" fmla="*/ 127434 w 2627289"/>
                <a:gd name="connsiteY23" fmla="*/ 1732078 h 3583481"/>
                <a:gd name="connsiteX24" fmla="*/ 0 w 2627289"/>
                <a:gd name="connsiteY24" fmla="*/ 1622930 h 3583481"/>
                <a:gd name="connsiteX25" fmla="*/ 205724 w 2627289"/>
                <a:gd name="connsiteY25" fmla="*/ 1596072 h 3583481"/>
                <a:gd name="connsiteX26" fmla="*/ 257154 w 2627289"/>
                <a:gd name="connsiteY26" fmla="*/ 1580071 h 3583481"/>
                <a:gd name="connsiteX27" fmla="*/ 358873 w 2627289"/>
                <a:gd name="connsiteY27" fmla="*/ 1557213 h 3583481"/>
                <a:gd name="connsiteX28" fmla="*/ 389732 w 2627289"/>
                <a:gd name="connsiteY28" fmla="*/ 1545212 h 3583481"/>
                <a:gd name="connsiteX29" fmla="*/ 496594 w 2627289"/>
                <a:gd name="connsiteY29" fmla="*/ 1495496 h 3583481"/>
                <a:gd name="connsiteX30" fmla="*/ 561168 w 2627289"/>
                <a:gd name="connsiteY30" fmla="*/ 1446922 h 3583481"/>
                <a:gd name="connsiteX31" fmla="*/ 588598 w 2627289"/>
                <a:gd name="connsiteY31" fmla="*/ 1332060 h 3583481"/>
                <a:gd name="connsiteX32" fmla="*/ 595456 w 2627289"/>
                <a:gd name="connsiteY32" fmla="*/ 1076048 h 3583481"/>
                <a:gd name="connsiteX33" fmla="*/ 586884 w 2627289"/>
                <a:gd name="connsiteY33" fmla="*/ 886897 h 3583481"/>
                <a:gd name="connsiteX34" fmla="*/ 614313 w 2627289"/>
                <a:gd name="connsiteY34" fmla="*/ 677745 h 3583481"/>
                <a:gd name="connsiteX35" fmla="*/ 710318 w 2627289"/>
                <a:gd name="connsiteY35" fmla="*/ 530881 h 3583481"/>
                <a:gd name="connsiteX36" fmla="*/ 770320 w 2627289"/>
                <a:gd name="connsiteY36" fmla="*/ 472021 h 3583481"/>
                <a:gd name="connsiteX37" fmla="*/ 1458923 w 2627289"/>
                <a:gd name="connsiteY37" fmla="*/ 0 h 3583481"/>
                <a:gd name="connsiteX38" fmla="*/ 1460637 w 2627289"/>
                <a:gd name="connsiteY38" fmla="*/ 0 h 3583481"/>
                <a:gd name="connsiteX39" fmla="*/ 1550356 w 2627289"/>
                <a:gd name="connsiteY39" fmla="*/ 29716 h 3583481"/>
                <a:gd name="connsiteX0" fmla="*/ 1550356 w 2676680"/>
                <a:gd name="connsiteY0" fmla="*/ 29716 h 3700834"/>
                <a:gd name="connsiteX1" fmla="*/ 1818939 w 2676680"/>
                <a:gd name="connsiteY1" fmla="*/ 176579 h 3700834"/>
                <a:gd name="connsiteX2" fmla="*/ 2097809 w 2676680"/>
                <a:gd name="connsiteY2" fmla="*/ 361731 h 3700834"/>
                <a:gd name="connsiteX3" fmla="*/ 2502398 w 2676680"/>
                <a:gd name="connsiteY3" fmla="*/ 974330 h 3700834"/>
                <a:gd name="connsiteX4" fmla="*/ 2593831 w 2676680"/>
                <a:gd name="connsiteY4" fmla="*/ 1389777 h 3700834"/>
                <a:gd name="connsiteX5" fmla="*/ 2606624 w 2676680"/>
                <a:gd name="connsiteY5" fmla="*/ 3583481 h 3700834"/>
                <a:gd name="connsiteX6" fmla="*/ 1655413 w 2676680"/>
                <a:gd name="connsiteY6" fmla="*/ 3351860 h 3700834"/>
                <a:gd name="connsiteX7" fmla="*/ 1258993 w 2676680"/>
                <a:gd name="connsiteY7" fmla="*/ 2923564 h 3700834"/>
                <a:gd name="connsiteX8" fmla="*/ 5185 w 2676680"/>
                <a:gd name="connsiteY8" fmla="*/ 2593044 h 3700834"/>
                <a:gd name="connsiteX9" fmla="*/ 266298 w 2676680"/>
                <a:gd name="connsiteY9" fmla="*/ 2153811 h 3700834"/>
                <a:gd name="connsiteX10" fmla="*/ 269155 w 2676680"/>
                <a:gd name="connsiteY10" fmla="*/ 2152668 h 3700834"/>
                <a:gd name="connsiteX11" fmla="*/ 543453 w 2676680"/>
                <a:gd name="connsiteY11" fmla="*/ 2153240 h 3700834"/>
                <a:gd name="connsiteX12" fmla="*/ 549739 w 2676680"/>
                <a:gd name="connsiteY12" fmla="*/ 2155526 h 3700834"/>
                <a:gd name="connsiteX13" fmla="*/ 747462 w 2676680"/>
                <a:gd name="connsiteY13" fmla="*/ 2181813 h 3700834"/>
                <a:gd name="connsiteX14" fmla="*/ 750891 w 2676680"/>
                <a:gd name="connsiteY14" fmla="*/ 2181813 h 3700834"/>
                <a:gd name="connsiteX15" fmla="*/ 763463 w 2676680"/>
                <a:gd name="connsiteY15" fmla="*/ 2156097 h 3700834"/>
                <a:gd name="connsiteX16" fmla="*/ 753748 w 2676680"/>
                <a:gd name="connsiteY16" fmla="*/ 2143525 h 3700834"/>
                <a:gd name="connsiteX17" fmla="*/ 694317 w 2676680"/>
                <a:gd name="connsiteY17" fmla="*/ 2010376 h 3700834"/>
                <a:gd name="connsiteX18" fmla="*/ 665173 w 2676680"/>
                <a:gd name="connsiteY18" fmla="*/ 1980661 h 3700834"/>
                <a:gd name="connsiteX19" fmla="*/ 641172 w 2676680"/>
                <a:gd name="connsiteY19" fmla="*/ 1970946 h 3700834"/>
                <a:gd name="connsiteX20" fmla="*/ 555454 w 2676680"/>
                <a:gd name="connsiteY20" fmla="*/ 1953231 h 3700834"/>
                <a:gd name="connsiteX21" fmla="*/ 306299 w 2676680"/>
                <a:gd name="connsiteY21" fmla="*/ 1973232 h 3700834"/>
                <a:gd name="connsiteX22" fmla="*/ 70289 w 2676680"/>
                <a:gd name="connsiteY22" fmla="*/ 1953802 h 3700834"/>
                <a:gd name="connsiteX23" fmla="*/ 133149 w 2676680"/>
                <a:gd name="connsiteY23" fmla="*/ 1856655 h 3700834"/>
                <a:gd name="connsiteX24" fmla="*/ 127434 w 2676680"/>
                <a:gd name="connsiteY24" fmla="*/ 1732078 h 3700834"/>
                <a:gd name="connsiteX25" fmla="*/ 0 w 2676680"/>
                <a:gd name="connsiteY25" fmla="*/ 1622930 h 3700834"/>
                <a:gd name="connsiteX26" fmla="*/ 205724 w 2676680"/>
                <a:gd name="connsiteY26" fmla="*/ 1596072 h 3700834"/>
                <a:gd name="connsiteX27" fmla="*/ 257154 w 2676680"/>
                <a:gd name="connsiteY27" fmla="*/ 1580071 h 3700834"/>
                <a:gd name="connsiteX28" fmla="*/ 358873 w 2676680"/>
                <a:gd name="connsiteY28" fmla="*/ 1557213 h 3700834"/>
                <a:gd name="connsiteX29" fmla="*/ 389732 w 2676680"/>
                <a:gd name="connsiteY29" fmla="*/ 1545212 h 3700834"/>
                <a:gd name="connsiteX30" fmla="*/ 496594 w 2676680"/>
                <a:gd name="connsiteY30" fmla="*/ 1495496 h 3700834"/>
                <a:gd name="connsiteX31" fmla="*/ 561168 w 2676680"/>
                <a:gd name="connsiteY31" fmla="*/ 1446922 h 3700834"/>
                <a:gd name="connsiteX32" fmla="*/ 588598 w 2676680"/>
                <a:gd name="connsiteY32" fmla="*/ 1332060 h 3700834"/>
                <a:gd name="connsiteX33" fmla="*/ 595456 w 2676680"/>
                <a:gd name="connsiteY33" fmla="*/ 1076048 h 3700834"/>
                <a:gd name="connsiteX34" fmla="*/ 586884 w 2676680"/>
                <a:gd name="connsiteY34" fmla="*/ 886897 h 3700834"/>
                <a:gd name="connsiteX35" fmla="*/ 614313 w 2676680"/>
                <a:gd name="connsiteY35" fmla="*/ 677745 h 3700834"/>
                <a:gd name="connsiteX36" fmla="*/ 710318 w 2676680"/>
                <a:gd name="connsiteY36" fmla="*/ 530881 h 3700834"/>
                <a:gd name="connsiteX37" fmla="*/ 770320 w 2676680"/>
                <a:gd name="connsiteY37" fmla="*/ 472021 h 3700834"/>
                <a:gd name="connsiteX38" fmla="*/ 1458923 w 2676680"/>
                <a:gd name="connsiteY38" fmla="*/ 0 h 3700834"/>
                <a:gd name="connsiteX39" fmla="*/ 1460637 w 2676680"/>
                <a:gd name="connsiteY39" fmla="*/ 0 h 3700834"/>
                <a:gd name="connsiteX40" fmla="*/ 1550356 w 2676680"/>
                <a:gd name="connsiteY40" fmla="*/ 29716 h 3700834"/>
                <a:gd name="connsiteX0" fmla="*/ 1550356 w 2676680"/>
                <a:gd name="connsiteY0" fmla="*/ 29716 h 3765404"/>
                <a:gd name="connsiteX1" fmla="*/ 1818939 w 2676680"/>
                <a:gd name="connsiteY1" fmla="*/ 176579 h 3765404"/>
                <a:gd name="connsiteX2" fmla="*/ 2097809 w 2676680"/>
                <a:gd name="connsiteY2" fmla="*/ 361731 h 3765404"/>
                <a:gd name="connsiteX3" fmla="*/ 2502398 w 2676680"/>
                <a:gd name="connsiteY3" fmla="*/ 974330 h 3765404"/>
                <a:gd name="connsiteX4" fmla="*/ 2593831 w 2676680"/>
                <a:gd name="connsiteY4" fmla="*/ 1389777 h 3765404"/>
                <a:gd name="connsiteX5" fmla="*/ 2606624 w 2676680"/>
                <a:gd name="connsiteY5" fmla="*/ 3583481 h 3765404"/>
                <a:gd name="connsiteX6" fmla="*/ 1349896 w 2676680"/>
                <a:gd name="connsiteY6" fmla="*/ 3608495 h 3765404"/>
                <a:gd name="connsiteX7" fmla="*/ 1258993 w 2676680"/>
                <a:gd name="connsiteY7" fmla="*/ 2923564 h 3765404"/>
                <a:gd name="connsiteX8" fmla="*/ 5185 w 2676680"/>
                <a:gd name="connsiteY8" fmla="*/ 2593044 h 3765404"/>
                <a:gd name="connsiteX9" fmla="*/ 266298 w 2676680"/>
                <a:gd name="connsiteY9" fmla="*/ 2153811 h 3765404"/>
                <a:gd name="connsiteX10" fmla="*/ 269155 w 2676680"/>
                <a:gd name="connsiteY10" fmla="*/ 2152668 h 3765404"/>
                <a:gd name="connsiteX11" fmla="*/ 543453 w 2676680"/>
                <a:gd name="connsiteY11" fmla="*/ 2153240 h 3765404"/>
                <a:gd name="connsiteX12" fmla="*/ 549739 w 2676680"/>
                <a:gd name="connsiteY12" fmla="*/ 2155526 h 3765404"/>
                <a:gd name="connsiteX13" fmla="*/ 747462 w 2676680"/>
                <a:gd name="connsiteY13" fmla="*/ 2181813 h 3765404"/>
                <a:gd name="connsiteX14" fmla="*/ 750891 w 2676680"/>
                <a:gd name="connsiteY14" fmla="*/ 2181813 h 3765404"/>
                <a:gd name="connsiteX15" fmla="*/ 763463 w 2676680"/>
                <a:gd name="connsiteY15" fmla="*/ 2156097 h 3765404"/>
                <a:gd name="connsiteX16" fmla="*/ 753748 w 2676680"/>
                <a:gd name="connsiteY16" fmla="*/ 2143525 h 3765404"/>
                <a:gd name="connsiteX17" fmla="*/ 694317 w 2676680"/>
                <a:gd name="connsiteY17" fmla="*/ 2010376 h 3765404"/>
                <a:gd name="connsiteX18" fmla="*/ 665173 w 2676680"/>
                <a:gd name="connsiteY18" fmla="*/ 1980661 h 3765404"/>
                <a:gd name="connsiteX19" fmla="*/ 641172 w 2676680"/>
                <a:gd name="connsiteY19" fmla="*/ 1970946 h 3765404"/>
                <a:gd name="connsiteX20" fmla="*/ 555454 w 2676680"/>
                <a:gd name="connsiteY20" fmla="*/ 1953231 h 3765404"/>
                <a:gd name="connsiteX21" fmla="*/ 306299 w 2676680"/>
                <a:gd name="connsiteY21" fmla="*/ 1973232 h 3765404"/>
                <a:gd name="connsiteX22" fmla="*/ 70289 w 2676680"/>
                <a:gd name="connsiteY22" fmla="*/ 1953802 h 3765404"/>
                <a:gd name="connsiteX23" fmla="*/ 133149 w 2676680"/>
                <a:gd name="connsiteY23" fmla="*/ 1856655 h 3765404"/>
                <a:gd name="connsiteX24" fmla="*/ 127434 w 2676680"/>
                <a:gd name="connsiteY24" fmla="*/ 1732078 h 3765404"/>
                <a:gd name="connsiteX25" fmla="*/ 0 w 2676680"/>
                <a:gd name="connsiteY25" fmla="*/ 1622930 h 3765404"/>
                <a:gd name="connsiteX26" fmla="*/ 205724 w 2676680"/>
                <a:gd name="connsiteY26" fmla="*/ 1596072 h 3765404"/>
                <a:gd name="connsiteX27" fmla="*/ 257154 w 2676680"/>
                <a:gd name="connsiteY27" fmla="*/ 1580071 h 3765404"/>
                <a:gd name="connsiteX28" fmla="*/ 358873 w 2676680"/>
                <a:gd name="connsiteY28" fmla="*/ 1557213 h 3765404"/>
                <a:gd name="connsiteX29" fmla="*/ 389732 w 2676680"/>
                <a:gd name="connsiteY29" fmla="*/ 1545212 h 3765404"/>
                <a:gd name="connsiteX30" fmla="*/ 496594 w 2676680"/>
                <a:gd name="connsiteY30" fmla="*/ 1495496 h 3765404"/>
                <a:gd name="connsiteX31" fmla="*/ 561168 w 2676680"/>
                <a:gd name="connsiteY31" fmla="*/ 1446922 h 3765404"/>
                <a:gd name="connsiteX32" fmla="*/ 588598 w 2676680"/>
                <a:gd name="connsiteY32" fmla="*/ 1332060 h 3765404"/>
                <a:gd name="connsiteX33" fmla="*/ 595456 w 2676680"/>
                <a:gd name="connsiteY33" fmla="*/ 1076048 h 3765404"/>
                <a:gd name="connsiteX34" fmla="*/ 586884 w 2676680"/>
                <a:gd name="connsiteY34" fmla="*/ 886897 h 3765404"/>
                <a:gd name="connsiteX35" fmla="*/ 614313 w 2676680"/>
                <a:gd name="connsiteY35" fmla="*/ 677745 h 3765404"/>
                <a:gd name="connsiteX36" fmla="*/ 710318 w 2676680"/>
                <a:gd name="connsiteY36" fmla="*/ 530881 h 3765404"/>
                <a:gd name="connsiteX37" fmla="*/ 770320 w 2676680"/>
                <a:gd name="connsiteY37" fmla="*/ 472021 h 3765404"/>
                <a:gd name="connsiteX38" fmla="*/ 1458923 w 2676680"/>
                <a:gd name="connsiteY38" fmla="*/ 0 h 3765404"/>
                <a:gd name="connsiteX39" fmla="*/ 1460637 w 2676680"/>
                <a:gd name="connsiteY39" fmla="*/ 0 h 3765404"/>
                <a:gd name="connsiteX40" fmla="*/ 1550356 w 2676680"/>
                <a:gd name="connsiteY40" fmla="*/ 29716 h 3765404"/>
                <a:gd name="connsiteX0" fmla="*/ 1550356 w 2676680"/>
                <a:gd name="connsiteY0" fmla="*/ 29716 h 3732707"/>
                <a:gd name="connsiteX1" fmla="*/ 1818939 w 2676680"/>
                <a:gd name="connsiteY1" fmla="*/ 176579 h 3732707"/>
                <a:gd name="connsiteX2" fmla="*/ 2097809 w 2676680"/>
                <a:gd name="connsiteY2" fmla="*/ 361731 h 3732707"/>
                <a:gd name="connsiteX3" fmla="*/ 2502398 w 2676680"/>
                <a:gd name="connsiteY3" fmla="*/ 974330 h 3732707"/>
                <a:gd name="connsiteX4" fmla="*/ 2593831 w 2676680"/>
                <a:gd name="connsiteY4" fmla="*/ 1389777 h 3732707"/>
                <a:gd name="connsiteX5" fmla="*/ 2606624 w 2676680"/>
                <a:gd name="connsiteY5" fmla="*/ 3583481 h 3732707"/>
                <a:gd name="connsiteX6" fmla="*/ 1349896 w 2676680"/>
                <a:gd name="connsiteY6" fmla="*/ 3608495 h 3732707"/>
                <a:gd name="connsiteX7" fmla="*/ 1258993 w 2676680"/>
                <a:gd name="connsiteY7" fmla="*/ 2923564 h 3732707"/>
                <a:gd name="connsiteX8" fmla="*/ 5185 w 2676680"/>
                <a:gd name="connsiteY8" fmla="*/ 2593044 h 3732707"/>
                <a:gd name="connsiteX9" fmla="*/ 266298 w 2676680"/>
                <a:gd name="connsiteY9" fmla="*/ 2153811 h 3732707"/>
                <a:gd name="connsiteX10" fmla="*/ 269155 w 2676680"/>
                <a:gd name="connsiteY10" fmla="*/ 2152668 h 3732707"/>
                <a:gd name="connsiteX11" fmla="*/ 543453 w 2676680"/>
                <a:gd name="connsiteY11" fmla="*/ 2153240 h 3732707"/>
                <a:gd name="connsiteX12" fmla="*/ 549739 w 2676680"/>
                <a:gd name="connsiteY12" fmla="*/ 2155526 h 3732707"/>
                <a:gd name="connsiteX13" fmla="*/ 747462 w 2676680"/>
                <a:gd name="connsiteY13" fmla="*/ 2181813 h 3732707"/>
                <a:gd name="connsiteX14" fmla="*/ 750891 w 2676680"/>
                <a:gd name="connsiteY14" fmla="*/ 2181813 h 3732707"/>
                <a:gd name="connsiteX15" fmla="*/ 763463 w 2676680"/>
                <a:gd name="connsiteY15" fmla="*/ 2156097 h 3732707"/>
                <a:gd name="connsiteX16" fmla="*/ 753748 w 2676680"/>
                <a:gd name="connsiteY16" fmla="*/ 2143525 h 3732707"/>
                <a:gd name="connsiteX17" fmla="*/ 694317 w 2676680"/>
                <a:gd name="connsiteY17" fmla="*/ 2010376 h 3732707"/>
                <a:gd name="connsiteX18" fmla="*/ 665173 w 2676680"/>
                <a:gd name="connsiteY18" fmla="*/ 1980661 h 3732707"/>
                <a:gd name="connsiteX19" fmla="*/ 641172 w 2676680"/>
                <a:gd name="connsiteY19" fmla="*/ 1970946 h 3732707"/>
                <a:gd name="connsiteX20" fmla="*/ 555454 w 2676680"/>
                <a:gd name="connsiteY20" fmla="*/ 1953231 h 3732707"/>
                <a:gd name="connsiteX21" fmla="*/ 306299 w 2676680"/>
                <a:gd name="connsiteY21" fmla="*/ 1973232 h 3732707"/>
                <a:gd name="connsiteX22" fmla="*/ 70289 w 2676680"/>
                <a:gd name="connsiteY22" fmla="*/ 1953802 h 3732707"/>
                <a:gd name="connsiteX23" fmla="*/ 133149 w 2676680"/>
                <a:gd name="connsiteY23" fmla="*/ 1856655 h 3732707"/>
                <a:gd name="connsiteX24" fmla="*/ 127434 w 2676680"/>
                <a:gd name="connsiteY24" fmla="*/ 1732078 h 3732707"/>
                <a:gd name="connsiteX25" fmla="*/ 0 w 2676680"/>
                <a:gd name="connsiteY25" fmla="*/ 1622930 h 3732707"/>
                <a:gd name="connsiteX26" fmla="*/ 205724 w 2676680"/>
                <a:gd name="connsiteY26" fmla="*/ 1596072 h 3732707"/>
                <a:gd name="connsiteX27" fmla="*/ 257154 w 2676680"/>
                <a:gd name="connsiteY27" fmla="*/ 1580071 h 3732707"/>
                <a:gd name="connsiteX28" fmla="*/ 358873 w 2676680"/>
                <a:gd name="connsiteY28" fmla="*/ 1557213 h 3732707"/>
                <a:gd name="connsiteX29" fmla="*/ 389732 w 2676680"/>
                <a:gd name="connsiteY29" fmla="*/ 1545212 h 3732707"/>
                <a:gd name="connsiteX30" fmla="*/ 496594 w 2676680"/>
                <a:gd name="connsiteY30" fmla="*/ 1495496 h 3732707"/>
                <a:gd name="connsiteX31" fmla="*/ 561168 w 2676680"/>
                <a:gd name="connsiteY31" fmla="*/ 1446922 h 3732707"/>
                <a:gd name="connsiteX32" fmla="*/ 588598 w 2676680"/>
                <a:gd name="connsiteY32" fmla="*/ 1332060 h 3732707"/>
                <a:gd name="connsiteX33" fmla="*/ 595456 w 2676680"/>
                <a:gd name="connsiteY33" fmla="*/ 1076048 h 3732707"/>
                <a:gd name="connsiteX34" fmla="*/ 586884 w 2676680"/>
                <a:gd name="connsiteY34" fmla="*/ 886897 h 3732707"/>
                <a:gd name="connsiteX35" fmla="*/ 614313 w 2676680"/>
                <a:gd name="connsiteY35" fmla="*/ 677745 h 3732707"/>
                <a:gd name="connsiteX36" fmla="*/ 710318 w 2676680"/>
                <a:gd name="connsiteY36" fmla="*/ 530881 h 3732707"/>
                <a:gd name="connsiteX37" fmla="*/ 770320 w 2676680"/>
                <a:gd name="connsiteY37" fmla="*/ 472021 h 3732707"/>
                <a:gd name="connsiteX38" fmla="*/ 1458923 w 2676680"/>
                <a:gd name="connsiteY38" fmla="*/ 0 h 3732707"/>
                <a:gd name="connsiteX39" fmla="*/ 1460637 w 2676680"/>
                <a:gd name="connsiteY39" fmla="*/ 0 h 3732707"/>
                <a:gd name="connsiteX40" fmla="*/ 1550356 w 2676680"/>
                <a:gd name="connsiteY40" fmla="*/ 29716 h 3732707"/>
                <a:gd name="connsiteX0" fmla="*/ 1550356 w 2676680"/>
                <a:gd name="connsiteY0" fmla="*/ 29716 h 3608495"/>
                <a:gd name="connsiteX1" fmla="*/ 1818939 w 2676680"/>
                <a:gd name="connsiteY1" fmla="*/ 176579 h 3608495"/>
                <a:gd name="connsiteX2" fmla="*/ 2097809 w 2676680"/>
                <a:gd name="connsiteY2" fmla="*/ 361731 h 3608495"/>
                <a:gd name="connsiteX3" fmla="*/ 2502398 w 2676680"/>
                <a:gd name="connsiteY3" fmla="*/ 974330 h 3608495"/>
                <a:gd name="connsiteX4" fmla="*/ 2593831 w 2676680"/>
                <a:gd name="connsiteY4" fmla="*/ 1389777 h 3608495"/>
                <a:gd name="connsiteX5" fmla="*/ 2606624 w 2676680"/>
                <a:gd name="connsiteY5" fmla="*/ 3583481 h 3608495"/>
                <a:gd name="connsiteX6" fmla="*/ 1349896 w 2676680"/>
                <a:gd name="connsiteY6" fmla="*/ 3608495 h 3608495"/>
                <a:gd name="connsiteX7" fmla="*/ 1258993 w 2676680"/>
                <a:gd name="connsiteY7" fmla="*/ 2923564 h 3608495"/>
                <a:gd name="connsiteX8" fmla="*/ 5185 w 2676680"/>
                <a:gd name="connsiteY8" fmla="*/ 2593044 h 3608495"/>
                <a:gd name="connsiteX9" fmla="*/ 266298 w 2676680"/>
                <a:gd name="connsiteY9" fmla="*/ 2153811 h 3608495"/>
                <a:gd name="connsiteX10" fmla="*/ 269155 w 2676680"/>
                <a:gd name="connsiteY10" fmla="*/ 2152668 h 3608495"/>
                <a:gd name="connsiteX11" fmla="*/ 543453 w 2676680"/>
                <a:gd name="connsiteY11" fmla="*/ 2153240 h 3608495"/>
                <a:gd name="connsiteX12" fmla="*/ 549739 w 2676680"/>
                <a:gd name="connsiteY12" fmla="*/ 2155526 h 3608495"/>
                <a:gd name="connsiteX13" fmla="*/ 747462 w 2676680"/>
                <a:gd name="connsiteY13" fmla="*/ 2181813 h 3608495"/>
                <a:gd name="connsiteX14" fmla="*/ 750891 w 2676680"/>
                <a:gd name="connsiteY14" fmla="*/ 2181813 h 3608495"/>
                <a:gd name="connsiteX15" fmla="*/ 763463 w 2676680"/>
                <a:gd name="connsiteY15" fmla="*/ 2156097 h 3608495"/>
                <a:gd name="connsiteX16" fmla="*/ 753748 w 2676680"/>
                <a:gd name="connsiteY16" fmla="*/ 2143525 h 3608495"/>
                <a:gd name="connsiteX17" fmla="*/ 694317 w 2676680"/>
                <a:gd name="connsiteY17" fmla="*/ 2010376 h 3608495"/>
                <a:gd name="connsiteX18" fmla="*/ 665173 w 2676680"/>
                <a:gd name="connsiteY18" fmla="*/ 1980661 h 3608495"/>
                <a:gd name="connsiteX19" fmla="*/ 641172 w 2676680"/>
                <a:gd name="connsiteY19" fmla="*/ 1970946 h 3608495"/>
                <a:gd name="connsiteX20" fmla="*/ 555454 w 2676680"/>
                <a:gd name="connsiteY20" fmla="*/ 1953231 h 3608495"/>
                <a:gd name="connsiteX21" fmla="*/ 306299 w 2676680"/>
                <a:gd name="connsiteY21" fmla="*/ 1973232 h 3608495"/>
                <a:gd name="connsiteX22" fmla="*/ 70289 w 2676680"/>
                <a:gd name="connsiteY22" fmla="*/ 1953802 h 3608495"/>
                <a:gd name="connsiteX23" fmla="*/ 133149 w 2676680"/>
                <a:gd name="connsiteY23" fmla="*/ 1856655 h 3608495"/>
                <a:gd name="connsiteX24" fmla="*/ 127434 w 2676680"/>
                <a:gd name="connsiteY24" fmla="*/ 1732078 h 3608495"/>
                <a:gd name="connsiteX25" fmla="*/ 0 w 2676680"/>
                <a:gd name="connsiteY25" fmla="*/ 1622930 h 3608495"/>
                <a:gd name="connsiteX26" fmla="*/ 205724 w 2676680"/>
                <a:gd name="connsiteY26" fmla="*/ 1596072 h 3608495"/>
                <a:gd name="connsiteX27" fmla="*/ 257154 w 2676680"/>
                <a:gd name="connsiteY27" fmla="*/ 1580071 h 3608495"/>
                <a:gd name="connsiteX28" fmla="*/ 358873 w 2676680"/>
                <a:gd name="connsiteY28" fmla="*/ 1557213 h 3608495"/>
                <a:gd name="connsiteX29" fmla="*/ 389732 w 2676680"/>
                <a:gd name="connsiteY29" fmla="*/ 1545212 h 3608495"/>
                <a:gd name="connsiteX30" fmla="*/ 496594 w 2676680"/>
                <a:gd name="connsiteY30" fmla="*/ 1495496 h 3608495"/>
                <a:gd name="connsiteX31" fmla="*/ 561168 w 2676680"/>
                <a:gd name="connsiteY31" fmla="*/ 1446922 h 3608495"/>
                <a:gd name="connsiteX32" fmla="*/ 588598 w 2676680"/>
                <a:gd name="connsiteY32" fmla="*/ 1332060 h 3608495"/>
                <a:gd name="connsiteX33" fmla="*/ 595456 w 2676680"/>
                <a:gd name="connsiteY33" fmla="*/ 1076048 h 3608495"/>
                <a:gd name="connsiteX34" fmla="*/ 586884 w 2676680"/>
                <a:gd name="connsiteY34" fmla="*/ 886897 h 3608495"/>
                <a:gd name="connsiteX35" fmla="*/ 614313 w 2676680"/>
                <a:gd name="connsiteY35" fmla="*/ 677745 h 3608495"/>
                <a:gd name="connsiteX36" fmla="*/ 710318 w 2676680"/>
                <a:gd name="connsiteY36" fmla="*/ 530881 h 3608495"/>
                <a:gd name="connsiteX37" fmla="*/ 770320 w 2676680"/>
                <a:gd name="connsiteY37" fmla="*/ 472021 h 3608495"/>
                <a:gd name="connsiteX38" fmla="*/ 1458923 w 2676680"/>
                <a:gd name="connsiteY38" fmla="*/ 0 h 3608495"/>
                <a:gd name="connsiteX39" fmla="*/ 1460637 w 2676680"/>
                <a:gd name="connsiteY39" fmla="*/ 0 h 3608495"/>
                <a:gd name="connsiteX40" fmla="*/ 1550356 w 2676680"/>
                <a:gd name="connsiteY40" fmla="*/ 29716 h 3608495"/>
                <a:gd name="connsiteX0" fmla="*/ 1550356 w 2606624"/>
                <a:gd name="connsiteY0" fmla="*/ 29716 h 3608495"/>
                <a:gd name="connsiteX1" fmla="*/ 1818939 w 2606624"/>
                <a:gd name="connsiteY1" fmla="*/ 176579 h 3608495"/>
                <a:gd name="connsiteX2" fmla="*/ 2097809 w 2606624"/>
                <a:gd name="connsiteY2" fmla="*/ 361731 h 3608495"/>
                <a:gd name="connsiteX3" fmla="*/ 2502398 w 2606624"/>
                <a:gd name="connsiteY3" fmla="*/ 974330 h 3608495"/>
                <a:gd name="connsiteX4" fmla="*/ 2593831 w 2606624"/>
                <a:gd name="connsiteY4" fmla="*/ 1389777 h 3608495"/>
                <a:gd name="connsiteX5" fmla="*/ 2606624 w 2606624"/>
                <a:gd name="connsiteY5" fmla="*/ 3583481 h 3608495"/>
                <a:gd name="connsiteX6" fmla="*/ 1349896 w 2606624"/>
                <a:gd name="connsiteY6" fmla="*/ 3608495 h 3608495"/>
                <a:gd name="connsiteX7" fmla="*/ 1258993 w 2606624"/>
                <a:gd name="connsiteY7" fmla="*/ 2923564 h 3608495"/>
                <a:gd name="connsiteX8" fmla="*/ 5185 w 2606624"/>
                <a:gd name="connsiteY8" fmla="*/ 2593044 h 3608495"/>
                <a:gd name="connsiteX9" fmla="*/ 266298 w 2606624"/>
                <a:gd name="connsiteY9" fmla="*/ 2153811 h 3608495"/>
                <a:gd name="connsiteX10" fmla="*/ 269155 w 2606624"/>
                <a:gd name="connsiteY10" fmla="*/ 2152668 h 3608495"/>
                <a:gd name="connsiteX11" fmla="*/ 543453 w 2606624"/>
                <a:gd name="connsiteY11" fmla="*/ 2153240 h 3608495"/>
                <a:gd name="connsiteX12" fmla="*/ 549739 w 2606624"/>
                <a:gd name="connsiteY12" fmla="*/ 2155526 h 3608495"/>
                <a:gd name="connsiteX13" fmla="*/ 747462 w 2606624"/>
                <a:gd name="connsiteY13" fmla="*/ 2181813 h 3608495"/>
                <a:gd name="connsiteX14" fmla="*/ 750891 w 2606624"/>
                <a:gd name="connsiteY14" fmla="*/ 2181813 h 3608495"/>
                <a:gd name="connsiteX15" fmla="*/ 763463 w 2606624"/>
                <a:gd name="connsiteY15" fmla="*/ 2156097 h 3608495"/>
                <a:gd name="connsiteX16" fmla="*/ 753748 w 2606624"/>
                <a:gd name="connsiteY16" fmla="*/ 2143525 h 3608495"/>
                <a:gd name="connsiteX17" fmla="*/ 694317 w 2606624"/>
                <a:gd name="connsiteY17" fmla="*/ 2010376 h 3608495"/>
                <a:gd name="connsiteX18" fmla="*/ 665173 w 2606624"/>
                <a:gd name="connsiteY18" fmla="*/ 1980661 h 3608495"/>
                <a:gd name="connsiteX19" fmla="*/ 641172 w 2606624"/>
                <a:gd name="connsiteY19" fmla="*/ 1970946 h 3608495"/>
                <a:gd name="connsiteX20" fmla="*/ 555454 w 2606624"/>
                <a:gd name="connsiteY20" fmla="*/ 1953231 h 3608495"/>
                <a:gd name="connsiteX21" fmla="*/ 306299 w 2606624"/>
                <a:gd name="connsiteY21" fmla="*/ 1973232 h 3608495"/>
                <a:gd name="connsiteX22" fmla="*/ 70289 w 2606624"/>
                <a:gd name="connsiteY22" fmla="*/ 1953802 h 3608495"/>
                <a:gd name="connsiteX23" fmla="*/ 133149 w 2606624"/>
                <a:gd name="connsiteY23" fmla="*/ 1856655 h 3608495"/>
                <a:gd name="connsiteX24" fmla="*/ 127434 w 2606624"/>
                <a:gd name="connsiteY24" fmla="*/ 1732078 h 3608495"/>
                <a:gd name="connsiteX25" fmla="*/ 0 w 2606624"/>
                <a:gd name="connsiteY25" fmla="*/ 1622930 h 3608495"/>
                <a:gd name="connsiteX26" fmla="*/ 205724 w 2606624"/>
                <a:gd name="connsiteY26" fmla="*/ 1596072 h 3608495"/>
                <a:gd name="connsiteX27" fmla="*/ 257154 w 2606624"/>
                <a:gd name="connsiteY27" fmla="*/ 1580071 h 3608495"/>
                <a:gd name="connsiteX28" fmla="*/ 358873 w 2606624"/>
                <a:gd name="connsiteY28" fmla="*/ 1557213 h 3608495"/>
                <a:gd name="connsiteX29" fmla="*/ 389732 w 2606624"/>
                <a:gd name="connsiteY29" fmla="*/ 1545212 h 3608495"/>
                <a:gd name="connsiteX30" fmla="*/ 496594 w 2606624"/>
                <a:gd name="connsiteY30" fmla="*/ 1495496 h 3608495"/>
                <a:gd name="connsiteX31" fmla="*/ 561168 w 2606624"/>
                <a:gd name="connsiteY31" fmla="*/ 1446922 h 3608495"/>
                <a:gd name="connsiteX32" fmla="*/ 588598 w 2606624"/>
                <a:gd name="connsiteY32" fmla="*/ 1332060 h 3608495"/>
                <a:gd name="connsiteX33" fmla="*/ 595456 w 2606624"/>
                <a:gd name="connsiteY33" fmla="*/ 1076048 h 3608495"/>
                <a:gd name="connsiteX34" fmla="*/ 586884 w 2606624"/>
                <a:gd name="connsiteY34" fmla="*/ 886897 h 3608495"/>
                <a:gd name="connsiteX35" fmla="*/ 614313 w 2606624"/>
                <a:gd name="connsiteY35" fmla="*/ 677745 h 3608495"/>
                <a:gd name="connsiteX36" fmla="*/ 710318 w 2606624"/>
                <a:gd name="connsiteY36" fmla="*/ 530881 h 3608495"/>
                <a:gd name="connsiteX37" fmla="*/ 770320 w 2606624"/>
                <a:gd name="connsiteY37" fmla="*/ 472021 h 3608495"/>
                <a:gd name="connsiteX38" fmla="*/ 1458923 w 2606624"/>
                <a:gd name="connsiteY38" fmla="*/ 0 h 3608495"/>
                <a:gd name="connsiteX39" fmla="*/ 1460637 w 2606624"/>
                <a:gd name="connsiteY39" fmla="*/ 0 h 3608495"/>
                <a:gd name="connsiteX40" fmla="*/ 1550356 w 2606624"/>
                <a:gd name="connsiteY40" fmla="*/ 29716 h 3608495"/>
                <a:gd name="connsiteX0" fmla="*/ 1550356 w 2606624"/>
                <a:gd name="connsiteY0" fmla="*/ 29716 h 3608495"/>
                <a:gd name="connsiteX1" fmla="*/ 1818939 w 2606624"/>
                <a:gd name="connsiteY1" fmla="*/ 176579 h 3608495"/>
                <a:gd name="connsiteX2" fmla="*/ 2097809 w 2606624"/>
                <a:gd name="connsiteY2" fmla="*/ 361731 h 3608495"/>
                <a:gd name="connsiteX3" fmla="*/ 2502398 w 2606624"/>
                <a:gd name="connsiteY3" fmla="*/ 974330 h 3608495"/>
                <a:gd name="connsiteX4" fmla="*/ 2593831 w 2606624"/>
                <a:gd name="connsiteY4" fmla="*/ 1389777 h 3608495"/>
                <a:gd name="connsiteX5" fmla="*/ 2606624 w 2606624"/>
                <a:gd name="connsiteY5" fmla="*/ 3583481 h 3608495"/>
                <a:gd name="connsiteX6" fmla="*/ 1349896 w 2606624"/>
                <a:gd name="connsiteY6" fmla="*/ 3608495 h 3608495"/>
                <a:gd name="connsiteX7" fmla="*/ 1258993 w 2606624"/>
                <a:gd name="connsiteY7" fmla="*/ 2923564 h 3608495"/>
                <a:gd name="connsiteX8" fmla="*/ 5185 w 2606624"/>
                <a:gd name="connsiteY8" fmla="*/ 2593044 h 3608495"/>
                <a:gd name="connsiteX9" fmla="*/ 266298 w 2606624"/>
                <a:gd name="connsiteY9" fmla="*/ 2153811 h 3608495"/>
                <a:gd name="connsiteX10" fmla="*/ 269155 w 2606624"/>
                <a:gd name="connsiteY10" fmla="*/ 2152668 h 3608495"/>
                <a:gd name="connsiteX11" fmla="*/ 543453 w 2606624"/>
                <a:gd name="connsiteY11" fmla="*/ 2153240 h 3608495"/>
                <a:gd name="connsiteX12" fmla="*/ 549739 w 2606624"/>
                <a:gd name="connsiteY12" fmla="*/ 2155526 h 3608495"/>
                <a:gd name="connsiteX13" fmla="*/ 747462 w 2606624"/>
                <a:gd name="connsiteY13" fmla="*/ 2181813 h 3608495"/>
                <a:gd name="connsiteX14" fmla="*/ 750891 w 2606624"/>
                <a:gd name="connsiteY14" fmla="*/ 2181813 h 3608495"/>
                <a:gd name="connsiteX15" fmla="*/ 763463 w 2606624"/>
                <a:gd name="connsiteY15" fmla="*/ 2156097 h 3608495"/>
                <a:gd name="connsiteX16" fmla="*/ 753748 w 2606624"/>
                <a:gd name="connsiteY16" fmla="*/ 2143525 h 3608495"/>
                <a:gd name="connsiteX17" fmla="*/ 694317 w 2606624"/>
                <a:gd name="connsiteY17" fmla="*/ 2010376 h 3608495"/>
                <a:gd name="connsiteX18" fmla="*/ 665173 w 2606624"/>
                <a:gd name="connsiteY18" fmla="*/ 1980661 h 3608495"/>
                <a:gd name="connsiteX19" fmla="*/ 641172 w 2606624"/>
                <a:gd name="connsiteY19" fmla="*/ 1970946 h 3608495"/>
                <a:gd name="connsiteX20" fmla="*/ 555454 w 2606624"/>
                <a:gd name="connsiteY20" fmla="*/ 1953231 h 3608495"/>
                <a:gd name="connsiteX21" fmla="*/ 306299 w 2606624"/>
                <a:gd name="connsiteY21" fmla="*/ 1973232 h 3608495"/>
                <a:gd name="connsiteX22" fmla="*/ 70289 w 2606624"/>
                <a:gd name="connsiteY22" fmla="*/ 1953802 h 3608495"/>
                <a:gd name="connsiteX23" fmla="*/ 133149 w 2606624"/>
                <a:gd name="connsiteY23" fmla="*/ 1856655 h 3608495"/>
                <a:gd name="connsiteX24" fmla="*/ 127434 w 2606624"/>
                <a:gd name="connsiteY24" fmla="*/ 1732078 h 3608495"/>
                <a:gd name="connsiteX25" fmla="*/ 0 w 2606624"/>
                <a:gd name="connsiteY25" fmla="*/ 1622930 h 3608495"/>
                <a:gd name="connsiteX26" fmla="*/ 205724 w 2606624"/>
                <a:gd name="connsiteY26" fmla="*/ 1596072 h 3608495"/>
                <a:gd name="connsiteX27" fmla="*/ 257154 w 2606624"/>
                <a:gd name="connsiteY27" fmla="*/ 1580071 h 3608495"/>
                <a:gd name="connsiteX28" fmla="*/ 358873 w 2606624"/>
                <a:gd name="connsiteY28" fmla="*/ 1557213 h 3608495"/>
                <a:gd name="connsiteX29" fmla="*/ 389732 w 2606624"/>
                <a:gd name="connsiteY29" fmla="*/ 1545212 h 3608495"/>
                <a:gd name="connsiteX30" fmla="*/ 496594 w 2606624"/>
                <a:gd name="connsiteY30" fmla="*/ 1495496 h 3608495"/>
                <a:gd name="connsiteX31" fmla="*/ 561168 w 2606624"/>
                <a:gd name="connsiteY31" fmla="*/ 1446922 h 3608495"/>
                <a:gd name="connsiteX32" fmla="*/ 588598 w 2606624"/>
                <a:gd name="connsiteY32" fmla="*/ 1332060 h 3608495"/>
                <a:gd name="connsiteX33" fmla="*/ 595456 w 2606624"/>
                <a:gd name="connsiteY33" fmla="*/ 1076048 h 3608495"/>
                <a:gd name="connsiteX34" fmla="*/ 586884 w 2606624"/>
                <a:gd name="connsiteY34" fmla="*/ 886897 h 3608495"/>
                <a:gd name="connsiteX35" fmla="*/ 614313 w 2606624"/>
                <a:gd name="connsiteY35" fmla="*/ 677745 h 3608495"/>
                <a:gd name="connsiteX36" fmla="*/ 710318 w 2606624"/>
                <a:gd name="connsiteY36" fmla="*/ 530881 h 3608495"/>
                <a:gd name="connsiteX37" fmla="*/ 770320 w 2606624"/>
                <a:gd name="connsiteY37" fmla="*/ 472021 h 3608495"/>
                <a:gd name="connsiteX38" fmla="*/ 1458923 w 2606624"/>
                <a:gd name="connsiteY38" fmla="*/ 0 h 3608495"/>
                <a:gd name="connsiteX39" fmla="*/ 1460637 w 2606624"/>
                <a:gd name="connsiteY39" fmla="*/ 0 h 3608495"/>
                <a:gd name="connsiteX40" fmla="*/ 1550356 w 2606624"/>
                <a:gd name="connsiteY40" fmla="*/ 29716 h 3608495"/>
                <a:gd name="connsiteX0" fmla="*/ 1550356 w 2606624"/>
                <a:gd name="connsiteY0" fmla="*/ 29716 h 3588335"/>
                <a:gd name="connsiteX1" fmla="*/ 1818939 w 2606624"/>
                <a:gd name="connsiteY1" fmla="*/ 176579 h 3588335"/>
                <a:gd name="connsiteX2" fmla="*/ 2097809 w 2606624"/>
                <a:gd name="connsiteY2" fmla="*/ 361731 h 3588335"/>
                <a:gd name="connsiteX3" fmla="*/ 2502398 w 2606624"/>
                <a:gd name="connsiteY3" fmla="*/ 974330 h 3588335"/>
                <a:gd name="connsiteX4" fmla="*/ 2593831 w 2606624"/>
                <a:gd name="connsiteY4" fmla="*/ 1389777 h 3588335"/>
                <a:gd name="connsiteX5" fmla="*/ 2606624 w 2606624"/>
                <a:gd name="connsiteY5" fmla="*/ 3583481 h 3588335"/>
                <a:gd name="connsiteX6" fmla="*/ 1508764 w 2606624"/>
                <a:gd name="connsiteY6" fmla="*/ 3559613 h 3588335"/>
                <a:gd name="connsiteX7" fmla="*/ 1258993 w 2606624"/>
                <a:gd name="connsiteY7" fmla="*/ 2923564 h 3588335"/>
                <a:gd name="connsiteX8" fmla="*/ 5185 w 2606624"/>
                <a:gd name="connsiteY8" fmla="*/ 2593044 h 3588335"/>
                <a:gd name="connsiteX9" fmla="*/ 266298 w 2606624"/>
                <a:gd name="connsiteY9" fmla="*/ 2153811 h 3588335"/>
                <a:gd name="connsiteX10" fmla="*/ 269155 w 2606624"/>
                <a:gd name="connsiteY10" fmla="*/ 2152668 h 3588335"/>
                <a:gd name="connsiteX11" fmla="*/ 543453 w 2606624"/>
                <a:gd name="connsiteY11" fmla="*/ 2153240 h 3588335"/>
                <a:gd name="connsiteX12" fmla="*/ 549739 w 2606624"/>
                <a:gd name="connsiteY12" fmla="*/ 2155526 h 3588335"/>
                <a:gd name="connsiteX13" fmla="*/ 747462 w 2606624"/>
                <a:gd name="connsiteY13" fmla="*/ 2181813 h 3588335"/>
                <a:gd name="connsiteX14" fmla="*/ 750891 w 2606624"/>
                <a:gd name="connsiteY14" fmla="*/ 2181813 h 3588335"/>
                <a:gd name="connsiteX15" fmla="*/ 763463 w 2606624"/>
                <a:gd name="connsiteY15" fmla="*/ 2156097 h 3588335"/>
                <a:gd name="connsiteX16" fmla="*/ 753748 w 2606624"/>
                <a:gd name="connsiteY16" fmla="*/ 2143525 h 3588335"/>
                <a:gd name="connsiteX17" fmla="*/ 694317 w 2606624"/>
                <a:gd name="connsiteY17" fmla="*/ 2010376 h 3588335"/>
                <a:gd name="connsiteX18" fmla="*/ 665173 w 2606624"/>
                <a:gd name="connsiteY18" fmla="*/ 1980661 h 3588335"/>
                <a:gd name="connsiteX19" fmla="*/ 641172 w 2606624"/>
                <a:gd name="connsiteY19" fmla="*/ 1970946 h 3588335"/>
                <a:gd name="connsiteX20" fmla="*/ 555454 w 2606624"/>
                <a:gd name="connsiteY20" fmla="*/ 1953231 h 3588335"/>
                <a:gd name="connsiteX21" fmla="*/ 306299 w 2606624"/>
                <a:gd name="connsiteY21" fmla="*/ 1973232 h 3588335"/>
                <a:gd name="connsiteX22" fmla="*/ 70289 w 2606624"/>
                <a:gd name="connsiteY22" fmla="*/ 1953802 h 3588335"/>
                <a:gd name="connsiteX23" fmla="*/ 133149 w 2606624"/>
                <a:gd name="connsiteY23" fmla="*/ 1856655 h 3588335"/>
                <a:gd name="connsiteX24" fmla="*/ 127434 w 2606624"/>
                <a:gd name="connsiteY24" fmla="*/ 1732078 h 3588335"/>
                <a:gd name="connsiteX25" fmla="*/ 0 w 2606624"/>
                <a:gd name="connsiteY25" fmla="*/ 1622930 h 3588335"/>
                <a:gd name="connsiteX26" fmla="*/ 205724 w 2606624"/>
                <a:gd name="connsiteY26" fmla="*/ 1596072 h 3588335"/>
                <a:gd name="connsiteX27" fmla="*/ 257154 w 2606624"/>
                <a:gd name="connsiteY27" fmla="*/ 1580071 h 3588335"/>
                <a:gd name="connsiteX28" fmla="*/ 358873 w 2606624"/>
                <a:gd name="connsiteY28" fmla="*/ 1557213 h 3588335"/>
                <a:gd name="connsiteX29" fmla="*/ 389732 w 2606624"/>
                <a:gd name="connsiteY29" fmla="*/ 1545212 h 3588335"/>
                <a:gd name="connsiteX30" fmla="*/ 496594 w 2606624"/>
                <a:gd name="connsiteY30" fmla="*/ 1495496 h 3588335"/>
                <a:gd name="connsiteX31" fmla="*/ 561168 w 2606624"/>
                <a:gd name="connsiteY31" fmla="*/ 1446922 h 3588335"/>
                <a:gd name="connsiteX32" fmla="*/ 588598 w 2606624"/>
                <a:gd name="connsiteY32" fmla="*/ 1332060 h 3588335"/>
                <a:gd name="connsiteX33" fmla="*/ 595456 w 2606624"/>
                <a:gd name="connsiteY33" fmla="*/ 1076048 h 3588335"/>
                <a:gd name="connsiteX34" fmla="*/ 586884 w 2606624"/>
                <a:gd name="connsiteY34" fmla="*/ 886897 h 3588335"/>
                <a:gd name="connsiteX35" fmla="*/ 614313 w 2606624"/>
                <a:gd name="connsiteY35" fmla="*/ 677745 h 3588335"/>
                <a:gd name="connsiteX36" fmla="*/ 710318 w 2606624"/>
                <a:gd name="connsiteY36" fmla="*/ 530881 h 3588335"/>
                <a:gd name="connsiteX37" fmla="*/ 770320 w 2606624"/>
                <a:gd name="connsiteY37" fmla="*/ 472021 h 3588335"/>
                <a:gd name="connsiteX38" fmla="*/ 1458923 w 2606624"/>
                <a:gd name="connsiteY38" fmla="*/ 0 h 3588335"/>
                <a:gd name="connsiteX39" fmla="*/ 1460637 w 2606624"/>
                <a:gd name="connsiteY39" fmla="*/ 0 h 3588335"/>
                <a:gd name="connsiteX40" fmla="*/ 1550356 w 2606624"/>
                <a:gd name="connsiteY40" fmla="*/ 29716 h 3588335"/>
                <a:gd name="connsiteX0" fmla="*/ 1550356 w 2606624"/>
                <a:gd name="connsiteY0" fmla="*/ 29716 h 3636079"/>
                <a:gd name="connsiteX1" fmla="*/ 1818939 w 2606624"/>
                <a:gd name="connsiteY1" fmla="*/ 176579 h 3636079"/>
                <a:gd name="connsiteX2" fmla="*/ 2097809 w 2606624"/>
                <a:gd name="connsiteY2" fmla="*/ 361731 h 3636079"/>
                <a:gd name="connsiteX3" fmla="*/ 2502398 w 2606624"/>
                <a:gd name="connsiteY3" fmla="*/ 974330 h 3636079"/>
                <a:gd name="connsiteX4" fmla="*/ 2593831 w 2606624"/>
                <a:gd name="connsiteY4" fmla="*/ 1389777 h 3636079"/>
                <a:gd name="connsiteX5" fmla="*/ 2606624 w 2606624"/>
                <a:gd name="connsiteY5" fmla="*/ 3583481 h 3636079"/>
                <a:gd name="connsiteX6" fmla="*/ 1258993 w 2606624"/>
                <a:gd name="connsiteY6" fmla="*/ 2923564 h 3636079"/>
                <a:gd name="connsiteX7" fmla="*/ 5185 w 2606624"/>
                <a:gd name="connsiteY7" fmla="*/ 2593044 h 3636079"/>
                <a:gd name="connsiteX8" fmla="*/ 266298 w 2606624"/>
                <a:gd name="connsiteY8" fmla="*/ 2153811 h 3636079"/>
                <a:gd name="connsiteX9" fmla="*/ 269155 w 2606624"/>
                <a:gd name="connsiteY9" fmla="*/ 2152668 h 3636079"/>
                <a:gd name="connsiteX10" fmla="*/ 543453 w 2606624"/>
                <a:gd name="connsiteY10" fmla="*/ 2153240 h 3636079"/>
                <a:gd name="connsiteX11" fmla="*/ 549739 w 2606624"/>
                <a:gd name="connsiteY11" fmla="*/ 2155526 h 3636079"/>
                <a:gd name="connsiteX12" fmla="*/ 747462 w 2606624"/>
                <a:gd name="connsiteY12" fmla="*/ 2181813 h 3636079"/>
                <a:gd name="connsiteX13" fmla="*/ 750891 w 2606624"/>
                <a:gd name="connsiteY13" fmla="*/ 2181813 h 3636079"/>
                <a:gd name="connsiteX14" fmla="*/ 763463 w 2606624"/>
                <a:gd name="connsiteY14" fmla="*/ 2156097 h 3636079"/>
                <a:gd name="connsiteX15" fmla="*/ 753748 w 2606624"/>
                <a:gd name="connsiteY15" fmla="*/ 2143525 h 3636079"/>
                <a:gd name="connsiteX16" fmla="*/ 694317 w 2606624"/>
                <a:gd name="connsiteY16" fmla="*/ 2010376 h 3636079"/>
                <a:gd name="connsiteX17" fmla="*/ 665173 w 2606624"/>
                <a:gd name="connsiteY17" fmla="*/ 1980661 h 3636079"/>
                <a:gd name="connsiteX18" fmla="*/ 641172 w 2606624"/>
                <a:gd name="connsiteY18" fmla="*/ 1970946 h 3636079"/>
                <a:gd name="connsiteX19" fmla="*/ 555454 w 2606624"/>
                <a:gd name="connsiteY19" fmla="*/ 1953231 h 3636079"/>
                <a:gd name="connsiteX20" fmla="*/ 306299 w 2606624"/>
                <a:gd name="connsiteY20" fmla="*/ 1973232 h 3636079"/>
                <a:gd name="connsiteX21" fmla="*/ 70289 w 2606624"/>
                <a:gd name="connsiteY21" fmla="*/ 1953802 h 3636079"/>
                <a:gd name="connsiteX22" fmla="*/ 133149 w 2606624"/>
                <a:gd name="connsiteY22" fmla="*/ 1856655 h 3636079"/>
                <a:gd name="connsiteX23" fmla="*/ 127434 w 2606624"/>
                <a:gd name="connsiteY23" fmla="*/ 1732078 h 3636079"/>
                <a:gd name="connsiteX24" fmla="*/ 0 w 2606624"/>
                <a:gd name="connsiteY24" fmla="*/ 1622930 h 3636079"/>
                <a:gd name="connsiteX25" fmla="*/ 205724 w 2606624"/>
                <a:gd name="connsiteY25" fmla="*/ 1596072 h 3636079"/>
                <a:gd name="connsiteX26" fmla="*/ 257154 w 2606624"/>
                <a:gd name="connsiteY26" fmla="*/ 1580071 h 3636079"/>
                <a:gd name="connsiteX27" fmla="*/ 358873 w 2606624"/>
                <a:gd name="connsiteY27" fmla="*/ 1557213 h 3636079"/>
                <a:gd name="connsiteX28" fmla="*/ 389732 w 2606624"/>
                <a:gd name="connsiteY28" fmla="*/ 1545212 h 3636079"/>
                <a:gd name="connsiteX29" fmla="*/ 496594 w 2606624"/>
                <a:gd name="connsiteY29" fmla="*/ 1495496 h 3636079"/>
                <a:gd name="connsiteX30" fmla="*/ 561168 w 2606624"/>
                <a:gd name="connsiteY30" fmla="*/ 1446922 h 3636079"/>
                <a:gd name="connsiteX31" fmla="*/ 588598 w 2606624"/>
                <a:gd name="connsiteY31" fmla="*/ 1332060 h 3636079"/>
                <a:gd name="connsiteX32" fmla="*/ 595456 w 2606624"/>
                <a:gd name="connsiteY32" fmla="*/ 1076048 h 3636079"/>
                <a:gd name="connsiteX33" fmla="*/ 586884 w 2606624"/>
                <a:gd name="connsiteY33" fmla="*/ 886897 h 3636079"/>
                <a:gd name="connsiteX34" fmla="*/ 614313 w 2606624"/>
                <a:gd name="connsiteY34" fmla="*/ 677745 h 3636079"/>
                <a:gd name="connsiteX35" fmla="*/ 710318 w 2606624"/>
                <a:gd name="connsiteY35" fmla="*/ 530881 h 3636079"/>
                <a:gd name="connsiteX36" fmla="*/ 770320 w 2606624"/>
                <a:gd name="connsiteY36" fmla="*/ 472021 h 3636079"/>
                <a:gd name="connsiteX37" fmla="*/ 1458923 w 2606624"/>
                <a:gd name="connsiteY37" fmla="*/ 0 h 3636079"/>
                <a:gd name="connsiteX38" fmla="*/ 1460637 w 2606624"/>
                <a:gd name="connsiteY38" fmla="*/ 0 h 3636079"/>
                <a:gd name="connsiteX39" fmla="*/ 1550356 w 2606624"/>
                <a:gd name="connsiteY39" fmla="*/ 29716 h 3636079"/>
                <a:gd name="connsiteX0" fmla="*/ 1550356 w 2618845"/>
                <a:gd name="connsiteY0" fmla="*/ 29716 h 3090297"/>
                <a:gd name="connsiteX1" fmla="*/ 1818939 w 2618845"/>
                <a:gd name="connsiteY1" fmla="*/ 176579 h 3090297"/>
                <a:gd name="connsiteX2" fmla="*/ 2097809 w 2618845"/>
                <a:gd name="connsiteY2" fmla="*/ 361731 h 3090297"/>
                <a:gd name="connsiteX3" fmla="*/ 2502398 w 2618845"/>
                <a:gd name="connsiteY3" fmla="*/ 974330 h 3090297"/>
                <a:gd name="connsiteX4" fmla="*/ 2593831 w 2618845"/>
                <a:gd name="connsiteY4" fmla="*/ 1389777 h 3090297"/>
                <a:gd name="connsiteX5" fmla="*/ 2618845 w 2618845"/>
                <a:gd name="connsiteY5" fmla="*/ 2935785 h 3090297"/>
                <a:gd name="connsiteX6" fmla="*/ 1258993 w 2618845"/>
                <a:gd name="connsiteY6" fmla="*/ 2923564 h 3090297"/>
                <a:gd name="connsiteX7" fmla="*/ 5185 w 2618845"/>
                <a:gd name="connsiteY7" fmla="*/ 2593044 h 3090297"/>
                <a:gd name="connsiteX8" fmla="*/ 266298 w 2618845"/>
                <a:gd name="connsiteY8" fmla="*/ 2153811 h 3090297"/>
                <a:gd name="connsiteX9" fmla="*/ 269155 w 2618845"/>
                <a:gd name="connsiteY9" fmla="*/ 2152668 h 3090297"/>
                <a:gd name="connsiteX10" fmla="*/ 543453 w 2618845"/>
                <a:gd name="connsiteY10" fmla="*/ 2153240 h 3090297"/>
                <a:gd name="connsiteX11" fmla="*/ 549739 w 2618845"/>
                <a:gd name="connsiteY11" fmla="*/ 2155526 h 3090297"/>
                <a:gd name="connsiteX12" fmla="*/ 747462 w 2618845"/>
                <a:gd name="connsiteY12" fmla="*/ 2181813 h 3090297"/>
                <a:gd name="connsiteX13" fmla="*/ 750891 w 2618845"/>
                <a:gd name="connsiteY13" fmla="*/ 2181813 h 3090297"/>
                <a:gd name="connsiteX14" fmla="*/ 763463 w 2618845"/>
                <a:gd name="connsiteY14" fmla="*/ 2156097 h 3090297"/>
                <a:gd name="connsiteX15" fmla="*/ 753748 w 2618845"/>
                <a:gd name="connsiteY15" fmla="*/ 2143525 h 3090297"/>
                <a:gd name="connsiteX16" fmla="*/ 694317 w 2618845"/>
                <a:gd name="connsiteY16" fmla="*/ 2010376 h 3090297"/>
                <a:gd name="connsiteX17" fmla="*/ 665173 w 2618845"/>
                <a:gd name="connsiteY17" fmla="*/ 1980661 h 3090297"/>
                <a:gd name="connsiteX18" fmla="*/ 641172 w 2618845"/>
                <a:gd name="connsiteY18" fmla="*/ 1970946 h 3090297"/>
                <a:gd name="connsiteX19" fmla="*/ 555454 w 2618845"/>
                <a:gd name="connsiteY19" fmla="*/ 1953231 h 3090297"/>
                <a:gd name="connsiteX20" fmla="*/ 306299 w 2618845"/>
                <a:gd name="connsiteY20" fmla="*/ 1973232 h 3090297"/>
                <a:gd name="connsiteX21" fmla="*/ 70289 w 2618845"/>
                <a:gd name="connsiteY21" fmla="*/ 1953802 h 3090297"/>
                <a:gd name="connsiteX22" fmla="*/ 133149 w 2618845"/>
                <a:gd name="connsiteY22" fmla="*/ 1856655 h 3090297"/>
                <a:gd name="connsiteX23" fmla="*/ 127434 w 2618845"/>
                <a:gd name="connsiteY23" fmla="*/ 1732078 h 3090297"/>
                <a:gd name="connsiteX24" fmla="*/ 0 w 2618845"/>
                <a:gd name="connsiteY24" fmla="*/ 1622930 h 3090297"/>
                <a:gd name="connsiteX25" fmla="*/ 205724 w 2618845"/>
                <a:gd name="connsiteY25" fmla="*/ 1596072 h 3090297"/>
                <a:gd name="connsiteX26" fmla="*/ 257154 w 2618845"/>
                <a:gd name="connsiteY26" fmla="*/ 1580071 h 3090297"/>
                <a:gd name="connsiteX27" fmla="*/ 358873 w 2618845"/>
                <a:gd name="connsiteY27" fmla="*/ 1557213 h 3090297"/>
                <a:gd name="connsiteX28" fmla="*/ 389732 w 2618845"/>
                <a:gd name="connsiteY28" fmla="*/ 1545212 h 3090297"/>
                <a:gd name="connsiteX29" fmla="*/ 496594 w 2618845"/>
                <a:gd name="connsiteY29" fmla="*/ 1495496 h 3090297"/>
                <a:gd name="connsiteX30" fmla="*/ 561168 w 2618845"/>
                <a:gd name="connsiteY30" fmla="*/ 1446922 h 3090297"/>
                <a:gd name="connsiteX31" fmla="*/ 588598 w 2618845"/>
                <a:gd name="connsiteY31" fmla="*/ 1332060 h 3090297"/>
                <a:gd name="connsiteX32" fmla="*/ 595456 w 2618845"/>
                <a:gd name="connsiteY32" fmla="*/ 1076048 h 3090297"/>
                <a:gd name="connsiteX33" fmla="*/ 586884 w 2618845"/>
                <a:gd name="connsiteY33" fmla="*/ 886897 h 3090297"/>
                <a:gd name="connsiteX34" fmla="*/ 614313 w 2618845"/>
                <a:gd name="connsiteY34" fmla="*/ 677745 h 3090297"/>
                <a:gd name="connsiteX35" fmla="*/ 710318 w 2618845"/>
                <a:gd name="connsiteY35" fmla="*/ 530881 h 3090297"/>
                <a:gd name="connsiteX36" fmla="*/ 770320 w 2618845"/>
                <a:gd name="connsiteY36" fmla="*/ 472021 h 3090297"/>
                <a:gd name="connsiteX37" fmla="*/ 1458923 w 2618845"/>
                <a:gd name="connsiteY37" fmla="*/ 0 h 3090297"/>
                <a:gd name="connsiteX38" fmla="*/ 1460637 w 2618845"/>
                <a:gd name="connsiteY38" fmla="*/ 0 h 3090297"/>
                <a:gd name="connsiteX39" fmla="*/ 1550356 w 2618845"/>
                <a:gd name="connsiteY39" fmla="*/ 29716 h 3090297"/>
                <a:gd name="connsiteX0" fmla="*/ 1550356 w 2618845"/>
                <a:gd name="connsiteY0" fmla="*/ 29716 h 3302282"/>
                <a:gd name="connsiteX1" fmla="*/ 1818939 w 2618845"/>
                <a:gd name="connsiteY1" fmla="*/ 176579 h 3302282"/>
                <a:gd name="connsiteX2" fmla="*/ 2097809 w 2618845"/>
                <a:gd name="connsiteY2" fmla="*/ 361731 h 3302282"/>
                <a:gd name="connsiteX3" fmla="*/ 2502398 w 2618845"/>
                <a:gd name="connsiteY3" fmla="*/ 974330 h 3302282"/>
                <a:gd name="connsiteX4" fmla="*/ 2593831 w 2618845"/>
                <a:gd name="connsiteY4" fmla="*/ 1389777 h 3302282"/>
                <a:gd name="connsiteX5" fmla="*/ 2618845 w 2618845"/>
                <a:gd name="connsiteY5" fmla="*/ 3216861 h 3302282"/>
                <a:gd name="connsiteX6" fmla="*/ 1258993 w 2618845"/>
                <a:gd name="connsiteY6" fmla="*/ 2923564 h 3302282"/>
                <a:gd name="connsiteX7" fmla="*/ 5185 w 2618845"/>
                <a:gd name="connsiteY7" fmla="*/ 2593044 h 3302282"/>
                <a:gd name="connsiteX8" fmla="*/ 266298 w 2618845"/>
                <a:gd name="connsiteY8" fmla="*/ 2153811 h 3302282"/>
                <a:gd name="connsiteX9" fmla="*/ 269155 w 2618845"/>
                <a:gd name="connsiteY9" fmla="*/ 2152668 h 3302282"/>
                <a:gd name="connsiteX10" fmla="*/ 543453 w 2618845"/>
                <a:gd name="connsiteY10" fmla="*/ 2153240 h 3302282"/>
                <a:gd name="connsiteX11" fmla="*/ 549739 w 2618845"/>
                <a:gd name="connsiteY11" fmla="*/ 2155526 h 3302282"/>
                <a:gd name="connsiteX12" fmla="*/ 747462 w 2618845"/>
                <a:gd name="connsiteY12" fmla="*/ 2181813 h 3302282"/>
                <a:gd name="connsiteX13" fmla="*/ 750891 w 2618845"/>
                <a:gd name="connsiteY13" fmla="*/ 2181813 h 3302282"/>
                <a:gd name="connsiteX14" fmla="*/ 763463 w 2618845"/>
                <a:gd name="connsiteY14" fmla="*/ 2156097 h 3302282"/>
                <a:gd name="connsiteX15" fmla="*/ 753748 w 2618845"/>
                <a:gd name="connsiteY15" fmla="*/ 2143525 h 3302282"/>
                <a:gd name="connsiteX16" fmla="*/ 694317 w 2618845"/>
                <a:gd name="connsiteY16" fmla="*/ 2010376 h 3302282"/>
                <a:gd name="connsiteX17" fmla="*/ 665173 w 2618845"/>
                <a:gd name="connsiteY17" fmla="*/ 1980661 h 3302282"/>
                <a:gd name="connsiteX18" fmla="*/ 641172 w 2618845"/>
                <a:gd name="connsiteY18" fmla="*/ 1970946 h 3302282"/>
                <a:gd name="connsiteX19" fmla="*/ 555454 w 2618845"/>
                <a:gd name="connsiteY19" fmla="*/ 1953231 h 3302282"/>
                <a:gd name="connsiteX20" fmla="*/ 306299 w 2618845"/>
                <a:gd name="connsiteY20" fmla="*/ 1973232 h 3302282"/>
                <a:gd name="connsiteX21" fmla="*/ 70289 w 2618845"/>
                <a:gd name="connsiteY21" fmla="*/ 1953802 h 3302282"/>
                <a:gd name="connsiteX22" fmla="*/ 133149 w 2618845"/>
                <a:gd name="connsiteY22" fmla="*/ 1856655 h 3302282"/>
                <a:gd name="connsiteX23" fmla="*/ 127434 w 2618845"/>
                <a:gd name="connsiteY23" fmla="*/ 1732078 h 3302282"/>
                <a:gd name="connsiteX24" fmla="*/ 0 w 2618845"/>
                <a:gd name="connsiteY24" fmla="*/ 1622930 h 3302282"/>
                <a:gd name="connsiteX25" fmla="*/ 205724 w 2618845"/>
                <a:gd name="connsiteY25" fmla="*/ 1596072 h 3302282"/>
                <a:gd name="connsiteX26" fmla="*/ 257154 w 2618845"/>
                <a:gd name="connsiteY26" fmla="*/ 1580071 h 3302282"/>
                <a:gd name="connsiteX27" fmla="*/ 358873 w 2618845"/>
                <a:gd name="connsiteY27" fmla="*/ 1557213 h 3302282"/>
                <a:gd name="connsiteX28" fmla="*/ 389732 w 2618845"/>
                <a:gd name="connsiteY28" fmla="*/ 1545212 h 3302282"/>
                <a:gd name="connsiteX29" fmla="*/ 496594 w 2618845"/>
                <a:gd name="connsiteY29" fmla="*/ 1495496 h 3302282"/>
                <a:gd name="connsiteX30" fmla="*/ 561168 w 2618845"/>
                <a:gd name="connsiteY30" fmla="*/ 1446922 h 3302282"/>
                <a:gd name="connsiteX31" fmla="*/ 588598 w 2618845"/>
                <a:gd name="connsiteY31" fmla="*/ 1332060 h 3302282"/>
                <a:gd name="connsiteX32" fmla="*/ 595456 w 2618845"/>
                <a:gd name="connsiteY32" fmla="*/ 1076048 h 3302282"/>
                <a:gd name="connsiteX33" fmla="*/ 586884 w 2618845"/>
                <a:gd name="connsiteY33" fmla="*/ 886897 h 3302282"/>
                <a:gd name="connsiteX34" fmla="*/ 614313 w 2618845"/>
                <a:gd name="connsiteY34" fmla="*/ 677745 h 3302282"/>
                <a:gd name="connsiteX35" fmla="*/ 710318 w 2618845"/>
                <a:gd name="connsiteY35" fmla="*/ 530881 h 3302282"/>
                <a:gd name="connsiteX36" fmla="*/ 770320 w 2618845"/>
                <a:gd name="connsiteY36" fmla="*/ 472021 h 3302282"/>
                <a:gd name="connsiteX37" fmla="*/ 1458923 w 2618845"/>
                <a:gd name="connsiteY37" fmla="*/ 0 h 3302282"/>
                <a:gd name="connsiteX38" fmla="*/ 1460637 w 2618845"/>
                <a:gd name="connsiteY38" fmla="*/ 0 h 3302282"/>
                <a:gd name="connsiteX39" fmla="*/ 1550356 w 2618845"/>
                <a:gd name="connsiteY39" fmla="*/ 29716 h 3302282"/>
                <a:gd name="connsiteX0" fmla="*/ 1550356 w 2618845"/>
                <a:gd name="connsiteY0" fmla="*/ 29716 h 3219264"/>
                <a:gd name="connsiteX1" fmla="*/ 1818939 w 2618845"/>
                <a:gd name="connsiteY1" fmla="*/ 176579 h 3219264"/>
                <a:gd name="connsiteX2" fmla="*/ 2097809 w 2618845"/>
                <a:gd name="connsiteY2" fmla="*/ 361731 h 3219264"/>
                <a:gd name="connsiteX3" fmla="*/ 2502398 w 2618845"/>
                <a:gd name="connsiteY3" fmla="*/ 974330 h 3219264"/>
                <a:gd name="connsiteX4" fmla="*/ 2593831 w 2618845"/>
                <a:gd name="connsiteY4" fmla="*/ 1389777 h 3219264"/>
                <a:gd name="connsiteX5" fmla="*/ 2618845 w 2618845"/>
                <a:gd name="connsiteY5" fmla="*/ 3216861 h 3219264"/>
                <a:gd name="connsiteX6" fmla="*/ 1258993 w 2618845"/>
                <a:gd name="connsiteY6" fmla="*/ 2923564 h 3219264"/>
                <a:gd name="connsiteX7" fmla="*/ 5185 w 2618845"/>
                <a:gd name="connsiteY7" fmla="*/ 2593044 h 3219264"/>
                <a:gd name="connsiteX8" fmla="*/ 266298 w 2618845"/>
                <a:gd name="connsiteY8" fmla="*/ 2153811 h 3219264"/>
                <a:gd name="connsiteX9" fmla="*/ 269155 w 2618845"/>
                <a:gd name="connsiteY9" fmla="*/ 2152668 h 3219264"/>
                <a:gd name="connsiteX10" fmla="*/ 543453 w 2618845"/>
                <a:gd name="connsiteY10" fmla="*/ 2153240 h 3219264"/>
                <a:gd name="connsiteX11" fmla="*/ 549739 w 2618845"/>
                <a:gd name="connsiteY11" fmla="*/ 2155526 h 3219264"/>
                <a:gd name="connsiteX12" fmla="*/ 747462 w 2618845"/>
                <a:gd name="connsiteY12" fmla="*/ 2181813 h 3219264"/>
                <a:gd name="connsiteX13" fmla="*/ 750891 w 2618845"/>
                <a:gd name="connsiteY13" fmla="*/ 2181813 h 3219264"/>
                <a:gd name="connsiteX14" fmla="*/ 763463 w 2618845"/>
                <a:gd name="connsiteY14" fmla="*/ 2156097 h 3219264"/>
                <a:gd name="connsiteX15" fmla="*/ 753748 w 2618845"/>
                <a:gd name="connsiteY15" fmla="*/ 2143525 h 3219264"/>
                <a:gd name="connsiteX16" fmla="*/ 694317 w 2618845"/>
                <a:gd name="connsiteY16" fmla="*/ 2010376 h 3219264"/>
                <a:gd name="connsiteX17" fmla="*/ 665173 w 2618845"/>
                <a:gd name="connsiteY17" fmla="*/ 1980661 h 3219264"/>
                <a:gd name="connsiteX18" fmla="*/ 641172 w 2618845"/>
                <a:gd name="connsiteY18" fmla="*/ 1970946 h 3219264"/>
                <a:gd name="connsiteX19" fmla="*/ 555454 w 2618845"/>
                <a:gd name="connsiteY19" fmla="*/ 1953231 h 3219264"/>
                <a:gd name="connsiteX20" fmla="*/ 306299 w 2618845"/>
                <a:gd name="connsiteY20" fmla="*/ 1973232 h 3219264"/>
                <a:gd name="connsiteX21" fmla="*/ 70289 w 2618845"/>
                <a:gd name="connsiteY21" fmla="*/ 1953802 h 3219264"/>
                <a:gd name="connsiteX22" fmla="*/ 133149 w 2618845"/>
                <a:gd name="connsiteY22" fmla="*/ 1856655 h 3219264"/>
                <a:gd name="connsiteX23" fmla="*/ 127434 w 2618845"/>
                <a:gd name="connsiteY23" fmla="*/ 1732078 h 3219264"/>
                <a:gd name="connsiteX24" fmla="*/ 0 w 2618845"/>
                <a:gd name="connsiteY24" fmla="*/ 1622930 h 3219264"/>
                <a:gd name="connsiteX25" fmla="*/ 205724 w 2618845"/>
                <a:gd name="connsiteY25" fmla="*/ 1596072 h 3219264"/>
                <a:gd name="connsiteX26" fmla="*/ 257154 w 2618845"/>
                <a:gd name="connsiteY26" fmla="*/ 1580071 h 3219264"/>
                <a:gd name="connsiteX27" fmla="*/ 358873 w 2618845"/>
                <a:gd name="connsiteY27" fmla="*/ 1557213 h 3219264"/>
                <a:gd name="connsiteX28" fmla="*/ 389732 w 2618845"/>
                <a:gd name="connsiteY28" fmla="*/ 1545212 h 3219264"/>
                <a:gd name="connsiteX29" fmla="*/ 496594 w 2618845"/>
                <a:gd name="connsiteY29" fmla="*/ 1495496 h 3219264"/>
                <a:gd name="connsiteX30" fmla="*/ 561168 w 2618845"/>
                <a:gd name="connsiteY30" fmla="*/ 1446922 h 3219264"/>
                <a:gd name="connsiteX31" fmla="*/ 588598 w 2618845"/>
                <a:gd name="connsiteY31" fmla="*/ 1332060 h 3219264"/>
                <a:gd name="connsiteX32" fmla="*/ 595456 w 2618845"/>
                <a:gd name="connsiteY32" fmla="*/ 1076048 h 3219264"/>
                <a:gd name="connsiteX33" fmla="*/ 586884 w 2618845"/>
                <a:gd name="connsiteY33" fmla="*/ 886897 h 3219264"/>
                <a:gd name="connsiteX34" fmla="*/ 614313 w 2618845"/>
                <a:gd name="connsiteY34" fmla="*/ 677745 h 3219264"/>
                <a:gd name="connsiteX35" fmla="*/ 710318 w 2618845"/>
                <a:gd name="connsiteY35" fmla="*/ 530881 h 3219264"/>
                <a:gd name="connsiteX36" fmla="*/ 770320 w 2618845"/>
                <a:gd name="connsiteY36" fmla="*/ 472021 h 3219264"/>
                <a:gd name="connsiteX37" fmla="*/ 1458923 w 2618845"/>
                <a:gd name="connsiteY37" fmla="*/ 0 h 3219264"/>
                <a:gd name="connsiteX38" fmla="*/ 1460637 w 2618845"/>
                <a:gd name="connsiteY38" fmla="*/ 0 h 3219264"/>
                <a:gd name="connsiteX39" fmla="*/ 1550356 w 2618845"/>
                <a:gd name="connsiteY39" fmla="*/ 29716 h 3219264"/>
                <a:gd name="connsiteX0" fmla="*/ 1550356 w 2618845"/>
                <a:gd name="connsiteY0" fmla="*/ 29716 h 3219264"/>
                <a:gd name="connsiteX1" fmla="*/ 1818939 w 2618845"/>
                <a:gd name="connsiteY1" fmla="*/ 176579 h 3219264"/>
                <a:gd name="connsiteX2" fmla="*/ 2097809 w 2618845"/>
                <a:gd name="connsiteY2" fmla="*/ 361731 h 3219264"/>
                <a:gd name="connsiteX3" fmla="*/ 2502398 w 2618845"/>
                <a:gd name="connsiteY3" fmla="*/ 974330 h 3219264"/>
                <a:gd name="connsiteX4" fmla="*/ 2604962 w 2618845"/>
                <a:gd name="connsiteY4" fmla="*/ 1434304 h 3219264"/>
                <a:gd name="connsiteX5" fmla="*/ 2618845 w 2618845"/>
                <a:gd name="connsiteY5" fmla="*/ 3216861 h 3219264"/>
                <a:gd name="connsiteX6" fmla="*/ 1258993 w 2618845"/>
                <a:gd name="connsiteY6" fmla="*/ 2923564 h 3219264"/>
                <a:gd name="connsiteX7" fmla="*/ 5185 w 2618845"/>
                <a:gd name="connsiteY7" fmla="*/ 2593044 h 3219264"/>
                <a:gd name="connsiteX8" fmla="*/ 266298 w 2618845"/>
                <a:gd name="connsiteY8" fmla="*/ 2153811 h 3219264"/>
                <a:gd name="connsiteX9" fmla="*/ 269155 w 2618845"/>
                <a:gd name="connsiteY9" fmla="*/ 2152668 h 3219264"/>
                <a:gd name="connsiteX10" fmla="*/ 543453 w 2618845"/>
                <a:gd name="connsiteY10" fmla="*/ 2153240 h 3219264"/>
                <a:gd name="connsiteX11" fmla="*/ 549739 w 2618845"/>
                <a:gd name="connsiteY11" fmla="*/ 2155526 h 3219264"/>
                <a:gd name="connsiteX12" fmla="*/ 747462 w 2618845"/>
                <a:gd name="connsiteY12" fmla="*/ 2181813 h 3219264"/>
                <a:gd name="connsiteX13" fmla="*/ 750891 w 2618845"/>
                <a:gd name="connsiteY13" fmla="*/ 2181813 h 3219264"/>
                <a:gd name="connsiteX14" fmla="*/ 763463 w 2618845"/>
                <a:gd name="connsiteY14" fmla="*/ 2156097 h 3219264"/>
                <a:gd name="connsiteX15" fmla="*/ 753748 w 2618845"/>
                <a:gd name="connsiteY15" fmla="*/ 2143525 h 3219264"/>
                <a:gd name="connsiteX16" fmla="*/ 694317 w 2618845"/>
                <a:gd name="connsiteY16" fmla="*/ 2010376 h 3219264"/>
                <a:gd name="connsiteX17" fmla="*/ 665173 w 2618845"/>
                <a:gd name="connsiteY17" fmla="*/ 1980661 h 3219264"/>
                <a:gd name="connsiteX18" fmla="*/ 641172 w 2618845"/>
                <a:gd name="connsiteY18" fmla="*/ 1970946 h 3219264"/>
                <a:gd name="connsiteX19" fmla="*/ 555454 w 2618845"/>
                <a:gd name="connsiteY19" fmla="*/ 1953231 h 3219264"/>
                <a:gd name="connsiteX20" fmla="*/ 306299 w 2618845"/>
                <a:gd name="connsiteY20" fmla="*/ 1973232 h 3219264"/>
                <a:gd name="connsiteX21" fmla="*/ 70289 w 2618845"/>
                <a:gd name="connsiteY21" fmla="*/ 1953802 h 3219264"/>
                <a:gd name="connsiteX22" fmla="*/ 133149 w 2618845"/>
                <a:gd name="connsiteY22" fmla="*/ 1856655 h 3219264"/>
                <a:gd name="connsiteX23" fmla="*/ 127434 w 2618845"/>
                <a:gd name="connsiteY23" fmla="*/ 1732078 h 3219264"/>
                <a:gd name="connsiteX24" fmla="*/ 0 w 2618845"/>
                <a:gd name="connsiteY24" fmla="*/ 1622930 h 3219264"/>
                <a:gd name="connsiteX25" fmla="*/ 205724 w 2618845"/>
                <a:gd name="connsiteY25" fmla="*/ 1596072 h 3219264"/>
                <a:gd name="connsiteX26" fmla="*/ 257154 w 2618845"/>
                <a:gd name="connsiteY26" fmla="*/ 1580071 h 3219264"/>
                <a:gd name="connsiteX27" fmla="*/ 358873 w 2618845"/>
                <a:gd name="connsiteY27" fmla="*/ 1557213 h 3219264"/>
                <a:gd name="connsiteX28" fmla="*/ 389732 w 2618845"/>
                <a:gd name="connsiteY28" fmla="*/ 1545212 h 3219264"/>
                <a:gd name="connsiteX29" fmla="*/ 496594 w 2618845"/>
                <a:gd name="connsiteY29" fmla="*/ 1495496 h 3219264"/>
                <a:gd name="connsiteX30" fmla="*/ 561168 w 2618845"/>
                <a:gd name="connsiteY30" fmla="*/ 1446922 h 3219264"/>
                <a:gd name="connsiteX31" fmla="*/ 588598 w 2618845"/>
                <a:gd name="connsiteY31" fmla="*/ 1332060 h 3219264"/>
                <a:gd name="connsiteX32" fmla="*/ 595456 w 2618845"/>
                <a:gd name="connsiteY32" fmla="*/ 1076048 h 3219264"/>
                <a:gd name="connsiteX33" fmla="*/ 586884 w 2618845"/>
                <a:gd name="connsiteY33" fmla="*/ 886897 h 3219264"/>
                <a:gd name="connsiteX34" fmla="*/ 614313 w 2618845"/>
                <a:gd name="connsiteY34" fmla="*/ 677745 h 3219264"/>
                <a:gd name="connsiteX35" fmla="*/ 710318 w 2618845"/>
                <a:gd name="connsiteY35" fmla="*/ 530881 h 3219264"/>
                <a:gd name="connsiteX36" fmla="*/ 770320 w 2618845"/>
                <a:gd name="connsiteY36" fmla="*/ 472021 h 3219264"/>
                <a:gd name="connsiteX37" fmla="*/ 1458923 w 2618845"/>
                <a:gd name="connsiteY37" fmla="*/ 0 h 3219264"/>
                <a:gd name="connsiteX38" fmla="*/ 1460637 w 2618845"/>
                <a:gd name="connsiteY38" fmla="*/ 0 h 3219264"/>
                <a:gd name="connsiteX39" fmla="*/ 1550356 w 2618845"/>
                <a:gd name="connsiteY39" fmla="*/ 29716 h 3219264"/>
                <a:gd name="connsiteX0" fmla="*/ 1550356 w 2628361"/>
                <a:gd name="connsiteY0" fmla="*/ 29716 h 3219264"/>
                <a:gd name="connsiteX1" fmla="*/ 1818939 w 2628361"/>
                <a:gd name="connsiteY1" fmla="*/ 176579 h 3219264"/>
                <a:gd name="connsiteX2" fmla="*/ 2097809 w 2628361"/>
                <a:gd name="connsiteY2" fmla="*/ 361731 h 3219264"/>
                <a:gd name="connsiteX3" fmla="*/ 2502398 w 2628361"/>
                <a:gd name="connsiteY3" fmla="*/ 974330 h 3219264"/>
                <a:gd name="connsiteX4" fmla="*/ 2604962 w 2628361"/>
                <a:gd name="connsiteY4" fmla="*/ 1434304 h 3219264"/>
                <a:gd name="connsiteX5" fmla="*/ 2618845 w 2628361"/>
                <a:gd name="connsiteY5" fmla="*/ 3216861 h 3219264"/>
                <a:gd name="connsiteX6" fmla="*/ 1258993 w 2628361"/>
                <a:gd name="connsiteY6" fmla="*/ 2923564 h 3219264"/>
                <a:gd name="connsiteX7" fmla="*/ 5185 w 2628361"/>
                <a:gd name="connsiteY7" fmla="*/ 2593044 h 3219264"/>
                <a:gd name="connsiteX8" fmla="*/ 266298 w 2628361"/>
                <a:gd name="connsiteY8" fmla="*/ 2153811 h 3219264"/>
                <a:gd name="connsiteX9" fmla="*/ 269155 w 2628361"/>
                <a:gd name="connsiteY9" fmla="*/ 2152668 h 3219264"/>
                <a:gd name="connsiteX10" fmla="*/ 543453 w 2628361"/>
                <a:gd name="connsiteY10" fmla="*/ 2153240 h 3219264"/>
                <a:gd name="connsiteX11" fmla="*/ 549739 w 2628361"/>
                <a:gd name="connsiteY11" fmla="*/ 2155526 h 3219264"/>
                <a:gd name="connsiteX12" fmla="*/ 747462 w 2628361"/>
                <a:gd name="connsiteY12" fmla="*/ 2181813 h 3219264"/>
                <a:gd name="connsiteX13" fmla="*/ 750891 w 2628361"/>
                <a:gd name="connsiteY13" fmla="*/ 2181813 h 3219264"/>
                <a:gd name="connsiteX14" fmla="*/ 763463 w 2628361"/>
                <a:gd name="connsiteY14" fmla="*/ 2156097 h 3219264"/>
                <a:gd name="connsiteX15" fmla="*/ 753748 w 2628361"/>
                <a:gd name="connsiteY15" fmla="*/ 2143525 h 3219264"/>
                <a:gd name="connsiteX16" fmla="*/ 694317 w 2628361"/>
                <a:gd name="connsiteY16" fmla="*/ 2010376 h 3219264"/>
                <a:gd name="connsiteX17" fmla="*/ 665173 w 2628361"/>
                <a:gd name="connsiteY17" fmla="*/ 1980661 h 3219264"/>
                <a:gd name="connsiteX18" fmla="*/ 641172 w 2628361"/>
                <a:gd name="connsiteY18" fmla="*/ 1970946 h 3219264"/>
                <a:gd name="connsiteX19" fmla="*/ 555454 w 2628361"/>
                <a:gd name="connsiteY19" fmla="*/ 1953231 h 3219264"/>
                <a:gd name="connsiteX20" fmla="*/ 306299 w 2628361"/>
                <a:gd name="connsiteY20" fmla="*/ 1973232 h 3219264"/>
                <a:gd name="connsiteX21" fmla="*/ 70289 w 2628361"/>
                <a:gd name="connsiteY21" fmla="*/ 1953802 h 3219264"/>
                <a:gd name="connsiteX22" fmla="*/ 133149 w 2628361"/>
                <a:gd name="connsiteY22" fmla="*/ 1856655 h 3219264"/>
                <a:gd name="connsiteX23" fmla="*/ 127434 w 2628361"/>
                <a:gd name="connsiteY23" fmla="*/ 1732078 h 3219264"/>
                <a:gd name="connsiteX24" fmla="*/ 0 w 2628361"/>
                <a:gd name="connsiteY24" fmla="*/ 1622930 h 3219264"/>
                <a:gd name="connsiteX25" fmla="*/ 205724 w 2628361"/>
                <a:gd name="connsiteY25" fmla="*/ 1596072 h 3219264"/>
                <a:gd name="connsiteX26" fmla="*/ 257154 w 2628361"/>
                <a:gd name="connsiteY26" fmla="*/ 1580071 h 3219264"/>
                <a:gd name="connsiteX27" fmla="*/ 358873 w 2628361"/>
                <a:gd name="connsiteY27" fmla="*/ 1557213 h 3219264"/>
                <a:gd name="connsiteX28" fmla="*/ 389732 w 2628361"/>
                <a:gd name="connsiteY28" fmla="*/ 1545212 h 3219264"/>
                <a:gd name="connsiteX29" fmla="*/ 496594 w 2628361"/>
                <a:gd name="connsiteY29" fmla="*/ 1495496 h 3219264"/>
                <a:gd name="connsiteX30" fmla="*/ 561168 w 2628361"/>
                <a:gd name="connsiteY30" fmla="*/ 1446922 h 3219264"/>
                <a:gd name="connsiteX31" fmla="*/ 588598 w 2628361"/>
                <a:gd name="connsiteY31" fmla="*/ 1332060 h 3219264"/>
                <a:gd name="connsiteX32" fmla="*/ 595456 w 2628361"/>
                <a:gd name="connsiteY32" fmla="*/ 1076048 h 3219264"/>
                <a:gd name="connsiteX33" fmla="*/ 586884 w 2628361"/>
                <a:gd name="connsiteY33" fmla="*/ 886897 h 3219264"/>
                <a:gd name="connsiteX34" fmla="*/ 614313 w 2628361"/>
                <a:gd name="connsiteY34" fmla="*/ 677745 h 3219264"/>
                <a:gd name="connsiteX35" fmla="*/ 710318 w 2628361"/>
                <a:gd name="connsiteY35" fmla="*/ 530881 h 3219264"/>
                <a:gd name="connsiteX36" fmla="*/ 770320 w 2628361"/>
                <a:gd name="connsiteY36" fmla="*/ 472021 h 3219264"/>
                <a:gd name="connsiteX37" fmla="*/ 1458923 w 2628361"/>
                <a:gd name="connsiteY37" fmla="*/ 0 h 3219264"/>
                <a:gd name="connsiteX38" fmla="*/ 1460637 w 2628361"/>
                <a:gd name="connsiteY38" fmla="*/ 0 h 3219264"/>
                <a:gd name="connsiteX39" fmla="*/ 1550356 w 2628361"/>
                <a:gd name="connsiteY39" fmla="*/ 29716 h 321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628361" h="3219264">
                  <a:moveTo>
                    <a:pt x="1550356" y="29716"/>
                  </a:moveTo>
                  <a:cubicBezTo>
                    <a:pt x="1627502" y="102862"/>
                    <a:pt x="1718363" y="145149"/>
                    <a:pt x="1818939" y="176579"/>
                  </a:cubicBezTo>
                  <a:cubicBezTo>
                    <a:pt x="1926944" y="210867"/>
                    <a:pt x="2018948" y="279441"/>
                    <a:pt x="2097809" y="361731"/>
                  </a:cubicBezTo>
                  <a:cubicBezTo>
                    <a:pt x="2269245" y="541739"/>
                    <a:pt x="2406394" y="745176"/>
                    <a:pt x="2502398" y="974330"/>
                  </a:cubicBezTo>
                  <a:cubicBezTo>
                    <a:pt x="2558401" y="1106907"/>
                    <a:pt x="2585554" y="1060549"/>
                    <a:pt x="2604962" y="1434304"/>
                  </a:cubicBezTo>
                  <a:cubicBezTo>
                    <a:pt x="2624370" y="1808059"/>
                    <a:pt x="2638642" y="2634302"/>
                    <a:pt x="2618845" y="3216861"/>
                  </a:cubicBezTo>
                  <a:cubicBezTo>
                    <a:pt x="2261945" y="3240299"/>
                    <a:pt x="1692566" y="3088637"/>
                    <a:pt x="1258993" y="2923564"/>
                  </a:cubicBezTo>
                  <a:cubicBezTo>
                    <a:pt x="1242421" y="2912135"/>
                    <a:pt x="-3387" y="2659333"/>
                    <a:pt x="5185" y="2593044"/>
                  </a:cubicBezTo>
                  <a:cubicBezTo>
                    <a:pt x="21757" y="2460467"/>
                    <a:pt x="154293" y="2220672"/>
                    <a:pt x="266298" y="2153811"/>
                  </a:cubicBezTo>
                  <a:cubicBezTo>
                    <a:pt x="269727" y="2152668"/>
                    <a:pt x="265155" y="2153240"/>
                    <a:pt x="269155" y="2152668"/>
                  </a:cubicBezTo>
                  <a:cubicBezTo>
                    <a:pt x="360588" y="2143525"/>
                    <a:pt x="452020" y="2141811"/>
                    <a:pt x="543453" y="2153240"/>
                  </a:cubicBezTo>
                  <a:cubicBezTo>
                    <a:pt x="545739" y="2153240"/>
                    <a:pt x="548025" y="2154383"/>
                    <a:pt x="549739" y="2155526"/>
                  </a:cubicBezTo>
                  <a:cubicBezTo>
                    <a:pt x="611456" y="2194384"/>
                    <a:pt x="677745" y="2198385"/>
                    <a:pt x="747462" y="2181813"/>
                  </a:cubicBezTo>
                  <a:lnTo>
                    <a:pt x="750891" y="2181813"/>
                  </a:lnTo>
                  <a:cubicBezTo>
                    <a:pt x="764035" y="2181813"/>
                    <a:pt x="771463" y="2166383"/>
                    <a:pt x="763463" y="2156097"/>
                  </a:cubicBezTo>
                  <a:cubicBezTo>
                    <a:pt x="760034" y="2152097"/>
                    <a:pt x="756605" y="2147526"/>
                    <a:pt x="753748" y="2143525"/>
                  </a:cubicBezTo>
                  <a:cubicBezTo>
                    <a:pt x="722890" y="2104095"/>
                    <a:pt x="696603" y="2062950"/>
                    <a:pt x="694317" y="2010376"/>
                  </a:cubicBezTo>
                  <a:cubicBezTo>
                    <a:pt x="693745" y="1991518"/>
                    <a:pt x="687460" y="1978946"/>
                    <a:pt x="665173" y="1980661"/>
                  </a:cubicBezTo>
                  <a:cubicBezTo>
                    <a:pt x="656601" y="1981232"/>
                    <a:pt x="648601" y="1976089"/>
                    <a:pt x="641172" y="1970946"/>
                  </a:cubicBezTo>
                  <a:cubicBezTo>
                    <a:pt x="615456" y="1950945"/>
                    <a:pt x="586312" y="1948659"/>
                    <a:pt x="555454" y="1953231"/>
                  </a:cubicBezTo>
                  <a:cubicBezTo>
                    <a:pt x="473164" y="1965803"/>
                    <a:pt x="390303" y="1978946"/>
                    <a:pt x="306299" y="1973232"/>
                  </a:cubicBezTo>
                  <a:cubicBezTo>
                    <a:pt x="242297" y="1972660"/>
                    <a:pt x="61717" y="1961231"/>
                    <a:pt x="70289" y="1953802"/>
                  </a:cubicBezTo>
                  <a:cubicBezTo>
                    <a:pt x="110862" y="1918372"/>
                    <a:pt x="128577" y="1880656"/>
                    <a:pt x="133149" y="1856655"/>
                  </a:cubicBezTo>
                  <a:cubicBezTo>
                    <a:pt x="140578" y="1813225"/>
                    <a:pt x="134863" y="1774937"/>
                    <a:pt x="127434" y="1732078"/>
                  </a:cubicBezTo>
                  <a:cubicBezTo>
                    <a:pt x="118862" y="1684076"/>
                    <a:pt x="81718" y="1634359"/>
                    <a:pt x="0" y="1622930"/>
                  </a:cubicBezTo>
                  <a:cubicBezTo>
                    <a:pt x="0" y="1622930"/>
                    <a:pt x="151435" y="1584643"/>
                    <a:pt x="205724" y="1596072"/>
                  </a:cubicBezTo>
                  <a:cubicBezTo>
                    <a:pt x="225153" y="1600072"/>
                    <a:pt x="241154" y="1589786"/>
                    <a:pt x="257154" y="1580071"/>
                  </a:cubicBezTo>
                  <a:cubicBezTo>
                    <a:pt x="288584" y="1562356"/>
                    <a:pt x="317728" y="1536641"/>
                    <a:pt x="358873" y="1557213"/>
                  </a:cubicBezTo>
                  <a:cubicBezTo>
                    <a:pt x="369731" y="1562928"/>
                    <a:pt x="380588" y="1552641"/>
                    <a:pt x="389732" y="1545212"/>
                  </a:cubicBezTo>
                  <a:cubicBezTo>
                    <a:pt x="421162" y="1519497"/>
                    <a:pt x="455449" y="1501782"/>
                    <a:pt x="496594" y="1495496"/>
                  </a:cubicBezTo>
                  <a:cubicBezTo>
                    <a:pt x="526881" y="1490924"/>
                    <a:pt x="547453" y="1473781"/>
                    <a:pt x="561168" y="1446922"/>
                  </a:cubicBezTo>
                  <a:cubicBezTo>
                    <a:pt x="580026" y="1410921"/>
                    <a:pt x="588026" y="1372062"/>
                    <a:pt x="588598" y="1332060"/>
                  </a:cubicBezTo>
                  <a:cubicBezTo>
                    <a:pt x="589169" y="1246913"/>
                    <a:pt x="590312" y="1161195"/>
                    <a:pt x="595456" y="1076048"/>
                  </a:cubicBezTo>
                  <a:cubicBezTo>
                    <a:pt x="598884" y="1013188"/>
                    <a:pt x="589741" y="949757"/>
                    <a:pt x="586884" y="886897"/>
                  </a:cubicBezTo>
                  <a:cubicBezTo>
                    <a:pt x="583455" y="815465"/>
                    <a:pt x="592598" y="745176"/>
                    <a:pt x="614313" y="677745"/>
                  </a:cubicBezTo>
                  <a:cubicBezTo>
                    <a:pt x="633171" y="620028"/>
                    <a:pt x="666887" y="572597"/>
                    <a:pt x="710318" y="530881"/>
                  </a:cubicBezTo>
                  <a:cubicBezTo>
                    <a:pt x="730319" y="512023"/>
                    <a:pt x="749177" y="490879"/>
                    <a:pt x="770320" y="472021"/>
                  </a:cubicBezTo>
                  <a:cubicBezTo>
                    <a:pt x="1295487" y="24572"/>
                    <a:pt x="1411492" y="571"/>
                    <a:pt x="1458923" y="0"/>
                  </a:cubicBezTo>
                  <a:lnTo>
                    <a:pt x="1460637" y="0"/>
                  </a:lnTo>
                  <a:cubicBezTo>
                    <a:pt x="1468638" y="1143"/>
                    <a:pt x="1528069" y="8000"/>
                    <a:pt x="1550356" y="29716"/>
                  </a:cubicBezTo>
                  <a:close/>
                </a:path>
              </a:pathLst>
            </a:custGeom>
            <a:solidFill>
              <a:schemeClr val="tx1">
                <a:lumMod val="75000"/>
                <a:lumOff val="25000"/>
              </a:schemeClr>
            </a:solidFill>
            <a:ln w="9525" cap="flat">
              <a:noFill/>
              <a:prstDash val="solid"/>
              <a:miter/>
            </a:ln>
          </p:spPr>
          <p:txBody>
            <a:bodyPr rtlCol="0" anchor="ctr"/>
            <a:lstStyle/>
            <a:p>
              <a:endParaRPr lang="en-US"/>
            </a:p>
          </p:txBody>
        </p:sp>
        <p:sp>
          <p:nvSpPr>
            <p:cNvPr id="39" name="Freeform: Shape 57">
              <a:extLst>
                <a:ext uri="{FF2B5EF4-FFF2-40B4-BE49-F238E27FC236}">
                  <a16:creationId xmlns:a16="http://schemas.microsoft.com/office/drawing/2014/main" id="{96827630-F548-47CF-9058-97062AC40635}"/>
                </a:ext>
              </a:extLst>
            </p:cNvPr>
            <p:cNvSpPr/>
            <p:nvPr/>
          </p:nvSpPr>
          <p:spPr>
            <a:xfrm flipH="1">
              <a:off x="2103752" y="5220653"/>
              <a:ext cx="760632" cy="330000"/>
            </a:xfrm>
            <a:custGeom>
              <a:avLst/>
              <a:gdLst>
                <a:gd name="connsiteX0" fmla="*/ 386561 w 935237"/>
                <a:gd name="connsiteY0" fmla="*/ 199 h 405752"/>
                <a:gd name="connsiteX1" fmla="*/ 423768 w 935237"/>
                <a:gd name="connsiteY1" fmla="*/ 7155 h 405752"/>
                <a:gd name="connsiteX2" fmla="*/ 660921 w 935237"/>
                <a:gd name="connsiteY2" fmla="*/ 77444 h 405752"/>
                <a:gd name="connsiteX3" fmla="*/ 808357 w 935237"/>
                <a:gd name="connsiteY3" fmla="*/ 80872 h 405752"/>
                <a:gd name="connsiteX4" fmla="*/ 924933 w 935237"/>
                <a:gd name="connsiteY4" fmla="*/ 150018 h 405752"/>
                <a:gd name="connsiteX5" fmla="*/ 924933 w 935237"/>
                <a:gd name="connsiteY5" fmla="*/ 263166 h 405752"/>
                <a:gd name="connsiteX6" fmla="*/ 828358 w 935237"/>
                <a:gd name="connsiteY6" fmla="*/ 368314 h 405752"/>
                <a:gd name="connsiteX7" fmla="*/ 690066 w 935237"/>
                <a:gd name="connsiteY7" fmla="*/ 386600 h 405752"/>
                <a:gd name="connsiteX8" fmla="*/ 596919 w 935237"/>
                <a:gd name="connsiteY8" fmla="*/ 382029 h 405752"/>
                <a:gd name="connsiteX9" fmla="*/ 512343 w 935237"/>
                <a:gd name="connsiteY9" fmla="*/ 372885 h 405752"/>
                <a:gd name="connsiteX10" fmla="*/ 483592 w 935237"/>
                <a:gd name="connsiteY10" fmla="*/ 376332 h 405752"/>
                <a:gd name="connsiteX11" fmla="*/ 468581 w 935237"/>
                <a:gd name="connsiteY11" fmla="*/ 375712 h 405752"/>
                <a:gd name="connsiteX12" fmla="*/ 428925 w 935237"/>
                <a:gd name="connsiteY12" fmla="*/ 366158 h 405752"/>
                <a:gd name="connsiteX13" fmla="*/ 405481 w 935237"/>
                <a:gd name="connsiteY13" fmla="*/ 346598 h 405752"/>
                <a:gd name="connsiteX14" fmla="*/ 394052 w 935237"/>
                <a:gd name="connsiteY14" fmla="*/ 279738 h 405752"/>
                <a:gd name="connsiteX15" fmla="*/ 402624 w 935237"/>
                <a:gd name="connsiteY15" fmla="*/ 269452 h 405752"/>
                <a:gd name="connsiteX16" fmla="*/ 366051 w 935237"/>
                <a:gd name="connsiteY16" fmla="*/ 263166 h 405752"/>
                <a:gd name="connsiteX17" fmla="*/ 273475 w 935237"/>
                <a:gd name="connsiteY17" fmla="*/ 347741 h 405752"/>
                <a:gd name="connsiteX18" fmla="*/ 263832 w 935237"/>
                <a:gd name="connsiteY18" fmla="*/ 360671 h 405752"/>
                <a:gd name="connsiteX19" fmla="*/ 255459 w 935237"/>
                <a:gd name="connsiteY19" fmla="*/ 375924 h 405752"/>
                <a:gd name="connsiteX20" fmla="*/ 0 w 935237"/>
                <a:gd name="connsiteY20" fmla="*/ 405752 h 405752"/>
                <a:gd name="connsiteX21" fmla="*/ 4320 w 935237"/>
                <a:gd name="connsiteY21" fmla="*/ 375171 h 405752"/>
                <a:gd name="connsiteX22" fmla="*/ 4892 w 935237"/>
                <a:gd name="connsiteY22" fmla="*/ 314597 h 405752"/>
                <a:gd name="connsiteX23" fmla="*/ 35750 w 935237"/>
                <a:gd name="connsiteY23" fmla="*/ 204306 h 405752"/>
                <a:gd name="connsiteX24" fmla="*/ 91753 w 935237"/>
                <a:gd name="connsiteY24" fmla="*/ 115731 h 405752"/>
                <a:gd name="connsiteX25" fmla="*/ 160899 w 935237"/>
                <a:gd name="connsiteY25" fmla="*/ 82586 h 405752"/>
                <a:gd name="connsiteX26" fmla="*/ 284904 w 935237"/>
                <a:gd name="connsiteY26" fmla="*/ 24870 h 405752"/>
                <a:gd name="connsiteX27" fmla="*/ 386561 w 935237"/>
                <a:gd name="connsiteY27" fmla="*/ 199 h 405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35237" h="405752">
                  <a:moveTo>
                    <a:pt x="386561" y="199"/>
                  </a:moveTo>
                  <a:cubicBezTo>
                    <a:pt x="398553" y="833"/>
                    <a:pt x="410910" y="3012"/>
                    <a:pt x="423768" y="7155"/>
                  </a:cubicBezTo>
                  <a:cubicBezTo>
                    <a:pt x="502057" y="32870"/>
                    <a:pt x="578632" y="63729"/>
                    <a:pt x="660921" y="77444"/>
                  </a:cubicBezTo>
                  <a:cubicBezTo>
                    <a:pt x="696923" y="83729"/>
                    <a:pt x="795213" y="81443"/>
                    <a:pt x="808357" y="80872"/>
                  </a:cubicBezTo>
                  <a:cubicBezTo>
                    <a:pt x="868359" y="71729"/>
                    <a:pt x="906075" y="94016"/>
                    <a:pt x="924933" y="150018"/>
                  </a:cubicBezTo>
                  <a:cubicBezTo>
                    <a:pt x="937505" y="187734"/>
                    <a:pt x="939791" y="225450"/>
                    <a:pt x="924933" y="263166"/>
                  </a:cubicBezTo>
                  <a:cubicBezTo>
                    <a:pt x="920362" y="274024"/>
                    <a:pt x="835786" y="369457"/>
                    <a:pt x="828358" y="368314"/>
                  </a:cubicBezTo>
                  <a:cubicBezTo>
                    <a:pt x="790642" y="363171"/>
                    <a:pt x="726067" y="371171"/>
                    <a:pt x="690066" y="386600"/>
                  </a:cubicBezTo>
                  <a:cubicBezTo>
                    <a:pt x="659778" y="399172"/>
                    <a:pt x="627206" y="395743"/>
                    <a:pt x="596919" y="382029"/>
                  </a:cubicBezTo>
                  <a:cubicBezTo>
                    <a:pt x="569489" y="369457"/>
                    <a:pt x="542059" y="367742"/>
                    <a:pt x="512343" y="372885"/>
                  </a:cubicBezTo>
                  <a:cubicBezTo>
                    <a:pt x="502771" y="374457"/>
                    <a:pt x="493128" y="375778"/>
                    <a:pt x="483592" y="376332"/>
                  </a:cubicBezTo>
                  <a:lnTo>
                    <a:pt x="468581" y="375712"/>
                  </a:lnTo>
                  <a:lnTo>
                    <a:pt x="428925" y="366158"/>
                  </a:lnTo>
                  <a:lnTo>
                    <a:pt x="405481" y="346598"/>
                  </a:lnTo>
                  <a:cubicBezTo>
                    <a:pt x="385480" y="327169"/>
                    <a:pt x="389480" y="303168"/>
                    <a:pt x="394052" y="279738"/>
                  </a:cubicBezTo>
                  <a:cubicBezTo>
                    <a:pt x="395195" y="274595"/>
                    <a:pt x="398052" y="270595"/>
                    <a:pt x="402624" y="269452"/>
                  </a:cubicBezTo>
                  <a:cubicBezTo>
                    <a:pt x="395195" y="252308"/>
                    <a:pt x="382052" y="254023"/>
                    <a:pt x="366051" y="263166"/>
                  </a:cubicBezTo>
                  <a:cubicBezTo>
                    <a:pt x="328906" y="284310"/>
                    <a:pt x="294048" y="308311"/>
                    <a:pt x="273475" y="347741"/>
                  </a:cubicBezTo>
                  <a:cubicBezTo>
                    <a:pt x="270618" y="352027"/>
                    <a:pt x="267189" y="356028"/>
                    <a:pt x="263832" y="360671"/>
                  </a:cubicBezTo>
                  <a:lnTo>
                    <a:pt x="255459" y="375924"/>
                  </a:lnTo>
                  <a:lnTo>
                    <a:pt x="0" y="405752"/>
                  </a:lnTo>
                  <a:lnTo>
                    <a:pt x="4320" y="375171"/>
                  </a:lnTo>
                  <a:cubicBezTo>
                    <a:pt x="3177" y="355170"/>
                    <a:pt x="4320" y="334598"/>
                    <a:pt x="4892" y="314597"/>
                  </a:cubicBezTo>
                  <a:cubicBezTo>
                    <a:pt x="15178" y="277453"/>
                    <a:pt x="25464" y="241451"/>
                    <a:pt x="35750" y="204306"/>
                  </a:cubicBezTo>
                  <a:cubicBezTo>
                    <a:pt x="46036" y="169448"/>
                    <a:pt x="61466" y="136875"/>
                    <a:pt x="91753" y="115731"/>
                  </a:cubicBezTo>
                  <a:cubicBezTo>
                    <a:pt x="112897" y="101444"/>
                    <a:pt x="136326" y="89444"/>
                    <a:pt x="160899" y="82586"/>
                  </a:cubicBezTo>
                  <a:cubicBezTo>
                    <a:pt x="205472" y="69443"/>
                    <a:pt x="243188" y="43728"/>
                    <a:pt x="284904" y="24870"/>
                  </a:cubicBezTo>
                  <a:cubicBezTo>
                    <a:pt x="317906" y="10298"/>
                    <a:pt x="350586" y="-1703"/>
                    <a:pt x="386561" y="199"/>
                  </a:cubicBezTo>
                  <a:close/>
                </a:path>
              </a:pathLst>
            </a:custGeom>
            <a:gradFill>
              <a:gsLst>
                <a:gs pos="41000">
                  <a:schemeClr val="accent2">
                    <a:lumMod val="20000"/>
                    <a:lumOff val="80000"/>
                  </a:schemeClr>
                </a:gs>
                <a:gs pos="0">
                  <a:schemeClr val="bg1">
                    <a:lumMod val="95000"/>
                  </a:schemeClr>
                </a:gs>
                <a:gs pos="100000">
                  <a:schemeClr val="accent2">
                    <a:lumMod val="40000"/>
                    <a:lumOff val="60000"/>
                  </a:schemeClr>
                </a:gs>
              </a:gsLst>
              <a:lin ang="90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0" name="Freeform: Shape 58">
              <a:extLst>
                <a:ext uri="{FF2B5EF4-FFF2-40B4-BE49-F238E27FC236}">
                  <a16:creationId xmlns:a16="http://schemas.microsoft.com/office/drawing/2014/main" id="{F17CAE3E-9870-4E33-8F9B-9453A555FDA2}"/>
                </a:ext>
              </a:extLst>
            </p:cNvPr>
            <p:cNvSpPr/>
            <p:nvPr/>
          </p:nvSpPr>
          <p:spPr>
            <a:xfrm flipH="1">
              <a:off x="907142" y="3728086"/>
              <a:ext cx="534996" cy="842717"/>
            </a:xfrm>
            <a:custGeom>
              <a:avLst/>
              <a:gdLst>
                <a:gd name="connsiteX0" fmla="*/ 0 w 512822"/>
                <a:gd name="connsiteY0" fmla="*/ 736605 h 919256"/>
                <a:gd name="connsiteX1" fmla="*/ 219438 w 512822"/>
                <a:gd name="connsiteY1" fmla="*/ 585741 h 919256"/>
                <a:gd name="connsiteX2" fmla="*/ 358302 w 512822"/>
                <a:gd name="connsiteY2" fmla="*/ 425733 h 919256"/>
                <a:gd name="connsiteX3" fmla="*/ 421162 w 512822"/>
                <a:gd name="connsiteY3" fmla="*/ 241725 h 919256"/>
                <a:gd name="connsiteX4" fmla="*/ 420590 w 512822"/>
                <a:gd name="connsiteY4" fmla="*/ 81146 h 919256"/>
                <a:gd name="connsiteX5" fmla="*/ 502880 w 512822"/>
                <a:gd name="connsiteY5" fmla="*/ 0 h 919256"/>
                <a:gd name="connsiteX6" fmla="*/ 496022 w 512822"/>
                <a:gd name="connsiteY6" fmla="*/ 25144 h 919256"/>
                <a:gd name="connsiteX7" fmla="*/ 462306 w 512822"/>
                <a:gd name="connsiteY7" fmla="*/ 123434 h 919256"/>
                <a:gd name="connsiteX8" fmla="*/ 464021 w 512822"/>
                <a:gd name="connsiteY8" fmla="*/ 476021 h 919256"/>
                <a:gd name="connsiteX9" fmla="*/ 405733 w 512822"/>
                <a:gd name="connsiteY9" fmla="*/ 625171 h 919256"/>
                <a:gd name="connsiteX10" fmla="*/ 256011 w 512822"/>
                <a:gd name="connsiteY10" fmla="*/ 779464 h 919256"/>
                <a:gd name="connsiteX11" fmla="*/ 169150 w 512822"/>
                <a:gd name="connsiteY11" fmla="*/ 900041 h 919256"/>
                <a:gd name="connsiteX12" fmla="*/ 126291 w 512822"/>
                <a:gd name="connsiteY12" fmla="*/ 899469 h 919256"/>
                <a:gd name="connsiteX13" fmla="*/ 0 w 512822"/>
                <a:gd name="connsiteY13" fmla="*/ 736605 h 919256"/>
                <a:gd name="connsiteX14" fmla="*/ 0 w 512822"/>
                <a:gd name="connsiteY14" fmla="*/ 736605 h 919256"/>
                <a:gd name="connsiteX0" fmla="*/ 0 w 519739"/>
                <a:gd name="connsiteY0" fmla="*/ 731179 h 913830"/>
                <a:gd name="connsiteX1" fmla="*/ 219438 w 519739"/>
                <a:gd name="connsiteY1" fmla="*/ 580315 h 913830"/>
                <a:gd name="connsiteX2" fmla="*/ 358302 w 519739"/>
                <a:gd name="connsiteY2" fmla="*/ 420307 h 913830"/>
                <a:gd name="connsiteX3" fmla="*/ 421162 w 519739"/>
                <a:gd name="connsiteY3" fmla="*/ 236299 h 913830"/>
                <a:gd name="connsiteX4" fmla="*/ 420590 w 519739"/>
                <a:gd name="connsiteY4" fmla="*/ 75720 h 913830"/>
                <a:gd name="connsiteX5" fmla="*/ 511020 w 519739"/>
                <a:gd name="connsiteY5" fmla="*/ 0 h 913830"/>
                <a:gd name="connsiteX6" fmla="*/ 496022 w 519739"/>
                <a:gd name="connsiteY6" fmla="*/ 19718 h 913830"/>
                <a:gd name="connsiteX7" fmla="*/ 462306 w 519739"/>
                <a:gd name="connsiteY7" fmla="*/ 118008 h 913830"/>
                <a:gd name="connsiteX8" fmla="*/ 464021 w 519739"/>
                <a:gd name="connsiteY8" fmla="*/ 470595 h 913830"/>
                <a:gd name="connsiteX9" fmla="*/ 405733 w 519739"/>
                <a:gd name="connsiteY9" fmla="*/ 619745 h 913830"/>
                <a:gd name="connsiteX10" fmla="*/ 256011 w 519739"/>
                <a:gd name="connsiteY10" fmla="*/ 774038 h 913830"/>
                <a:gd name="connsiteX11" fmla="*/ 169150 w 519739"/>
                <a:gd name="connsiteY11" fmla="*/ 894615 h 913830"/>
                <a:gd name="connsiteX12" fmla="*/ 126291 w 519739"/>
                <a:gd name="connsiteY12" fmla="*/ 894043 h 913830"/>
                <a:gd name="connsiteX13" fmla="*/ 0 w 519739"/>
                <a:gd name="connsiteY13" fmla="*/ 731179 h 913830"/>
                <a:gd name="connsiteX14" fmla="*/ 0 w 519739"/>
                <a:gd name="connsiteY14" fmla="*/ 731179 h 913830"/>
                <a:gd name="connsiteX0" fmla="*/ 0 w 511708"/>
                <a:gd name="connsiteY0" fmla="*/ 732001 h 914652"/>
                <a:gd name="connsiteX1" fmla="*/ 219438 w 511708"/>
                <a:gd name="connsiteY1" fmla="*/ 581137 h 914652"/>
                <a:gd name="connsiteX2" fmla="*/ 358302 w 511708"/>
                <a:gd name="connsiteY2" fmla="*/ 421129 h 914652"/>
                <a:gd name="connsiteX3" fmla="*/ 421162 w 511708"/>
                <a:gd name="connsiteY3" fmla="*/ 237121 h 914652"/>
                <a:gd name="connsiteX4" fmla="*/ 420590 w 511708"/>
                <a:gd name="connsiteY4" fmla="*/ 76542 h 914652"/>
                <a:gd name="connsiteX5" fmla="*/ 511020 w 511708"/>
                <a:gd name="connsiteY5" fmla="*/ 822 h 914652"/>
                <a:gd name="connsiteX6" fmla="*/ 462306 w 511708"/>
                <a:gd name="connsiteY6" fmla="*/ 118830 h 914652"/>
                <a:gd name="connsiteX7" fmla="*/ 464021 w 511708"/>
                <a:gd name="connsiteY7" fmla="*/ 471417 h 914652"/>
                <a:gd name="connsiteX8" fmla="*/ 405733 w 511708"/>
                <a:gd name="connsiteY8" fmla="*/ 620567 h 914652"/>
                <a:gd name="connsiteX9" fmla="*/ 256011 w 511708"/>
                <a:gd name="connsiteY9" fmla="*/ 774860 h 914652"/>
                <a:gd name="connsiteX10" fmla="*/ 169150 w 511708"/>
                <a:gd name="connsiteY10" fmla="*/ 895437 h 914652"/>
                <a:gd name="connsiteX11" fmla="*/ 126291 w 511708"/>
                <a:gd name="connsiteY11" fmla="*/ 894865 h 914652"/>
                <a:gd name="connsiteX12" fmla="*/ 0 w 511708"/>
                <a:gd name="connsiteY12" fmla="*/ 732001 h 914652"/>
                <a:gd name="connsiteX13" fmla="*/ 0 w 511708"/>
                <a:gd name="connsiteY13" fmla="*/ 732001 h 914652"/>
                <a:gd name="connsiteX0" fmla="*/ 0 w 620344"/>
                <a:gd name="connsiteY0" fmla="*/ 743213 h 925864"/>
                <a:gd name="connsiteX1" fmla="*/ 219438 w 620344"/>
                <a:gd name="connsiteY1" fmla="*/ 592349 h 925864"/>
                <a:gd name="connsiteX2" fmla="*/ 358302 w 620344"/>
                <a:gd name="connsiteY2" fmla="*/ 432341 h 925864"/>
                <a:gd name="connsiteX3" fmla="*/ 421162 w 620344"/>
                <a:gd name="connsiteY3" fmla="*/ 248333 h 925864"/>
                <a:gd name="connsiteX4" fmla="*/ 420590 w 620344"/>
                <a:gd name="connsiteY4" fmla="*/ 87754 h 925864"/>
                <a:gd name="connsiteX5" fmla="*/ 511020 w 620344"/>
                <a:gd name="connsiteY5" fmla="*/ 12034 h 925864"/>
                <a:gd name="connsiteX6" fmla="*/ 619681 w 620344"/>
                <a:gd name="connsiteY6" fmla="*/ 333543 h 925864"/>
                <a:gd name="connsiteX7" fmla="*/ 464021 w 620344"/>
                <a:gd name="connsiteY7" fmla="*/ 482629 h 925864"/>
                <a:gd name="connsiteX8" fmla="*/ 405733 w 620344"/>
                <a:gd name="connsiteY8" fmla="*/ 631779 h 925864"/>
                <a:gd name="connsiteX9" fmla="*/ 256011 w 620344"/>
                <a:gd name="connsiteY9" fmla="*/ 786072 h 925864"/>
                <a:gd name="connsiteX10" fmla="*/ 169150 w 620344"/>
                <a:gd name="connsiteY10" fmla="*/ 906649 h 925864"/>
                <a:gd name="connsiteX11" fmla="*/ 126291 w 620344"/>
                <a:gd name="connsiteY11" fmla="*/ 906077 h 925864"/>
                <a:gd name="connsiteX12" fmla="*/ 0 w 620344"/>
                <a:gd name="connsiteY12" fmla="*/ 743213 h 925864"/>
                <a:gd name="connsiteX13" fmla="*/ 0 w 620344"/>
                <a:gd name="connsiteY13" fmla="*/ 743213 h 925864"/>
                <a:gd name="connsiteX0" fmla="*/ 0 w 620344"/>
                <a:gd name="connsiteY0" fmla="*/ 743213 h 925864"/>
                <a:gd name="connsiteX1" fmla="*/ 219438 w 620344"/>
                <a:gd name="connsiteY1" fmla="*/ 592349 h 925864"/>
                <a:gd name="connsiteX2" fmla="*/ 358302 w 620344"/>
                <a:gd name="connsiteY2" fmla="*/ 432341 h 925864"/>
                <a:gd name="connsiteX3" fmla="*/ 421162 w 620344"/>
                <a:gd name="connsiteY3" fmla="*/ 248333 h 925864"/>
                <a:gd name="connsiteX4" fmla="*/ 420590 w 620344"/>
                <a:gd name="connsiteY4" fmla="*/ 87754 h 925864"/>
                <a:gd name="connsiteX5" fmla="*/ 511020 w 620344"/>
                <a:gd name="connsiteY5" fmla="*/ 12034 h 925864"/>
                <a:gd name="connsiteX6" fmla="*/ 619681 w 620344"/>
                <a:gd name="connsiteY6" fmla="*/ 333543 h 925864"/>
                <a:gd name="connsiteX7" fmla="*/ 464021 w 620344"/>
                <a:gd name="connsiteY7" fmla="*/ 482629 h 925864"/>
                <a:gd name="connsiteX8" fmla="*/ 405733 w 620344"/>
                <a:gd name="connsiteY8" fmla="*/ 631779 h 925864"/>
                <a:gd name="connsiteX9" fmla="*/ 256011 w 620344"/>
                <a:gd name="connsiteY9" fmla="*/ 786072 h 925864"/>
                <a:gd name="connsiteX10" fmla="*/ 169150 w 620344"/>
                <a:gd name="connsiteY10" fmla="*/ 906649 h 925864"/>
                <a:gd name="connsiteX11" fmla="*/ 126291 w 620344"/>
                <a:gd name="connsiteY11" fmla="*/ 906077 h 925864"/>
                <a:gd name="connsiteX12" fmla="*/ 0 w 620344"/>
                <a:gd name="connsiteY12" fmla="*/ 743213 h 925864"/>
                <a:gd name="connsiteX13" fmla="*/ 0 w 620344"/>
                <a:gd name="connsiteY13" fmla="*/ 743213 h 925864"/>
                <a:gd name="connsiteX0" fmla="*/ 0 w 620344"/>
                <a:gd name="connsiteY0" fmla="*/ 743213 h 925864"/>
                <a:gd name="connsiteX1" fmla="*/ 219438 w 620344"/>
                <a:gd name="connsiteY1" fmla="*/ 592349 h 925864"/>
                <a:gd name="connsiteX2" fmla="*/ 358302 w 620344"/>
                <a:gd name="connsiteY2" fmla="*/ 432341 h 925864"/>
                <a:gd name="connsiteX3" fmla="*/ 421162 w 620344"/>
                <a:gd name="connsiteY3" fmla="*/ 248333 h 925864"/>
                <a:gd name="connsiteX4" fmla="*/ 420590 w 620344"/>
                <a:gd name="connsiteY4" fmla="*/ 87754 h 925864"/>
                <a:gd name="connsiteX5" fmla="*/ 511020 w 620344"/>
                <a:gd name="connsiteY5" fmla="*/ 12034 h 925864"/>
                <a:gd name="connsiteX6" fmla="*/ 619681 w 620344"/>
                <a:gd name="connsiteY6" fmla="*/ 333543 h 925864"/>
                <a:gd name="connsiteX7" fmla="*/ 464021 w 620344"/>
                <a:gd name="connsiteY7" fmla="*/ 482629 h 925864"/>
                <a:gd name="connsiteX8" fmla="*/ 405733 w 620344"/>
                <a:gd name="connsiteY8" fmla="*/ 631779 h 925864"/>
                <a:gd name="connsiteX9" fmla="*/ 256011 w 620344"/>
                <a:gd name="connsiteY9" fmla="*/ 786072 h 925864"/>
                <a:gd name="connsiteX10" fmla="*/ 169150 w 620344"/>
                <a:gd name="connsiteY10" fmla="*/ 906649 h 925864"/>
                <a:gd name="connsiteX11" fmla="*/ 126291 w 620344"/>
                <a:gd name="connsiteY11" fmla="*/ 906077 h 925864"/>
                <a:gd name="connsiteX12" fmla="*/ 0 w 620344"/>
                <a:gd name="connsiteY12" fmla="*/ 743213 h 925864"/>
                <a:gd name="connsiteX13" fmla="*/ 0 w 620344"/>
                <a:gd name="connsiteY13" fmla="*/ 743213 h 925864"/>
                <a:gd name="connsiteX0" fmla="*/ 0 w 623047"/>
                <a:gd name="connsiteY0" fmla="*/ 743213 h 925864"/>
                <a:gd name="connsiteX1" fmla="*/ 219438 w 623047"/>
                <a:gd name="connsiteY1" fmla="*/ 592349 h 925864"/>
                <a:gd name="connsiteX2" fmla="*/ 358302 w 623047"/>
                <a:gd name="connsiteY2" fmla="*/ 432341 h 925864"/>
                <a:gd name="connsiteX3" fmla="*/ 421162 w 623047"/>
                <a:gd name="connsiteY3" fmla="*/ 248333 h 925864"/>
                <a:gd name="connsiteX4" fmla="*/ 420590 w 623047"/>
                <a:gd name="connsiteY4" fmla="*/ 87754 h 925864"/>
                <a:gd name="connsiteX5" fmla="*/ 511020 w 623047"/>
                <a:gd name="connsiteY5" fmla="*/ 12034 h 925864"/>
                <a:gd name="connsiteX6" fmla="*/ 622395 w 623047"/>
                <a:gd name="connsiteY6" fmla="*/ 306409 h 925864"/>
                <a:gd name="connsiteX7" fmla="*/ 464021 w 623047"/>
                <a:gd name="connsiteY7" fmla="*/ 482629 h 925864"/>
                <a:gd name="connsiteX8" fmla="*/ 405733 w 623047"/>
                <a:gd name="connsiteY8" fmla="*/ 631779 h 925864"/>
                <a:gd name="connsiteX9" fmla="*/ 256011 w 623047"/>
                <a:gd name="connsiteY9" fmla="*/ 786072 h 925864"/>
                <a:gd name="connsiteX10" fmla="*/ 169150 w 623047"/>
                <a:gd name="connsiteY10" fmla="*/ 906649 h 925864"/>
                <a:gd name="connsiteX11" fmla="*/ 126291 w 623047"/>
                <a:gd name="connsiteY11" fmla="*/ 906077 h 925864"/>
                <a:gd name="connsiteX12" fmla="*/ 0 w 623047"/>
                <a:gd name="connsiteY12" fmla="*/ 743213 h 925864"/>
                <a:gd name="connsiteX13" fmla="*/ 0 w 623047"/>
                <a:gd name="connsiteY13" fmla="*/ 743213 h 925864"/>
                <a:gd name="connsiteX0" fmla="*/ 0 w 622395"/>
                <a:gd name="connsiteY0" fmla="*/ 743213 h 925864"/>
                <a:gd name="connsiteX1" fmla="*/ 219438 w 622395"/>
                <a:gd name="connsiteY1" fmla="*/ 592349 h 925864"/>
                <a:gd name="connsiteX2" fmla="*/ 358302 w 622395"/>
                <a:gd name="connsiteY2" fmla="*/ 432341 h 925864"/>
                <a:gd name="connsiteX3" fmla="*/ 421162 w 622395"/>
                <a:gd name="connsiteY3" fmla="*/ 248333 h 925864"/>
                <a:gd name="connsiteX4" fmla="*/ 420590 w 622395"/>
                <a:gd name="connsiteY4" fmla="*/ 87754 h 925864"/>
                <a:gd name="connsiteX5" fmla="*/ 511020 w 622395"/>
                <a:gd name="connsiteY5" fmla="*/ 12034 h 925864"/>
                <a:gd name="connsiteX6" fmla="*/ 622395 w 622395"/>
                <a:gd name="connsiteY6" fmla="*/ 306409 h 925864"/>
                <a:gd name="connsiteX7" fmla="*/ 405733 w 622395"/>
                <a:gd name="connsiteY7" fmla="*/ 631779 h 925864"/>
                <a:gd name="connsiteX8" fmla="*/ 256011 w 622395"/>
                <a:gd name="connsiteY8" fmla="*/ 786072 h 925864"/>
                <a:gd name="connsiteX9" fmla="*/ 169150 w 622395"/>
                <a:gd name="connsiteY9" fmla="*/ 906649 h 925864"/>
                <a:gd name="connsiteX10" fmla="*/ 126291 w 622395"/>
                <a:gd name="connsiteY10" fmla="*/ 906077 h 925864"/>
                <a:gd name="connsiteX11" fmla="*/ 0 w 622395"/>
                <a:gd name="connsiteY11" fmla="*/ 743213 h 925864"/>
                <a:gd name="connsiteX12" fmla="*/ 0 w 622395"/>
                <a:gd name="connsiteY12" fmla="*/ 743213 h 925864"/>
                <a:gd name="connsiteX0" fmla="*/ 0 w 625108"/>
                <a:gd name="connsiteY0" fmla="*/ 743213 h 925864"/>
                <a:gd name="connsiteX1" fmla="*/ 219438 w 625108"/>
                <a:gd name="connsiteY1" fmla="*/ 592349 h 925864"/>
                <a:gd name="connsiteX2" fmla="*/ 358302 w 625108"/>
                <a:gd name="connsiteY2" fmla="*/ 432341 h 925864"/>
                <a:gd name="connsiteX3" fmla="*/ 421162 w 625108"/>
                <a:gd name="connsiteY3" fmla="*/ 248333 h 925864"/>
                <a:gd name="connsiteX4" fmla="*/ 420590 w 625108"/>
                <a:gd name="connsiteY4" fmla="*/ 87754 h 925864"/>
                <a:gd name="connsiteX5" fmla="*/ 511020 w 625108"/>
                <a:gd name="connsiteY5" fmla="*/ 12034 h 925864"/>
                <a:gd name="connsiteX6" fmla="*/ 625108 w 625108"/>
                <a:gd name="connsiteY6" fmla="*/ 333543 h 925864"/>
                <a:gd name="connsiteX7" fmla="*/ 405733 w 625108"/>
                <a:gd name="connsiteY7" fmla="*/ 631779 h 925864"/>
                <a:gd name="connsiteX8" fmla="*/ 256011 w 625108"/>
                <a:gd name="connsiteY8" fmla="*/ 786072 h 925864"/>
                <a:gd name="connsiteX9" fmla="*/ 169150 w 625108"/>
                <a:gd name="connsiteY9" fmla="*/ 906649 h 925864"/>
                <a:gd name="connsiteX10" fmla="*/ 126291 w 625108"/>
                <a:gd name="connsiteY10" fmla="*/ 906077 h 925864"/>
                <a:gd name="connsiteX11" fmla="*/ 0 w 625108"/>
                <a:gd name="connsiteY11" fmla="*/ 743213 h 925864"/>
                <a:gd name="connsiteX12" fmla="*/ 0 w 625108"/>
                <a:gd name="connsiteY12" fmla="*/ 743213 h 925864"/>
                <a:gd name="connsiteX0" fmla="*/ 0 w 625108"/>
                <a:gd name="connsiteY0" fmla="*/ 743213 h 925864"/>
                <a:gd name="connsiteX1" fmla="*/ 219438 w 625108"/>
                <a:gd name="connsiteY1" fmla="*/ 592349 h 925864"/>
                <a:gd name="connsiteX2" fmla="*/ 358302 w 625108"/>
                <a:gd name="connsiteY2" fmla="*/ 432341 h 925864"/>
                <a:gd name="connsiteX3" fmla="*/ 421162 w 625108"/>
                <a:gd name="connsiteY3" fmla="*/ 248333 h 925864"/>
                <a:gd name="connsiteX4" fmla="*/ 420590 w 625108"/>
                <a:gd name="connsiteY4" fmla="*/ 87754 h 925864"/>
                <a:gd name="connsiteX5" fmla="*/ 511020 w 625108"/>
                <a:gd name="connsiteY5" fmla="*/ 12034 h 925864"/>
                <a:gd name="connsiteX6" fmla="*/ 625108 w 625108"/>
                <a:gd name="connsiteY6" fmla="*/ 333543 h 925864"/>
                <a:gd name="connsiteX7" fmla="*/ 405733 w 625108"/>
                <a:gd name="connsiteY7" fmla="*/ 631779 h 925864"/>
                <a:gd name="connsiteX8" fmla="*/ 256011 w 625108"/>
                <a:gd name="connsiteY8" fmla="*/ 786072 h 925864"/>
                <a:gd name="connsiteX9" fmla="*/ 169150 w 625108"/>
                <a:gd name="connsiteY9" fmla="*/ 906649 h 925864"/>
                <a:gd name="connsiteX10" fmla="*/ 126291 w 625108"/>
                <a:gd name="connsiteY10" fmla="*/ 906077 h 925864"/>
                <a:gd name="connsiteX11" fmla="*/ 0 w 625108"/>
                <a:gd name="connsiteY11" fmla="*/ 743213 h 925864"/>
                <a:gd name="connsiteX12" fmla="*/ 0 w 625108"/>
                <a:gd name="connsiteY12" fmla="*/ 743213 h 925864"/>
                <a:gd name="connsiteX0" fmla="*/ 0 w 625108"/>
                <a:gd name="connsiteY0" fmla="*/ 743213 h 925864"/>
                <a:gd name="connsiteX1" fmla="*/ 219438 w 625108"/>
                <a:gd name="connsiteY1" fmla="*/ 592349 h 925864"/>
                <a:gd name="connsiteX2" fmla="*/ 358302 w 625108"/>
                <a:gd name="connsiteY2" fmla="*/ 432341 h 925864"/>
                <a:gd name="connsiteX3" fmla="*/ 421162 w 625108"/>
                <a:gd name="connsiteY3" fmla="*/ 248333 h 925864"/>
                <a:gd name="connsiteX4" fmla="*/ 420590 w 625108"/>
                <a:gd name="connsiteY4" fmla="*/ 87754 h 925864"/>
                <a:gd name="connsiteX5" fmla="*/ 511020 w 625108"/>
                <a:gd name="connsiteY5" fmla="*/ 12034 h 925864"/>
                <a:gd name="connsiteX6" fmla="*/ 625108 w 625108"/>
                <a:gd name="connsiteY6" fmla="*/ 333543 h 925864"/>
                <a:gd name="connsiteX7" fmla="*/ 405733 w 625108"/>
                <a:gd name="connsiteY7" fmla="*/ 631779 h 925864"/>
                <a:gd name="connsiteX8" fmla="*/ 256011 w 625108"/>
                <a:gd name="connsiteY8" fmla="*/ 786072 h 925864"/>
                <a:gd name="connsiteX9" fmla="*/ 169150 w 625108"/>
                <a:gd name="connsiteY9" fmla="*/ 906649 h 925864"/>
                <a:gd name="connsiteX10" fmla="*/ 126291 w 625108"/>
                <a:gd name="connsiteY10" fmla="*/ 906077 h 925864"/>
                <a:gd name="connsiteX11" fmla="*/ 0 w 625108"/>
                <a:gd name="connsiteY11" fmla="*/ 743213 h 925864"/>
                <a:gd name="connsiteX12" fmla="*/ 0 w 625108"/>
                <a:gd name="connsiteY12" fmla="*/ 743213 h 925864"/>
                <a:gd name="connsiteX0" fmla="*/ 0 w 630897"/>
                <a:gd name="connsiteY0" fmla="*/ 710234 h 925864"/>
                <a:gd name="connsiteX1" fmla="*/ 225227 w 630897"/>
                <a:gd name="connsiteY1" fmla="*/ 592349 h 925864"/>
                <a:gd name="connsiteX2" fmla="*/ 364091 w 630897"/>
                <a:gd name="connsiteY2" fmla="*/ 432341 h 925864"/>
                <a:gd name="connsiteX3" fmla="*/ 426951 w 630897"/>
                <a:gd name="connsiteY3" fmla="*/ 248333 h 925864"/>
                <a:gd name="connsiteX4" fmla="*/ 426379 w 630897"/>
                <a:gd name="connsiteY4" fmla="*/ 87754 h 925864"/>
                <a:gd name="connsiteX5" fmla="*/ 516809 w 630897"/>
                <a:gd name="connsiteY5" fmla="*/ 12034 h 925864"/>
                <a:gd name="connsiteX6" fmla="*/ 630897 w 630897"/>
                <a:gd name="connsiteY6" fmla="*/ 333543 h 925864"/>
                <a:gd name="connsiteX7" fmla="*/ 411522 w 630897"/>
                <a:gd name="connsiteY7" fmla="*/ 631779 h 925864"/>
                <a:gd name="connsiteX8" fmla="*/ 261800 w 630897"/>
                <a:gd name="connsiteY8" fmla="*/ 786072 h 925864"/>
                <a:gd name="connsiteX9" fmla="*/ 174939 w 630897"/>
                <a:gd name="connsiteY9" fmla="*/ 906649 h 925864"/>
                <a:gd name="connsiteX10" fmla="*/ 132080 w 630897"/>
                <a:gd name="connsiteY10" fmla="*/ 906077 h 925864"/>
                <a:gd name="connsiteX11" fmla="*/ 5789 w 630897"/>
                <a:gd name="connsiteY11" fmla="*/ 743213 h 925864"/>
                <a:gd name="connsiteX12" fmla="*/ 0 w 630897"/>
                <a:gd name="connsiteY12" fmla="*/ 710234 h 925864"/>
                <a:gd name="connsiteX0" fmla="*/ 0 w 630897"/>
                <a:gd name="connsiteY0" fmla="*/ 710234 h 925864"/>
                <a:gd name="connsiteX1" fmla="*/ 219439 w 630897"/>
                <a:gd name="connsiteY1" fmla="*/ 580356 h 925864"/>
                <a:gd name="connsiteX2" fmla="*/ 364091 w 630897"/>
                <a:gd name="connsiteY2" fmla="*/ 432341 h 925864"/>
                <a:gd name="connsiteX3" fmla="*/ 426951 w 630897"/>
                <a:gd name="connsiteY3" fmla="*/ 248333 h 925864"/>
                <a:gd name="connsiteX4" fmla="*/ 426379 w 630897"/>
                <a:gd name="connsiteY4" fmla="*/ 87754 h 925864"/>
                <a:gd name="connsiteX5" fmla="*/ 516809 w 630897"/>
                <a:gd name="connsiteY5" fmla="*/ 12034 h 925864"/>
                <a:gd name="connsiteX6" fmla="*/ 630897 w 630897"/>
                <a:gd name="connsiteY6" fmla="*/ 333543 h 925864"/>
                <a:gd name="connsiteX7" fmla="*/ 411522 w 630897"/>
                <a:gd name="connsiteY7" fmla="*/ 631779 h 925864"/>
                <a:gd name="connsiteX8" fmla="*/ 261800 w 630897"/>
                <a:gd name="connsiteY8" fmla="*/ 786072 h 925864"/>
                <a:gd name="connsiteX9" fmla="*/ 174939 w 630897"/>
                <a:gd name="connsiteY9" fmla="*/ 906649 h 925864"/>
                <a:gd name="connsiteX10" fmla="*/ 132080 w 630897"/>
                <a:gd name="connsiteY10" fmla="*/ 906077 h 925864"/>
                <a:gd name="connsiteX11" fmla="*/ 5789 w 630897"/>
                <a:gd name="connsiteY11" fmla="*/ 743213 h 925864"/>
                <a:gd name="connsiteX12" fmla="*/ 0 w 630897"/>
                <a:gd name="connsiteY12" fmla="*/ 710234 h 925864"/>
                <a:gd name="connsiteX0" fmla="*/ 0 w 630897"/>
                <a:gd name="connsiteY0" fmla="*/ 710234 h 925864"/>
                <a:gd name="connsiteX1" fmla="*/ 219439 w 630897"/>
                <a:gd name="connsiteY1" fmla="*/ 580356 h 925864"/>
                <a:gd name="connsiteX2" fmla="*/ 352514 w 630897"/>
                <a:gd name="connsiteY2" fmla="*/ 423347 h 925864"/>
                <a:gd name="connsiteX3" fmla="*/ 426951 w 630897"/>
                <a:gd name="connsiteY3" fmla="*/ 248333 h 925864"/>
                <a:gd name="connsiteX4" fmla="*/ 426379 w 630897"/>
                <a:gd name="connsiteY4" fmla="*/ 87754 h 925864"/>
                <a:gd name="connsiteX5" fmla="*/ 516809 w 630897"/>
                <a:gd name="connsiteY5" fmla="*/ 12034 h 925864"/>
                <a:gd name="connsiteX6" fmla="*/ 630897 w 630897"/>
                <a:gd name="connsiteY6" fmla="*/ 333543 h 925864"/>
                <a:gd name="connsiteX7" fmla="*/ 411522 w 630897"/>
                <a:gd name="connsiteY7" fmla="*/ 631779 h 925864"/>
                <a:gd name="connsiteX8" fmla="*/ 261800 w 630897"/>
                <a:gd name="connsiteY8" fmla="*/ 786072 h 925864"/>
                <a:gd name="connsiteX9" fmla="*/ 174939 w 630897"/>
                <a:gd name="connsiteY9" fmla="*/ 906649 h 925864"/>
                <a:gd name="connsiteX10" fmla="*/ 132080 w 630897"/>
                <a:gd name="connsiteY10" fmla="*/ 906077 h 925864"/>
                <a:gd name="connsiteX11" fmla="*/ 5789 w 630897"/>
                <a:gd name="connsiteY11" fmla="*/ 743213 h 925864"/>
                <a:gd name="connsiteX12" fmla="*/ 0 w 630897"/>
                <a:gd name="connsiteY12" fmla="*/ 710234 h 925864"/>
                <a:gd name="connsiteX0" fmla="*/ 0 w 630897"/>
                <a:gd name="connsiteY0" fmla="*/ 710234 h 925864"/>
                <a:gd name="connsiteX1" fmla="*/ 219439 w 630897"/>
                <a:gd name="connsiteY1" fmla="*/ 580356 h 925864"/>
                <a:gd name="connsiteX2" fmla="*/ 352514 w 630897"/>
                <a:gd name="connsiteY2" fmla="*/ 423347 h 925864"/>
                <a:gd name="connsiteX3" fmla="*/ 418267 w 630897"/>
                <a:gd name="connsiteY3" fmla="*/ 242336 h 925864"/>
                <a:gd name="connsiteX4" fmla="*/ 426379 w 630897"/>
                <a:gd name="connsiteY4" fmla="*/ 87754 h 925864"/>
                <a:gd name="connsiteX5" fmla="*/ 516809 w 630897"/>
                <a:gd name="connsiteY5" fmla="*/ 12034 h 925864"/>
                <a:gd name="connsiteX6" fmla="*/ 630897 w 630897"/>
                <a:gd name="connsiteY6" fmla="*/ 333543 h 925864"/>
                <a:gd name="connsiteX7" fmla="*/ 411522 w 630897"/>
                <a:gd name="connsiteY7" fmla="*/ 631779 h 925864"/>
                <a:gd name="connsiteX8" fmla="*/ 261800 w 630897"/>
                <a:gd name="connsiteY8" fmla="*/ 786072 h 925864"/>
                <a:gd name="connsiteX9" fmla="*/ 174939 w 630897"/>
                <a:gd name="connsiteY9" fmla="*/ 906649 h 925864"/>
                <a:gd name="connsiteX10" fmla="*/ 132080 w 630897"/>
                <a:gd name="connsiteY10" fmla="*/ 906077 h 925864"/>
                <a:gd name="connsiteX11" fmla="*/ 5789 w 630897"/>
                <a:gd name="connsiteY11" fmla="*/ 743213 h 925864"/>
                <a:gd name="connsiteX12" fmla="*/ 0 w 630897"/>
                <a:gd name="connsiteY12" fmla="*/ 710234 h 925864"/>
                <a:gd name="connsiteX0" fmla="*/ 0 w 630897"/>
                <a:gd name="connsiteY0" fmla="*/ 709914 h 925544"/>
                <a:gd name="connsiteX1" fmla="*/ 219439 w 630897"/>
                <a:gd name="connsiteY1" fmla="*/ 580036 h 925544"/>
                <a:gd name="connsiteX2" fmla="*/ 352514 w 630897"/>
                <a:gd name="connsiteY2" fmla="*/ 423027 h 925544"/>
                <a:gd name="connsiteX3" fmla="*/ 418267 w 630897"/>
                <a:gd name="connsiteY3" fmla="*/ 242016 h 925544"/>
                <a:gd name="connsiteX4" fmla="*/ 417696 w 630897"/>
                <a:gd name="connsiteY4" fmla="*/ 90432 h 925544"/>
                <a:gd name="connsiteX5" fmla="*/ 516809 w 630897"/>
                <a:gd name="connsiteY5" fmla="*/ 11714 h 925544"/>
                <a:gd name="connsiteX6" fmla="*/ 630897 w 630897"/>
                <a:gd name="connsiteY6" fmla="*/ 333223 h 925544"/>
                <a:gd name="connsiteX7" fmla="*/ 411522 w 630897"/>
                <a:gd name="connsiteY7" fmla="*/ 631459 h 925544"/>
                <a:gd name="connsiteX8" fmla="*/ 261800 w 630897"/>
                <a:gd name="connsiteY8" fmla="*/ 785752 h 925544"/>
                <a:gd name="connsiteX9" fmla="*/ 174939 w 630897"/>
                <a:gd name="connsiteY9" fmla="*/ 906329 h 925544"/>
                <a:gd name="connsiteX10" fmla="*/ 132080 w 630897"/>
                <a:gd name="connsiteY10" fmla="*/ 905757 h 925544"/>
                <a:gd name="connsiteX11" fmla="*/ 5789 w 630897"/>
                <a:gd name="connsiteY11" fmla="*/ 742893 h 925544"/>
                <a:gd name="connsiteX12" fmla="*/ 0 w 630897"/>
                <a:gd name="connsiteY12" fmla="*/ 709914 h 925544"/>
                <a:gd name="connsiteX0" fmla="*/ 0 w 630897"/>
                <a:gd name="connsiteY0" fmla="*/ 704577 h 920207"/>
                <a:gd name="connsiteX1" fmla="*/ 219439 w 630897"/>
                <a:gd name="connsiteY1" fmla="*/ 574699 h 920207"/>
                <a:gd name="connsiteX2" fmla="*/ 352514 w 630897"/>
                <a:gd name="connsiteY2" fmla="*/ 417690 h 920207"/>
                <a:gd name="connsiteX3" fmla="*/ 418267 w 630897"/>
                <a:gd name="connsiteY3" fmla="*/ 236679 h 920207"/>
                <a:gd name="connsiteX4" fmla="*/ 417696 w 630897"/>
                <a:gd name="connsiteY4" fmla="*/ 85095 h 920207"/>
                <a:gd name="connsiteX5" fmla="*/ 505232 w 630897"/>
                <a:gd name="connsiteY5" fmla="*/ 12373 h 920207"/>
                <a:gd name="connsiteX6" fmla="*/ 630897 w 630897"/>
                <a:gd name="connsiteY6" fmla="*/ 327886 h 920207"/>
                <a:gd name="connsiteX7" fmla="*/ 411522 w 630897"/>
                <a:gd name="connsiteY7" fmla="*/ 626122 h 920207"/>
                <a:gd name="connsiteX8" fmla="*/ 261800 w 630897"/>
                <a:gd name="connsiteY8" fmla="*/ 780415 h 920207"/>
                <a:gd name="connsiteX9" fmla="*/ 174939 w 630897"/>
                <a:gd name="connsiteY9" fmla="*/ 900992 h 920207"/>
                <a:gd name="connsiteX10" fmla="*/ 132080 w 630897"/>
                <a:gd name="connsiteY10" fmla="*/ 900420 h 920207"/>
                <a:gd name="connsiteX11" fmla="*/ 5789 w 630897"/>
                <a:gd name="connsiteY11" fmla="*/ 737556 h 920207"/>
                <a:gd name="connsiteX12" fmla="*/ 0 w 630897"/>
                <a:gd name="connsiteY12" fmla="*/ 704577 h 920207"/>
                <a:gd name="connsiteX0" fmla="*/ 0 w 625108"/>
                <a:gd name="connsiteY0" fmla="*/ 737556 h 920207"/>
                <a:gd name="connsiteX1" fmla="*/ 213650 w 625108"/>
                <a:gd name="connsiteY1" fmla="*/ 574699 h 920207"/>
                <a:gd name="connsiteX2" fmla="*/ 346725 w 625108"/>
                <a:gd name="connsiteY2" fmla="*/ 417690 h 920207"/>
                <a:gd name="connsiteX3" fmla="*/ 412478 w 625108"/>
                <a:gd name="connsiteY3" fmla="*/ 236679 h 920207"/>
                <a:gd name="connsiteX4" fmla="*/ 411907 w 625108"/>
                <a:gd name="connsiteY4" fmla="*/ 85095 h 920207"/>
                <a:gd name="connsiteX5" fmla="*/ 499443 w 625108"/>
                <a:gd name="connsiteY5" fmla="*/ 12373 h 920207"/>
                <a:gd name="connsiteX6" fmla="*/ 625108 w 625108"/>
                <a:gd name="connsiteY6" fmla="*/ 327886 h 920207"/>
                <a:gd name="connsiteX7" fmla="*/ 405733 w 625108"/>
                <a:gd name="connsiteY7" fmla="*/ 626122 h 920207"/>
                <a:gd name="connsiteX8" fmla="*/ 256011 w 625108"/>
                <a:gd name="connsiteY8" fmla="*/ 780415 h 920207"/>
                <a:gd name="connsiteX9" fmla="*/ 169150 w 625108"/>
                <a:gd name="connsiteY9" fmla="*/ 900992 h 920207"/>
                <a:gd name="connsiteX10" fmla="*/ 126291 w 625108"/>
                <a:gd name="connsiteY10" fmla="*/ 900420 h 920207"/>
                <a:gd name="connsiteX11" fmla="*/ 0 w 625108"/>
                <a:gd name="connsiteY11" fmla="*/ 737556 h 920207"/>
                <a:gd name="connsiteX0" fmla="*/ 0 w 630897"/>
                <a:gd name="connsiteY0" fmla="*/ 704577 h 920207"/>
                <a:gd name="connsiteX1" fmla="*/ 219439 w 630897"/>
                <a:gd name="connsiteY1" fmla="*/ 574699 h 920207"/>
                <a:gd name="connsiteX2" fmla="*/ 352514 w 630897"/>
                <a:gd name="connsiteY2" fmla="*/ 417690 h 920207"/>
                <a:gd name="connsiteX3" fmla="*/ 418267 w 630897"/>
                <a:gd name="connsiteY3" fmla="*/ 236679 h 920207"/>
                <a:gd name="connsiteX4" fmla="*/ 417696 w 630897"/>
                <a:gd name="connsiteY4" fmla="*/ 85095 h 920207"/>
                <a:gd name="connsiteX5" fmla="*/ 505232 w 630897"/>
                <a:gd name="connsiteY5" fmla="*/ 12373 h 920207"/>
                <a:gd name="connsiteX6" fmla="*/ 630897 w 630897"/>
                <a:gd name="connsiteY6" fmla="*/ 327886 h 920207"/>
                <a:gd name="connsiteX7" fmla="*/ 411522 w 630897"/>
                <a:gd name="connsiteY7" fmla="*/ 626122 h 920207"/>
                <a:gd name="connsiteX8" fmla="*/ 261800 w 630897"/>
                <a:gd name="connsiteY8" fmla="*/ 780415 h 920207"/>
                <a:gd name="connsiteX9" fmla="*/ 174939 w 630897"/>
                <a:gd name="connsiteY9" fmla="*/ 900992 h 920207"/>
                <a:gd name="connsiteX10" fmla="*/ 132080 w 630897"/>
                <a:gd name="connsiteY10" fmla="*/ 900420 h 920207"/>
                <a:gd name="connsiteX11" fmla="*/ 0 w 630897"/>
                <a:gd name="connsiteY11" fmla="*/ 704577 h 920207"/>
                <a:gd name="connsiteX0" fmla="*/ 0 w 630897"/>
                <a:gd name="connsiteY0" fmla="*/ 704577 h 920207"/>
                <a:gd name="connsiteX1" fmla="*/ 219439 w 630897"/>
                <a:gd name="connsiteY1" fmla="*/ 574699 h 920207"/>
                <a:gd name="connsiteX2" fmla="*/ 352514 w 630897"/>
                <a:gd name="connsiteY2" fmla="*/ 417690 h 920207"/>
                <a:gd name="connsiteX3" fmla="*/ 418267 w 630897"/>
                <a:gd name="connsiteY3" fmla="*/ 236679 h 920207"/>
                <a:gd name="connsiteX4" fmla="*/ 417696 w 630897"/>
                <a:gd name="connsiteY4" fmla="*/ 85095 h 920207"/>
                <a:gd name="connsiteX5" fmla="*/ 505232 w 630897"/>
                <a:gd name="connsiteY5" fmla="*/ 12373 h 920207"/>
                <a:gd name="connsiteX6" fmla="*/ 630897 w 630897"/>
                <a:gd name="connsiteY6" fmla="*/ 327886 h 920207"/>
                <a:gd name="connsiteX7" fmla="*/ 411522 w 630897"/>
                <a:gd name="connsiteY7" fmla="*/ 626122 h 920207"/>
                <a:gd name="connsiteX8" fmla="*/ 261800 w 630897"/>
                <a:gd name="connsiteY8" fmla="*/ 780415 h 920207"/>
                <a:gd name="connsiteX9" fmla="*/ 174939 w 630897"/>
                <a:gd name="connsiteY9" fmla="*/ 900992 h 920207"/>
                <a:gd name="connsiteX10" fmla="*/ 132080 w 630897"/>
                <a:gd name="connsiteY10" fmla="*/ 900420 h 920207"/>
                <a:gd name="connsiteX11" fmla="*/ 0 w 630897"/>
                <a:gd name="connsiteY11" fmla="*/ 704577 h 920207"/>
                <a:gd name="connsiteX0" fmla="*/ 0 w 630897"/>
                <a:gd name="connsiteY0" fmla="*/ 704577 h 950161"/>
                <a:gd name="connsiteX1" fmla="*/ 219439 w 630897"/>
                <a:gd name="connsiteY1" fmla="*/ 574699 h 950161"/>
                <a:gd name="connsiteX2" fmla="*/ 352514 w 630897"/>
                <a:gd name="connsiteY2" fmla="*/ 417690 h 950161"/>
                <a:gd name="connsiteX3" fmla="*/ 418267 w 630897"/>
                <a:gd name="connsiteY3" fmla="*/ 236679 h 950161"/>
                <a:gd name="connsiteX4" fmla="*/ 417696 w 630897"/>
                <a:gd name="connsiteY4" fmla="*/ 85095 h 950161"/>
                <a:gd name="connsiteX5" fmla="*/ 505232 w 630897"/>
                <a:gd name="connsiteY5" fmla="*/ 12373 h 950161"/>
                <a:gd name="connsiteX6" fmla="*/ 630897 w 630897"/>
                <a:gd name="connsiteY6" fmla="*/ 327886 h 950161"/>
                <a:gd name="connsiteX7" fmla="*/ 411522 w 630897"/>
                <a:gd name="connsiteY7" fmla="*/ 626122 h 950161"/>
                <a:gd name="connsiteX8" fmla="*/ 234251 w 630897"/>
                <a:gd name="connsiteY8" fmla="*/ 943470 h 950161"/>
                <a:gd name="connsiteX9" fmla="*/ 174939 w 630897"/>
                <a:gd name="connsiteY9" fmla="*/ 900992 h 950161"/>
                <a:gd name="connsiteX10" fmla="*/ 132080 w 630897"/>
                <a:gd name="connsiteY10" fmla="*/ 900420 h 950161"/>
                <a:gd name="connsiteX11" fmla="*/ 0 w 630897"/>
                <a:gd name="connsiteY11" fmla="*/ 704577 h 950161"/>
                <a:gd name="connsiteX0" fmla="*/ 0 w 630897"/>
                <a:gd name="connsiteY0" fmla="*/ 704577 h 961892"/>
                <a:gd name="connsiteX1" fmla="*/ 219439 w 630897"/>
                <a:gd name="connsiteY1" fmla="*/ 574699 h 961892"/>
                <a:gd name="connsiteX2" fmla="*/ 352514 w 630897"/>
                <a:gd name="connsiteY2" fmla="*/ 417690 h 961892"/>
                <a:gd name="connsiteX3" fmla="*/ 418267 w 630897"/>
                <a:gd name="connsiteY3" fmla="*/ 236679 h 961892"/>
                <a:gd name="connsiteX4" fmla="*/ 417696 w 630897"/>
                <a:gd name="connsiteY4" fmla="*/ 85095 h 961892"/>
                <a:gd name="connsiteX5" fmla="*/ 505232 w 630897"/>
                <a:gd name="connsiteY5" fmla="*/ 12373 h 961892"/>
                <a:gd name="connsiteX6" fmla="*/ 630897 w 630897"/>
                <a:gd name="connsiteY6" fmla="*/ 327886 h 961892"/>
                <a:gd name="connsiteX7" fmla="*/ 411522 w 630897"/>
                <a:gd name="connsiteY7" fmla="*/ 626122 h 961892"/>
                <a:gd name="connsiteX8" fmla="*/ 234251 w 630897"/>
                <a:gd name="connsiteY8" fmla="*/ 943470 h 961892"/>
                <a:gd name="connsiteX9" fmla="*/ 132080 w 630897"/>
                <a:gd name="connsiteY9" fmla="*/ 900420 h 961892"/>
                <a:gd name="connsiteX10" fmla="*/ 0 w 630897"/>
                <a:gd name="connsiteY10" fmla="*/ 704577 h 961892"/>
                <a:gd name="connsiteX0" fmla="*/ 0 w 630897"/>
                <a:gd name="connsiteY0" fmla="*/ 704577 h 1029364"/>
                <a:gd name="connsiteX1" fmla="*/ 219439 w 630897"/>
                <a:gd name="connsiteY1" fmla="*/ 574699 h 1029364"/>
                <a:gd name="connsiteX2" fmla="*/ 352514 w 630897"/>
                <a:gd name="connsiteY2" fmla="*/ 417690 h 1029364"/>
                <a:gd name="connsiteX3" fmla="*/ 418267 w 630897"/>
                <a:gd name="connsiteY3" fmla="*/ 236679 h 1029364"/>
                <a:gd name="connsiteX4" fmla="*/ 417696 w 630897"/>
                <a:gd name="connsiteY4" fmla="*/ 85095 h 1029364"/>
                <a:gd name="connsiteX5" fmla="*/ 505232 w 630897"/>
                <a:gd name="connsiteY5" fmla="*/ 12373 h 1029364"/>
                <a:gd name="connsiteX6" fmla="*/ 630897 w 630897"/>
                <a:gd name="connsiteY6" fmla="*/ 327886 h 1029364"/>
                <a:gd name="connsiteX7" fmla="*/ 411522 w 630897"/>
                <a:gd name="connsiteY7" fmla="*/ 626122 h 1029364"/>
                <a:gd name="connsiteX8" fmla="*/ 234251 w 630897"/>
                <a:gd name="connsiteY8" fmla="*/ 943470 h 1029364"/>
                <a:gd name="connsiteX9" fmla="*/ 84855 w 630897"/>
                <a:gd name="connsiteY9" fmla="*/ 1014559 h 1029364"/>
                <a:gd name="connsiteX10" fmla="*/ 0 w 630897"/>
                <a:gd name="connsiteY10" fmla="*/ 704577 h 1029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0897" h="1029364">
                  <a:moveTo>
                    <a:pt x="0" y="704577"/>
                  </a:moveTo>
                  <a:cubicBezTo>
                    <a:pt x="87618" y="688266"/>
                    <a:pt x="160687" y="622513"/>
                    <a:pt x="219439" y="574699"/>
                  </a:cubicBezTo>
                  <a:cubicBezTo>
                    <a:pt x="278191" y="526885"/>
                    <a:pt x="319376" y="474027"/>
                    <a:pt x="352514" y="417690"/>
                  </a:cubicBezTo>
                  <a:cubicBezTo>
                    <a:pt x="385652" y="361353"/>
                    <a:pt x="419981" y="306397"/>
                    <a:pt x="418267" y="236679"/>
                  </a:cubicBezTo>
                  <a:cubicBezTo>
                    <a:pt x="416552" y="182962"/>
                    <a:pt x="417696" y="138812"/>
                    <a:pt x="417696" y="85095"/>
                  </a:cubicBezTo>
                  <a:cubicBezTo>
                    <a:pt x="418268" y="41665"/>
                    <a:pt x="472050" y="-28592"/>
                    <a:pt x="505232" y="12373"/>
                  </a:cubicBezTo>
                  <a:cubicBezTo>
                    <a:pt x="516707" y="96752"/>
                    <a:pt x="592603" y="208754"/>
                    <a:pt x="630897" y="327886"/>
                  </a:cubicBezTo>
                  <a:cubicBezTo>
                    <a:pt x="602496" y="423037"/>
                    <a:pt x="477630" y="523525"/>
                    <a:pt x="411522" y="626122"/>
                  </a:cubicBezTo>
                  <a:cubicBezTo>
                    <a:pt x="345414" y="728719"/>
                    <a:pt x="288696" y="878730"/>
                    <a:pt x="234251" y="943470"/>
                  </a:cubicBezTo>
                  <a:cubicBezTo>
                    <a:pt x="179806" y="1008210"/>
                    <a:pt x="123897" y="1054374"/>
                    <a:pt x="84855" y="1014559"/>
                  </a:cubicBezTo>
                  <a:cubicBezTo>
                    <a:pt x="61426" y="979700"/>
                    <a:pt x="17144" y="722863"/>
                    <a:pt x="0" y="704577"/>
                  </a:cubicBezTo>
                  <a:close/>
                </a:path>
              </a:pathLst>
            </a:custGeom>
            <a:gradFill>
              <a:gsLst>
                <a:gs pos="29000">
                  <a:schemeClr val="accent2">
                    <a:lumMod val="20000"/>
                    <a:lumOff val="80000"/>
                  </a:schemeClr>
                </a:gs>
                <a:gs pos="0">
                  <a:schemeClr val="bg1">
                    <a:lumMod val="95000"/>
                  </a:schemeClr>
                </a:gs>
                <a:gs pos="100000">
                  <a:schemeClr val="accent2">
                    <a:lumMod val="50000"/>
                  </a:schemeClr>
                </a:gs>
              </a:gsLst>
              <a:lin ang="11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1" name="Freeform: Shape 59">
              <a:extLst>
                <a:ext uri="{FF2B5EF4-FFF2-40B4-BE49-F238E27FC236}">
                  <a16:creationId xmlns:a16="http://schemas.microsoft.com/office/drawing/2014/main" id="{37F13487-9580-4D55-91E1-D83FB4727A2C}"/>
                </a:ext>
              </a:extLst>
            </p:cNvPr>
            <p:cNvSpPr/>
            <p:nvPr/>
          </p:nvSpPr>
          <p:spPr>
            <a:xfrm flipH="1">
              <a:off x="1999709" y="5272484"/>
              <a:ext cx="227881" cy="269569"/>
            </a:xfrm>
            <a:custGeom>
              <a:avLst/>
              <a:gdLst>
                <a:gd name="connsiteX0" fmla="*/ 62530 w 280192"/>
                <a:gd name="connsiteY0" fmla="*/ 21715 h 331449"/>
                <a:gd name="connsiteX1" fmla="*/ 25957 w 280192"/>
                <a:gd name="connsiteY1" fmla="*/ 17715 h 331449"/>
                <a:gd name="connsiteX2" fmla="*/ 141391 w 280192"/>
                <a:gd name="connsiteY2" fmla="*/ 0 h 331449"/>
                <a:gd name="connsiteX3" fmla="*/ 279111 w 280192"/>
                <a:gd name="connsiteY3" fmla="*/ 140006 h 331449"/>
                <a:gd name="connsiteX4" fmla="*/ 265968 w 280192"/>
                <a:gd name="connsiteY4" fmla="*/ 266298 h 331449"/>
                <a:gd name="connsiteX5" fmla="*/ 211679 w 280192"/>
                <a:gd name="connsiteY5" fmla="*/ 331444 h 331449"/>
                <a:gd name="connsiteX6" fmla="*/ 49386 w 280192"/>
                <a:gd name="connsiteY6" fmla="*/ 318300 h 331449"/>
                <a:gd name="connsiteX7" fmla="*/ 5384 w 280192"/>
                <a:gd name="connsiteY7" fmla="*/ 294299 h 331449"/>
                <a:gd name="connsiteX8" fmla="*/ 813 w 280192"/>
                <a:gd name="connsiteY8" fmla="*/ 278870 h 331449"/>
                <a:gd name="connsiteX9" fmla="*/ 77959 w 280192"/>
                <a:gd name="connsiteY9" fmla="*/ 268584 h 331449"/>
                <a:gd name="connsiteX10" fmla="*/ 62530 w 280192"/>
                <a:gd name="connsiteY10" fmla="*/ 21715 h 33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192" h="331449">
                  <a:moveTo>
                    <a:pt x="62530" y="21715"/>
                  </a:moveTo>
                  <a:cubicBezTo>
                    <a:pt x="50529" y="17715"/>
                    <a:pt x="38529" y="18287"/>
                    <a:pt x="25957" y="17715"/>
                  </a:cubicBezTo>
                  <a:cubicBezTo>
                    <a:pt x="63673" y="6858"/>
                    <a:pt x="103103" y="7429"/>
                    <a:pt x="141391" y="0"/>
                  </a:cubicBezTo>
                  <a:cubicBezTo>
                    <a:pt x="232252" y="6286"/>
                    <a:pt x="272825" y="47431"/>
                    <a:pt x="279111" y="140006"/>
                  </a:cubicBezTo>
                  <a:cubicBezTo>
                    <a:pt x="281968" y="182865"/>
                    <a:pt x="279683" y="225153"/>
                    <a:pt x="265968" y="266298"/>
                  </a:cubicBezTo>
                  <a:cubicBezTo>
                    <a:pt x="259110" y="288013"/>
                    <a:pt x="226537" y="332015"/>
                    <a:pt x="211679" y="331444"/>
                  </a:cubicBezTo>
                  <a:cubicBezTo>
                    <a:pt x="166535" y="329729"/>
                    <a:pt x="94531" y="327443"/>
                    <a:pt x="49386" y="318300"/>
                  </a:cubicBezTo>
                  <a:cubicBezTo>
                    <a:pt x="33386" y="312586"/>
                    <a:pt x="17385" y="306871"/>
                    <a:pt x="5384" y="294299"/>
                  </a:cubicBezTo>
                  <a:cubicBezTo>
                    <a:pt x="1384" y="289727"/>
                    <a:pt x="-1473" y="284584"/>
                    <a:pt x="813" y="278870"/>
                  </a:cubicBezTo>
                  <a:cubicBezTo>
                    <a:pt x="3099" y="273155"/>
                    <a:pt x="30528" y="311443"/>
                    <a:pt x="77959" y="268584"/>
                  </a:cubicBezTo>
                  <a:cubicBezTo>
                    <a:pt x="177392" y="181151"/>
                    <a:pt x="138533" y="46288"/>
                    <a:pt x="62530" y="21715"/>
                  </a:cubicBezTo>
                  <a:close/>
                </a:path>
              </a:pathLst>
            </a:custGeom>
            <a:solidFill>
              <a:schemeClr val="tx1">
                <a:lumMod val="50000"/>
                <a:lumOff val="50000"/>
              </a:schemeClr>
            </a:solidFill>
            <a:ln w="5709" cap="flat">
              <a:noFill/>
              <a:prstDash val="solid"/>
              <a:miter/>
            </a:ln>
          </p:spPr>
          <p:txBody>
            <a:bodyPr rtlCol="0" anchor="ctr"/>
            <a:lstStyle/>
            <a:p>
              <a:endParaRPr lang="en-US"/>
            </a:p>
          </p:txBody>
        </p:sp>
        <p:sp>
          <p:nvSpPr>
            <p:cNvPr id="42" name="Freeform: Shape 60">
              <a:extLst>
                <a:ext uri="{FF2B5EF4-FFF2-40B4-BE49-F238E27FC236}">
                  <a16:creationId xmlns:a16="http://schemas.microsoft.com/office/drawing/2014/main" id="{8DC76988-98A0-4CF1-BD9E-59C85B42DB78}"/>
                </a:ext>
              </a:extLst>
            </p:cNvPr>
            <p:cNvSpPr/>
            <p:nvPr/>
          </p:nvSpPr>
          <p:spPr>
            <a:xfrm flipH="1">
              <a:off x="1887006" y="5701391"/>
              <a:ext cx="315607" cy="398377"/>
            </a:xfrm>
            <a:custGeom>
              <a:avLst/>
              <a:gdLst>
                <a:gd name="connsiteX0" fmla="*/ 388056 w 388055"/>
                <a:gd name="connsiteY0" fmla="*/ 11519 h 489825"/>
                <a:gd name="connsiteX1" fmla="*/ 199476 w 388055"/>
                <a:gd name="connsiteY1" fmla="*/ 280102 h 489825"/>
                <a:gd name="connsiteX2" fmla="*/ 170903 w 388055"/>
                <a:gd name="connsiteY2" fmla="*/ 444110 h 489825"/>
                <a:gd name="connsiteX3" fmla="*/ 173760 w 388055"/>
                <a:gd name="connsiteY3" fmla="*/ 489826 h 489825"/>
                <a:gd name="connsiteX4" fmla="*/ 58898 w 388055"/>
                <a:gd name="connsiteY4" fmla="*/ 419537 h 489825"/>
                <a:gd name="connsiteX5" fmla="*/ 38 w 388055"/>
                <a:gd name="connsiteY5" fmla="*/ 262958 h 489825"/>
                <a:gd name="connsiteX6" fmla="*/ 23468 w 388055"/>
                <a:gd name="connsiteY6" fmla="*/ 119524 h 489825"/>
                <a:gd name="connsiteX7" fmla="*/ 158331 w 388055"/>
                <a:gd name="connsiteY7" fmla="*/ 6376 h 489825"/>
                <a:gd name="connsiteX8" fmla="*/ 185761 w 388055"/>
                <a:gd name="connsiteY8" fmla="*/ 661 h 489825"/>
                <a:gd name="connsiteX9" fmla="*/ 388056 w 388055"/>
                <a:gd name="connsiteY9" fmla="*/ 11519 h 48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055" h="489825">
                  <a:moveTo>
                    <a:pt x="388056" y="11519"/>
                  </a:moveTo>
                  <a:cubicBezTo>
                    <a:pt x="290908" y="76664"/>
                    <a:pt x="217762" y="159525"/>
                    <a:pt x="199476" y="280102"/>
                  </a:cubicBezTo>
                  <a:cubicBezTo>
                    <a:pt x="190332" y="340105"/>
                    <a:pt x="177189" y="383535"/>
                    <a:pt x="170903" y="444110"/>
                  </a:cubicBezTo>
                  <a:cubicBezTo>
                    <a:pt x="170332" y="453824"/>
                    <a:pt x="165760" y="482968"/>
                    <a:pt x="173760" y="489826"/>
                  </a:cubicBezTo>
                  <a:cubicBezTo>
                    <a:pt x="134902" y="458396"/>
                    <a:pt x="98328" y="441252"/>
                    <a:pt x="58898" y="419537"/>
                  </a:cubicBezTo>
                  <a:cubicBezTo>
                    <a:pt x="23468" y="400107"/>
                    <a:pt x="-1105" y="327533"/>
                    <a:pt x="38" y="262958"/>
                  </a:cubicBezTo>
                  <a:cubicBezTo>
                    <a:pt x="610" y="213242"/>
                    <a:pt x="1181" y="164668"/>
                    <a:pt x="23468" y="119524"/>
                  </a:cubicBezTo>
                  <a:cubicBezTo>
                    <a:pt x="51469" y="61235"/>
                    <a:pt x="98900" y="26377"/>
                    <a:pt x="158331" y="6376"/>
                  </a:cubicBezTo>
                  <a:cubicBezTo>
                    <a:pt x="167474" y="4661"/>
                    <a:pt x="176618" y="2947"/>
                    <a:pt x="185761" y="661"/>
                  </a:cubicBezTo>
                  <a:cubicBezTo>
                    <a:pt x="205190" y="-2768"/>
                    <a:pt x="341768" y="8090"/>
                    <a:pt x="388056" y="11519"/>
                  </a:cubicBezTo>
                  <a:close/>
                </a:path>
              </a:pathLst>
            </a:custGeom>
            <a:solidFill>
              <a:schemeClr val="tx1">
                <a:lumMod val="50000"/>
                <a:lumOff val="50000"/>
              </a:schemeClr>
            </a:solidFill>
            <a:ln w="5709" cap="flat">
              <a:noFill/>
              <a:prstDash val="solid"/>
              <a:miter/>
            </a:ln>
          </p:spPr>
          <p:txBody>
            <a:bodyPr rtlCol="0" anchor="ctr"/>
            <a:lstStyle/>
            <a:p>
              <a:endParaRPr lang="en-US"/>
            </a:p>
          </p:txBody>
        </p:sp>
        <p:sp>
          <p:nvSpPr>
            <p:cNvPr id="43" name="Freeform: Shape 61">
              <a:extLst>
                <a:ext uri="{FF2B5EF4-FFF2-40B4-BE49-F238E27FC236}">
                  <a16:creationId xmlns:a16="http://schemas.microsoft.com/office/drawing/2014/main" id="{09D11A54-8ED8-46E5-8857-6B39FE1144B0}"/>
                </a:ext>
              </a:extLst>
            </p:cNvPr>
            <p:cNvSpPr/>
            <p:nvPr/>
          </p:nvSpPr>
          <p:spPr>
            <a:xfrm>
              <a:off x="862681" y="3807661"/>
              <a:ext cx="496362" cy="780594"/>
            </a:xfrm>
            <a:custGeom>
              <a:avLst/>
              <a:gdLst>
                <a:gd name="connsiteX0" fmla="*/ 203850 w 773445"/>
                <a:gd name="connsiteY0" fmla="*/ 0 h 1216342"/>
                <a:gd name="connsiteX1" fmla="*/ 544845 w 773445"/>
                <a:gd name="connsiteY1" fmla="*/ 807720 h 1216342"/>
                <a:gd name="connsiteX2" fmla="*/ 605805 w 773445"/>
                <a:gd name="connsiteY2" fmla="*/ 905828 h 1216342"/>
                <a:gd name="connsiteX3" fmla="*/ 773445 w 773445"/>
                <a:gd name="connsiteY3" fmla="*/ 1216343 h 1216342"/>
                <a:gd name="connsiteX4" fmla="*/ 492458 w 773445"/>
                <a:gd name="connsiteY4" fmla="*/ 960120 h 1216342"/>
                <a:gd name="connsiteX5" fmla="*/ 371490 w 773445"/>
                <a:gd name="connsiteY5" fmla="*/ 852488 h 1216342"/>
                <a:gd name="connsiteX6" fmla="*/ 234330 w 773445"/>
                <a:gd name="connsiteY6" fmla="*/ 919163 h 1216342"/>
                <a:gd name="connsiteX7" fmla="*/ 46688 w 773445"/>
                <a:gd name="connsiteY7" fmla="*/ 1199198 h 1216342"/>
                <a:gd name="connsiteX8" fmla="*/ 4778 w 773445"/>
                <a:gd name="connsiteY8" fmla="*/ 751523 h 1216342"/>
                <a:gd name="connsiteX9" fmla="*/ 12398 w 773445"/>
                <a:gd name="connsiteY9" fmla="*/ 283845 h 1216342"/>
                <a:gd name="connsiteX10" fmla="*/ 2873 w 773445"/>
                <a:gd name="connsiteY10" fmla="*/ 220980 h 1216342"/>
                <a:gd name="connsiteX11" fmla="*/ 203850 w 773445"/>
                <a:gd name="connsiteY11" fmla="*/ 0 h 1216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3445" h="1216342">
                  <a:moveTo>
                    <a:pt x="203850" y="0"/>
                  </a:moveTo>
                  <a:cubicBezTo>
                    <a:pt x="160035" y="335280"/>
                    <a:pt x="352440" y="571500"/>
                    <a:pt x="544845" y="807720"/>
                  </a:cubicBezTo>
                  <a:cubicBezTo>
                    <a:pt x="569610" y="838200"/>
                    <a:pt x="613425" y="864870"/>
                    <a:pt x="605805" y="905828"/>
                  </a:cubicBezTo>
                  <a:cubicBezTo>
                    <a:pt x="579135" y="1056323"/>
                    <a:pt x="680100" y="1133475"/>
                    <a:pt x="773445" y="1216343"/>
                  </a:cubicBezTo>
                  <a:cubicBezTo>
                    <a:pt x="651525" y="1163003"/>
                    <a:pt x="507698" y="1135380"/>
                    <a:pt x="492458" y="960120"/>
                  </a:cubicBezTo>
                  <a:cubicBezTo>
                    <a:pt x="486743" y="894398"/>
                    <a:pt x="433403" y="862965"/>
                    <a:pt x="371490" y="852488"/>
                  </a:cubicBezTo>
                  <a:cubicBezTo>
                    <a:pt x="310530" y="842010"/>
                    <a:pt x="264810" y="863918"/>
                    <a:pt x="234330" y="919163"/>
                  </a:cubicBezTo>
                  <a:cubicBezTo>
                    <a:pt x="180038" y="1014413"/>
                    <a:pt x="123840" y="1107758"/>
                    <a:pt x="46688" y="1199198"/>
                  </a:cubicBezTo>
                  <a:cubicBezTo>
                    <a:pt x="32400" y="1049655"/>
                    <a:pt x="9540" y="901065"/>
                    <a:pt x="4778" y="751523"/>
                  </a:cubicBezTo>
                  <a:cubicBezTo>
                    <a:pt x="15" y="595313"/>
                    <a:pt x="-5700" y="439103"/>
                    <a:pt x="12398" y="283845"/>
                  </a:cubicBezTo>
                  <a:cubicBezTo>
                    <a:pt x="14303" y="263843"/>
                    <a:pt x="6683" y="241935"/>
                    <a:pt x="2873" y="220980"/>
                  </a:cubicBezTo>
                  <a:cubicBezTo>
                    <a:pt x="76215" y="153353"/>
                    <a:pt x="102885" y="41910"/>
                    <a:pt x="203850" y="0"/>
                  </a:cubicBezTo>
                  <a:close/>
                </a:path>
              </a:pathLst>
            </a:custGeom>
            <a:solidFill>
              <a:schemeClr val="tx1">
                <a:lumMod val="50000"/>
                <a:lumOff val="50000"/>
              </a:schemeClr>
            </a:solidFill>
            <a:ln w="9525" cap="flat">
              <a:noFill/>
              <a:prstDash val="solid"/>
              <a:miter/>
            </a:ln>
          </p:spPr>
          <p:txBody>
            <a:bodyPr rtlCol="0" anchor="ctr"/>
            <a:lstStyle/>
            <a:p>
              <a:endParaRPr lang="en-US"/>
            </a:p>
          </p:txBody>
        </p:sp>
        <p:sp>
          <p:nvSpPr>
            <p:cNvPr id="44" name="Freeform: Shape 62">
              <a:extLst>
                <a:ext uri="{FF2B5EF4-FFF2-40B4-BE49-F238E27FC236}">
                  <a16:creationId xmlns:a16="http://schemas.microsoft.com/office/drawing/2014/main" id="{99C614B2-0156-4DF0-B512-0E3993A4487D}"/>
                </a:ext>
              </a:extLst>
            </p:cNvPr>
            <p:cNvSpPr/>
            <p:nvPr/>
          </p:nvSpPr>
          <p:spPr>
            <a:xfrm rot="21033141">
              <a:off x="1302401" y="4103182"/>
              <a:ext cx="260812" cy="462508"/>
            </a:xfrm>
            <a:custGeom>
              <a:avLst/>
              <a:gdLst>
                <a:gd name="connsiteX0" fmla="*/ 0 w 643473"/>
                <a:gd name="connsiteY0" fmla="*/ 1141095 h 1141095"/>
                <a:gd name="connsiteX1" fmla="*/ 136208 w 643473"/>
                <a:gd name="connsiteY1" fmla="*/ 850583 h 1141095"/>
                <a:gd name="connsiteX2" fmla="*/ 170498 w 643473"/>
                <a:gd name="connsiteY2" fmla="*/ 768668 h 1141095"/>
                <a:gd name="connsiteX3" fmla="*/ 390525 w 643473"/>
                <a:gd name="connsiteY3" fmla="*/ 0 h 1141095"/>
                <a:gd name="connsiteX4" fmla="*/ 571500 w 643473"/>
                <a:gd name="connsiteY4" fmla="*/ 187643 h 1141095"/>
                <a:gd name="connsiteX5" fmla="*/ 616268 w 643473"/>
                <a:gd name="connsiteY5" fmla="*/ 1098233 h 1141095"/>
                <a:gd name="connsiteX6" fmla="*/ 476250 w 643473"/>
                <a:gd name="connsiteY6" fmla="*/ 860108 h 1141095"/>
                <a:gd name="connsiteX7" fmla="*/ 340042 w 643473"/>
                <a:gd name="connsiteY7" fmla="*/ 777240 h 1141095"/>
                <a:gd name="connsiteX8" fmla="*/ 232410 w 643473"/>
                <a:gd name="connsiteY8" fmla="*/ 893445 h 1141095"/>
                <a:gd name="connsiteX9" fmla="*/ 0 w 643473"/>
                <a:gd name="connsiteY9" fmla="*/ 1141095 h 114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3473" h="1141095">
                  <a:moveTo>
                    <a:pt x="0" y="1141095"/>
                  </a:moveTo>
                  <a:cubicBezTo>
                    <a:pt x="80010" y="1060133"/>
                    <a:pt x="159068" y="980123"/>
                    <a:pt x="136208" y="850583"/>
                  </a:cubicBezTo>
                  <a:cubicBezTo>
                    <a:pt x="130493" y="820103"/>
                    <a:pt x="150495" y="792480"/>
                    <a:pt x="170498" y="768668"/>
                  </a:cubicBezTo>
                  <a:cubicBezTo>
                    <a:pt x="360998" y="545783"/>
                    <a:pt x="451485" y="294323"/>
                    <a:pt x="390525" y="0"/>
                  </a:cubicBezTo>
                  <a:cubicBezTo>
                    <a:pt x="492442" y="21908"/>
                    <a:pt x="508635" y="127635"/>
                    <a:pt x="571500" y="187643"/>
                  </a:cubicBezTo>
                  <a:cubicBezTo>
                    <a:pt x="639128" y="482918"/>
                    <a:pt x="669608" y="780098"/>
                    <a:pt x="616268" y="1098233"/>
                  </a:cubicBezTo>
                  <a:cubicBezTo>
                    <a:pt x="552450" y="1016318"/>
                    <a:pt x="513398" y="938213"/>
                    <a:pt x="476250" y="860108"/>
                  </a:cubicBezTo>
                  <a:cubicBezTo>
                    <a:pt x="448628" y="801053"/>
                    <a:pt x="408623" y="769620"/>
                    <a:pt x="340042" y="777240"/>
                  </a:cubicBezTo>
                  <a:cubicBezTo>
                    <a:pt x="269558" y="785813"/>
                    <a:pt x="243840" y="830580"/>
                    <a:pt x="232410" y="893445"/>
                  </a:cubicBezTo>
                  <a:cubicBezTo>
                    <a:pt x="208598" y="1025843"/>
                    <a:pt x="132398" y="1109663"/>
                    <a:pt x="0" y="1141095"/>
                  </a:cubicBez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45" name="Freeform: Shape 63">
              <a:extLst>
                <a:ext uri="{FF2B5EF4-FFF2-40B4-BE49-F238E27FC236}">
                  <a16:creationId xmlns:a16="http://schemas.microsoft.com/office/drawing/2014/main" id="{914385BD-1F03-49FA-A78A-0F6A1DA9EA08}"/>
                </a:ext>
              </a:extLst>
            </p:cNvPr>
            <p:cNvSpPr/>
            <p:nvPr/>
          </p:nvSpPr>
          <p:spPr>
            <a:xfrm>
              <a:off x="1351035" y="4618107"/>
              <a:ext cx="73448" cy="700087"/>
            </a:xfrm>
            <a:custGeom>
              <a:avLst/>
              <a:gdLst>
                <a:gd name="connsiteX0" fmla="*/ 106 w 73448"/>
                <a:gd name="connsiteY0" fmla="*/ 0 h 700087"/>
                <a:gd name="connsiteX1" fmla="*/ 18203 w 73448"/>
                <a:gd name="connsiteY1" fmla="*/ 5715 h 700087"/>
                <a:gd name="connsiteX2" fmla="*/ 51541 w 73448"/>
                <a:gd name="connsiteY2" fmla="*/ 287655 h 700087"/>
                <a:gd name="connsiteX3" fmla="*/ 73448 w 73448"/>
                <a:gd name="connsiteY3" fmla="*/ 700088 h 700087"/>
                <a:gd name="connsiteX4" fmla="*/ 2963 w 73448"/>
                <a:gd name="connsiteY4" fmla="*/ 583883 h 700087"/>
                <a:gd name="connsiteX5" fmla="*/ 106 w 73448"/>
                <a:gd name="connsiteY5" fmla="*/ 0 h 70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448" h="700087">
                  <a:moveTo>
                    <a:pt x="106" y="0"/>
                  </a:moveTo>
                  <a:cubicBezTo>
                    <a:pt x="5821" y="1905"/>
                    <a:pt x="12488" y="3810"/>
                    <a:pt x="18203" y="5715"/>
                  </a:cubicBezTo>
                  <a:cubicBezTo>
                    <a:pt x="46778" y="97155"/>
                    <a:pt x="42016" y="193358"/>
                    <a:pt x="51541" y="287655"/>
                  </a:cubicBezTo>
                  <a:cubicBezTo>
                    <a:pt x="64876" y="424815"/>
                    <a:pt x="66781" y="561975"/>
                    <a:pt x="73448" y="700088"/>
                  </a:cubicBezTo>
                  <a:cubicBezTo>
                    <a:pt x="-3704" y="694373"/>
                    <a:pt x="3916" y="632460"/>
                    <a:pt x="2963" y="583883"/>
                  </a:cubicBezTo>
                  <a:cubicBezTo>
                    <a:pt x="-847" y="389573"/>
                    <a:pt x="106" y="194310"/>
                    <a:pt x="106" y="0"/>
                  </a:cubicBezTo>
                  <a:close/>
                </a:path>
              </a:pathLst>
            </a:custGeom>
            <a:solidFill>
              <a:schemeClr val="tx1">
                <a:lumMod val="50000"/>
                <a:lumOff val="50000"/>
              </a:schemeClr>
            </a:solidFill>
            <a:ln w="9525" cap="flat">
              <a:noFill/>
              <a:prstDash val="solid"/>
              <a:miter/>
            </a:ln>
          </p:spPr>
          <p:txBody>
            <a:bodyPr rtlCol="0" anchor="ctr"/>
            <a:lstStyle/>
            <a:p>
              <a:endParaRPr lang="en-US"/>
            </a:p>
          </p:txBody>
        </p:sp>
        <p:sp>
          <p:nvSpPr>
            <p:cNvPr id="46" name="Freeform: Shape 64">
              <a:extLst>
                <a:ext uri="{FF2B5EF4-FFF2-40B4-BE49-F238E27FC236}">
                  <a16:creationId xmlns:a16="http://schemas.microsoft.com/office/drawing/2014/main" id="{2497DFD0-2A3E-496D-A464-C97FA195464C}"/>
                </a:ext>
              </a:extLst>
            </p:cNvPr>
            <p:cNvSpPr/>
            <p:nvPr/>
          </p:nvSpPr>
          <p:spPr>
            <a:xfrm flipH="1">
              <a:off x="962751" y="2988706"/>
              <a:ext cx="980684" cy="1332769"/>
            </a:xfrm>
            <a:custGeom>
              <a:avLst/>
              <a:gdLst>
                <a:gd name="connsiteX0" fmla="*/ 644380 w 1205803"/>
                <a:gd name="connsiteY0" fmla="*/ 1651278 h 1653800"/>
                <a:gd name="connsiteX1" fmla="*/ 646463 w 1205803"/>
                <a:gd name="connsiteY1" fmla="*/ 1653765 h 1653800"/>
                <a:gd name="connsiteX2" fmla="*/ 646396 w 1205803"/>
                <a:gd name="connsiteY2" fmla="*/ 1653800 h 1653800"/>
                <a:gd name="connsiteX3" fmla="*/ 1145212 w 1205803"/>
                <a:gd name="connsiteY3" fmla="*/ 913534 h 1653800"/>
                <a:gd name="connsiteX4" fmla="*/ 1149524 w 1205803"/>
                <a:gd name="connsiteY4" fmla="*/ 943291 h 1653800"/>
                <a:gd name="connsiteX5" fmla="*/ 1114092 w 1205803"/>
                <a:gd name="connsiteY5" fmla="*/ 943291 h 1653800"/>
                <a:gd name="connsiteX6" fmla="*/ 1130354 w 1205803"/>
                <a:gd name="connsiteY6" fmla="*/ 927821 h 1653800"/>
                <a:gd name="connsiteX7" fmla="*/ 1144712 w 1205803"/>
                <a:gd name="connsiteY7" fmla="*/ 913749 h 1653800"/>
                <a:gd name="connsiteX8" fmla="*/ 1144717 w 1205803"/>
                <a:gd name="connsiteY8" fmla="*/ 913732 h 1653800"/>
                <a:gd name="connsiteX9" fmla="*/ 598259 w 1205803"/>
                <a:gd name="connsiteY9" fmla="*/ 279 h 1653800"/>
                <a:gd name="connsiteX10" fmla="*/ 789196 w 1205803"/>
                <a:gd name="connsiteY10" fmla="*/ 41495 h 1653800"/>
                <a:gd name="connsiteX11" fmla="*/ 983490 w 1205803"/>
                <a:gd name="connsiteY11" fmla="*/ 212931 h 1653800"/>
                <a:gd name="connsiteX12" fmla="*/ 1046350 w 1205803"/>
                <a:gd name="connsiteY12" fmla="*/ 511802 h 1653800"/>
                <a:gd name="connsiteX13" fmla="*/ 1094353 w 1205803"/>
                <a:gd name="connsiteY13" fmla="*/ 473514 h 1653800"/>
                <a:gd name="connsiteX14" fmla="*/ 1157213 w 1205803"/>
                <a:gd name="connsiteY14" fmla="*/ 527231 h 1653800"/>
                <a:gd name="connsiteX15" fmla="*/ 1205786 w 1205803"/>
                <a:gd name="connsiteY15" fmla="*/ 770099 h 1653800"/>
                <a:gd name="connsiteX16" fmla="*/ 1174927 w 1205803"/>
                <a:gd name="connsiteY16" fmla="*/ 867246 h 1653800"/>
                <a:gd name="connsiteX17" fmla="*/ 1146926 w 1205803"/>
                <a:gd name="connsiteY17" fmla="*/ 910677 h 1653800"/>
                <a:gd name="connsiteX18" fmla="*/ 1145500 w 1205803"/>
                <a:gd name="connsiteY18" fmla="*/ 910881 h 1653800"/>
                <a:gd name="connsiteX19" fmla="*/ 1146828 w 1205803"/>
                <a:gd name="connsiteY19" fmla="*/ 906043 h 1653800"/>
                <a:gd name="connsiteX20" fmla="*/ 1137212 w 1205803"/>
                <a:gd name="connsiteY20" fmla="*/ 902677 h 1653800"/>
                <a:gd name="connsiteX21" fmla="*/ 1054922 w 1205803"/>
                <a:gd name="connsiteY21" fmla="*/ 983823 h 1653800"/>
                <a:gd name="connsiteX22" fmla="*/ 1055494 w 1205803"/>
                <a:gd name="connsiteY22" fmla="*/ 1144402 h 1653800"/>
                <a:gd name="connsiteX23" fmla="*/ 992634 w 1205803"/>
                <a:gd name="connsiteY23" fmla="*/ 1328410 h 1653800"/>
                <a:gd name="connsiteX24" fmla="*/ 853770 w 1205803"/>
                <a:gd name="connsiteY24" fmla="*/ 1488418 h 1653800"/>
                <a:gd name="connsiteX25" fmla="*/ 651683 w 1205803"/>
                <a:gd name="connsiteY25" fmla="*/ 1630737 h 1653800"/>
                <a:gd name="connsiteX26" fmla="*/ 634660 w 1205803"/>
                <a:gd name="connsiteY26" fmla="*/ 1639121 h 1653800"/>
                <a:gd name="connsiteX27" fmla="*/ 634332 w 1205803"/>
                <a:gd name="connsiteY27" fmla="*/ 1638710 h 1653800"/>
                <a:gd name="connsiteX28" fmla="*/ 634903 w 1205803"/>
                <a:gd name="connsiteY28" fmla="*/ 1634709 h 1653800"/>
                <a:gd name="connsiteX29" fmla="*/ 550328 w 1205803"/>
                <a:gd name="connsiteY29" fmla="*/ 1638710 h 1653800"/>
                <a:gd name="connsiteX30" fmla="*/ 456609 w 1205803"/>
                <a:gd name="connsiteY30" fmla="*/ 1575850 h 1653800"/>
                <a:gd name="connsiteX31" fmla="*/ 417179 w 1205803"/>
                <a:gd name="connsiteY31" fmla="*/ 1515847 h 1653800"/>
                <a:gd name="connsiteX32" fmla="*/ 161167 w 1205803"/>
                <a:gd name="connsiteY32" fmla="*/ 1154688 h 1653800"/>
                <a:gd name="connsiteX33" fmla="*/ 23447 w 1205803"/>
                <a:gd name="connsiteY33" fmla="*/ 779814 h 1653800"/>
                <a:gd name="connsiteX34" fmla="*/ 17 w 1205803"/>
                <a:gd name="connsiteY34" fmla="*/ 587805 h 1653800"/>
                <a:gd name="connsiteX35" fmla="*/ 589 w 1205803"/>
                <a:gd name="connsiteY35" fmla="*/ 544375 h 1653800"/>
                <a:gd name="connsiteX36" fmla="*/ 77164 w 1205803"/>
                <a:gd name="connsiteY36" fmla="*/ 250647 h 1653800"/>
                <a:gd name="connsiteX37" fmla="*/ 393178 w 1205803"/>
                <a:gd name="connsiteY37" fmla="*/ 37495 h 1653800"/>
                <a:gd name="connsiteX38" fmla="*/ 598259 w 1205803"/>
                <a:gd name="connsiteY38" fmla="*/ 279 h 1653800"/>
                <a:gd name="connsiteX0" fmla="*/ 646396 w 1205803"/>
                <a:gd name="connsiteY0" fmla="*/ 1653800 h 1653800"/>
                <a:gd name="connsiteX1" fmla="*/ 646463 w 1205803"/>
                <a:gd name="connsiteY1" fmla="*/ 1653765 h 1653800"/>
                <a:gd name="connsiteX2" fmla="*/ 646396 w 1205803"/>
                <a:gd name="connsiteY2" fmla="*/ 1653800 h 1653800"/>
                <a:gd name="connsiteX3" fmla="*/ 1145212 w 1205803"/>
                <a:gd name="connsiteY3" fmla="*/ 913534 h 1653800"/>
                <a:gd name="connsiteX4" fmla="*/ 1149524 w 1205803"/>
                <a:gd name="connsiteY4" fmla="*/ 943291 h 1653800"/>
                <a:gd name="connsiteX5" fmla="*/ 1114092 w 1205803"/>
                <a:gd name="connsiteY5" fmla="*/ 943291 h 1653800"/>
                <a:gd name="connsiteX6" fmla="*/ 1130354 w 1205803"/>
                <a:gd name="connsiteY6" fmla="*/ 927821 h 1653800"/>
                <a:gd name="connsiteX7" fmla="*/ 1144712 w 1205803"/>
                <a:gd name="connsiteY7" fmla="*/ 913749 h 1653800"/>
                <a:gd name="connsiteX8" fmla="*/ 1144717 w 1205803"/>
                <a:gd name="connsiteY8" fmla="*/ 913732 h 1653800"/>
                <a:gd name="connsiteX9" fmla="*/ 1145212 w 1205803"/>
                <a:gd name="connsiteY9" fmla="*/ 913534 h 1653800"/>
                <a:gd name="connsiteX10" fmla="*/ 598259 w 1205803"/>
                <a:gd name="connsiteY10" fmla="*/ 279 h 1653800"/>
                <a:gd name="connsiteX11" fmla="*/ 789196 w 1205803"/>
                <a:gd name="connsiteY11" fmla="*/ 41495 h 1653800"/>
                <a:gd name="connsiteX12" fmla="*/ 983490 w 1205803"/>
                <a:gd name="connsiteY12" fmla="*/ 212931 h 1653800"/>
                <a:gd name="connsiteX13" fmla="*/ 1046350 w 1205803"/>
                <a:gd name="connsiteY13" fmla="*/ 511802 h 1653800"/>
                <a:gd name="connsiteX14" fmla="*/ 1094353 w 1205803"/>
                <a:gd name="connsiteY14" fmla="*/ 473514 h 1653800"/>
                <a:gd name="connsiteX15" fmla="*/ 1157213 w 1205803"/>
                <a:gd name="connsiteY15" fmla="*/ 527231 h 1653800"/>
                <a:gd name="connsiteX16" fmla="*/ 1205786 w 1205803"/>
                <a:gd name="connsiteY16" fmla="*/ 770099 h 1653800"/>
                <a:gd name="connsiteX17" fmla="*/ 1174927 w 1205803"/>
                <a:gd name="connsiteY17" fmla="*/ 867246 h 1653800"/>
                <a:gd name="connsiteX18" fmla="*/ 1146926 w 1205803"/>
                <a:gd name="connsiteY18" fmla="*/ 910677 h 1653800"/>
                <a:gd name="connsiteX19" fmla="*/ 1145500 w 1205803"/>
                <a:gd name="connsiteY19" fmla="*/ 910881 h 1653800"/>
                <a:gd name="connsiteX20" fmla="*/ 1146828 w 1205803"/>
                <a:gd name="connsiteY20" fmla="*/ 906043 h 1653800"/>
                <a:gd name="connsiteX21" fmla="*/ 1137212 w 1205803"/>
                <a:gd name="connsiteY21" fmla="*/ 902677 h 1653800"/>
                <a:gd name="connsiteX22" fmla="*/ 1054922 w 1205803"/>
                <a:gd name="connsiteY22" fmla="*/ 983823 h 1653800"/>
                <a:gd name="connsiteX23" fmla="*/ 1055494 w 1205803"/>
                <a:gd name="connsiteY23" fmla="*/ 1144402 h 1653800"/>
                <a:gd name="connsiteX24" fmla="*/ 992634 w 1205803"/>
                <a:gd name="connsiteY24" fmla="*/ 1328410 h 1653800"/>
                <a:gd name="connsiteX25" fmla="*/ 853770 w 1205803"/>
                <a:gd name="connsiteY25" fmla="*/ 1488418 h 1653800"/>
                <a:gd name="connsiteX26" fmla="*/ 651683 w 1205803"/>
                <a:gd name="connsiteY26" fmla="*/ 1630737 h 1653800"/>
                <a:gd name="connsiteX27" fmla="*/ 634660 w 1205803"/>
                <a:gd name="connsiteY27" fmla="*/ 1639121 h 1653800"/>
                <a:gd name="connsiteX28" fmla="*/ 634332 w 1205803"/>
                <a:gd name="connsiteY28" fmla="*/ 1638710 h 1653800"/>
                <a:gd name="connsiteX29" fmla="*/ 634903 w 1205803"/>
                <a:gd name="connsiteY29" fmla="*/ 1634709 h 1653800"/>
                <a:gd name="connsiteX30" fmla="*/ 550328 w 1205803"/>
                <a:gd name="connsiteY30" fmla="*/ 1638710 h 1653800"/>
                <a:gd name="connsiteX31" fmla="*/ 456609 w 1205803"/>
                <a:gd name="connsiteY31" fmla="*/ 1575850 h 1653800"/>
                <a:gd name="connsiteX32" fmla="*/ 417179 w 1205803"/>
                <a:gd name="connsiteY32" fmla="*/ 1515847 h 1653800"/>
                <a:gd name="connsiteX33" fmla="*/ 161167 w 1205803"/>
                <a:gd name="connsiteY33" fmla="*/ 1154688 h 1653800"/>
                <a:gd name="connsiteX34" fmla="*/ 23447 w 1205803"/>
                <a:gd name="connsiteY34" fmla="*/ 779814 h 1653800"/>
                <a:gd name="connsiteX35" fmla="*/ 17 w 1205803"/>
                <a:gd name="connsiteY35" fmla="*/ 587805 h 1653800"/>
                <a:gd name="connsiteX36" fmla="*/ 589 w 1205803"/>
                <a:gd name="connsiteY36" fmla="*/ 544375 h 1653800"/>
                <a:gd name="connsiteX37" fmla="*/ 77164 w 1205803"/>
                <a:gd name="connsiteY37" fmla="*/ 250647 h 1653800"/>
                <a:gd name="connsiteX38" fmla="*/ 393178 w 1205803"/>
                <a:gd name="connsiteY38" fmla="*/ 37495 h 1653800"/>
                <a:gd name="connsiteX39" fmla="*/ 598259 w 1205803"/>
                <a:gd name="connsiteY39" fmla="*/ 279 h 1653800"/>
                <a:gd name="connsiteX0" fmla="*/ 1145212 w 1205803"/>
                <a:gd name="connsiteY0" fmla="*/ 913534 h 1639479"/>
                <a:gd name="connsiteX1" fmla="*/ 1149524 w 1205803"/>
                <a:gd name="connsiteY1" fmla="*/ 943291 h 1639479"/>
                <a:gd name="connsiteX2" fmla="*/ 1114092 w 1205803"/>
                <a:gd name="connsiteY2" fmla="*/ 943291 h 1639479"/>
                <a:gd name="connsiteX3" fmla="*/ 1130354 w 1205803"/>
                <a:gd name="connsiteY3" fmla="*/ 927821 h 1639479"/>
                <a:gd name="connsiteX4" fmla="*/ 1144712 w 1205803"/>
                <a:gd name="connsiteY4" fmla="*/ 913749 h 1639479"/>
                <a:gd name="connsiteX5" fmla="*/ 1144717 w 1205803"/>
                <a:gd name="connsiteY5" fmla="*/ 913732 h 1639479"/>
                <a:gd name="connsiteX6" fmla="*/ 1145212 w 1205803"/>
                <a:gd name="connsiteY6" fmla="*/ 913534 h 1639479"/>
                <a:gd name="connsiteX7" fmla="*/ 598259 w 1205803"/>
                <a:gd name="connsiteY7" fmla="*/ 279 h 1639479"/>
                <a:gd name="connsiteX8" fmla="*/ 789196 w 1205803"/>
                <a:gd name="connsiteY8" fmla="*/ 41495 h 1639479"/>
                <a:gd name="connsiteX9" fmla="*/ 983490 w 1205803"/>
                <a:gd name="connsiteY9" fmla="*/ 212931 h 1639479"/>
                <a:gd name="connsiteX10" fmla="*/ 1046350 w 1205803"/>
                <a:gd name="connsiteY10" fmla="*/ 511802 h 1639479"/>
                <a:gd name="connsiteX11" fmla="*/ 1094353 w 1205803"/>
                <a:gd name="connsiteY11" fmla="*/ 473514 h 1639479"/>
                <a:gd name="connsiteX12" fmla="*/ 1157213 w 1205803"/>
                <a:gd name="connsiteY12" fmla="*/ 527231 h 1639479"/>
                <a:gd name="connsiteX13" fmla="*/ 1205786 w 1205803"/>
                <a:gd name="connsiteY13" fmla="*/ 770099 h 1639479"/>
                <a:gd name="connsiteX14" fmla="*/ 1174927 w 1205803"/>
                <a:gd name="connsiteY14" fmla="*/ 867246 h 1639479"/>
                <a:gd name="connsiteX15" fmla="*/ 1146926 w 1205803"/>
                <a:gd name="connsiteY15" fmla="*/ 910677 h 1639479"/>
                <a:gd name="connsiteX16" fmla="*/ 1145500 w 1205803"/>
                <a:gd name="connsiteY16" fmla="*/ 910881 h 1639479"/>
                <a:gd name="connsiteX17" fmla="*/ 1146828 w 1205803"/>
                <a:gd name="connsiteY17" fmla="*/ 906043 h 1639479"/>
                <a:gd name="connsiteX18" fmla="*/ 1137212 w 1205803"/>
                <a:gd name="connsiteY18" fmla="*/ 902677 h 1639479"/>
                <a:gd name="connsiteX19" fmla="*/ 1054922 w 1205803"/>
                <a:gd name="connsiteY19" fmla="*/ 983823 h 1639479"/>
                <a:gd name="connsiteX20" fmla="*/ 1055494 w 1205803"/>
                <a:gd name="connsiteY20" fmla="*/ 1144402 h 1639479"/>
                <a:gd name="connsiteX21" fmla="*/ 992634 w 1205803"/>
                <a:gd name="connsiteY21" fmla="*/ 1328410 h 1639479"/>
                <a:gd name="connsiteX22" fmla="*/ 853770 w 1205803"/>
                <a:gd name="connsiteY22" fmla="*/ 1488418 h 1639479"/>
                <a:gd name="connsiteX23" fmla="*/ 651683 w 1205803"/>
                <a:gd name="connsiteY23" fmla="*/ 1630737 h 1639479"/>
                <a:gd name="connsiteX24" fmla="*/ 634660 w 1205803"/>
                <a:gd name="connsiteY24" fmla="*/ 1639121 h 1639479"/>
                <a:gd name="connsiteX25" fmla="*/ 634332 w 1205803"/>
                <a:gd name="connsiteY25" fmla="*/ 1638710 h 1639479"/>
                <a:gd name="connsiteX26" fmla="*/ 634903 w 1205803"/>
                <a:gd name="connsiteY26" fmla="*/ 1634709 h 1639479"/>
                <a:gd name="connsiteX27" fmla="*/ 550328 w 1205803"/>
                <a:gd name="connsiteY27" fmla="*/ 1638710 h 1639479"/>
                <a:gd name="connsiteX28" fmla="*/ 456609 w 1205803"/>
                <a:gd name="connsiteY28" fmla="*/ 1575850 h 1639479"/>
                <a:gd name="connsiteX29" fmla="*/ 417179 w 1205803"/>
                <a:gd name="connsiteY29" fmla="*/ 1515847 h 1639479"/>
                <a:gd name="connsiteX30" fmla="*/ 161167 w 1205803"/>
                <a:gd name="connsiteY30" fmla="*/ 1154688 h 1639479"/>
                <a:gd name="connsiteX31" fmla="*/ 23447 w 1205803"/>
                <a:gd name="connsiteY31" fmla="*/ 779814 h 1639479"/>
                <a:gd name="connsiteX32" fmla="*/ 17 w 1205803"/>
                <a:gd name="connsiteY32" fmla="*/ 587805 h 1639479"/>
                <a:gd name="connsiteX33" fmla="*/ 589 w 1205803"/>
                <a:gd name="connsiteY33" fmla="*/ 544375 h 1639479"/>
                <a:gd name="connsiteX34" fmla="*/ 77164 w 1205803"/>
                <a:gd name="connsiteY34" fmla="*/ 250647 h 1639479"/>
                <a:gd name="connsiteX35" fmla="*/ 393178 w 1205803"/>
                <a:gd name="connsiteY35" fmla="*/ 37495 h 1639479"/>
                <a:gd name="connsiteX36" fmla="*/ 598259 w 1205803"/>
                <a:gd name="connsiteY36" fmla="*/ 279 h 1639479"/>
                <a:gd name="connsiteX0" fmla="*/ 1145212 w 1205803"/>
                <a:gd name="connsiteY0" fmla="*/ 913534 h 1639479"/>
                <a:gd name="connsiteX1" fmla="*/ 1114092 w 1205803"/>
                <a:gd name="connsiteY1" fmla="*/ 943291 h 1639479"/>
                <a:gd name="connsiteX2" fmla="*/ 1130354 w 1205803"/>
                <a:gd name="connsiteY2" fmla="*/ 927821 h 1639479"/>
                <a:gd name="connsiteX3" fmla="*/ 1144712 w 1205803"/>
                <a:gd name="connsiteY3" fmla="*/ 913749 h 1639479"/>
                <a:gd name="connsiteX4" fmla="*/ 1144717 w 1205803"/>
                <a:gd name="connsiteY4" fmla="*/ 913732 h 1639479"/>
                <a:gd name="connsiteX5" fmla="*/ 1145212 w 1205803"/>
                <a:gd name="connsiteY5" fmla="*/ 913534 h 1639479"/>
                <a:gd name="connsiteX6" fmla="*/ 598259 w 1205803"/>
                <a:gd name="connsiteY6" fmla="*/ 279 h 1639479"/>
                <a:gd name="connsiteX7" fmla="*/ 789196 w 1205803"/>
                <a:gd name="connsiteY7" fmla="*/ 41495 h 1639479"/>
                <a:gd name="connsiteX8" fmla="*/ 983490 w 1205803"/>
                <a:gd name="connsiteY8" fmla="*/ 212931 h 1639479"/>
                <a:gd name="connsiteX9" fmla="*/ 1046350 w 1205803"/>
                <a:gd name="connsiteY9" fmla="*/ 511802 h 1639479"/>
                <a:gd name="connsiteX10" fmla="*/ 1094353 w 1205803"/>
                <a:gd name="connsiteY10" fmla="*/ 473514 h 1639479"/>
                <a:gd name="connsiteX11" fmla="*/ 1157213 w 1205803"/>
                <a:gd name="connsiteY11" fmla="*/ 527231 h 1639479"/>
                <a:gd name="connsiteX12" fmla="*/ 1205786 w 1205803"/>
                <a:gd name="connsiteY12" fmla="*/ 770099 h 1639479"/>
                <a:gd name="connsiteX13" fmla="*/ 1174927 w 1205803"/>
                <a:gd name="connsiteY13" fmla="*/ 867246 h 1639479"/>
                <a:gd name="connsiteX14" fmla="*/ 1146926 w 1205803"/>
                <a:gd name="connsiteY14" fmla="*/ 910677 h 1639479"/>
                <a:gd name="connsiteX15" fmla="*/ 1145500 w 1205803"/>
                <a:gd name="connsiteY15" fmla="*/ 910881 h 1639479"/>
                <a:gd name="connsiteX16" fmla="*/ 1146828 w 1205803"/>
                <a:gd name="connsiteY16" fmla="*/ 906043 h 1639479"/>
                <a:gd name="connsiteX17" fmla="*/ 1137212 w 1205803"/>
                <a:gd name="connsiteY17" fmla="*/ 902677 h 1639479"/>
                <a:gd name="connsiteX18" fmla="*/ 1054922 w 1205803"/>
                <a:gd name="connsiteY18" fmla="*/ 983823 h 1639479"/>
                <a:gd name="connsiteX19" fmla="*/ 1055494 w 1205803"/>
                <a:gd name="connsiteY19" fmla="*/ 1144402 h 1639479"/>
                <a:gd name="connsiteX20" fmla="*/ 992634 w 1205803"/>
                <a:gd name="connsiteY20" fmla="*/ 1328410 h 1639479"/>
                <a:gd name="connsiteX21" fmla="*/ 853770 w 1205803"/>
                <a:gd name="connsiteY21" fmla="*/ 1488418 h 1639479"/>
                <a:gd name="connsiteX22" fmla="*/ 651683 w 1205803"/>
                <a:gd name="connsiteY22" fmla="*/ 1630737 h 1639479"/>
                <a:gd name="connsiteX23" fmla="*/ 634660 w 1205803"/>
                <a:gd name="connsiteY23" fmla="*/ 1639121 h 1639479"/>
                <a:gd name="connsiteX24" fmla="*/ 634332 w 1205803"/>
                <a:gd name="connsiteY24" fmla="*/ 1638710 h 1639479"/>
                <a:gd name="connsiteX25" fmla="*/ 634903 w 1205803"/>
                <a:gd name="connsiteY25" fmla="*/ 1634709 h 1639479"/>
                <a:gd name="connsiteX26" fmla="*/ 550328 w 1205803"/>
                <a:gd name="connsiteY26" fmla="*/ 1638710 h 1639479"/>
                <a:gd name="connsiteX27" fmla="*/ 456609 w 1205803"/>
                <a:gd name="connsiteY27" fmla="*/ 1575850 h 1639479"/>
                <a:gd name="connsiteX28" fmla="*/ 417179 w 1205803"/>
                <a:gd name="connsiteY28" fmla="*/ 1515847 h 1639479"/>
                <a:gd name="connsiteX29" fmla="*/ 161167 w 1205803"/>
                <a:gd name="connsiteY29" fmla="*/ 1154688 h 1639479"/>
                <a:gd name="connsiteX30" fmla="*/ 23447 w 1205803"/>
                <a:gd name="connsiteY30" fmla="*/ 779814 h 1639479"/>
                <a:gd name="connsiteX31" fmla="*/ 17 w 1205803"/>
                <a:gd name="connsiteY31" fmla="*/ 587805 h 1639479"/>
                <a:gd name="connsiteX32" fmla="*/ 589 w 1205803"/>
                <a:gd name="connsiteY32" fmla="*/ 544375 h 1639479"/>
                <a:gd name="connsiteX33" fmla="*/ 77164 w 1205803"/>
                <a:gd name="connsiteY33" fmla="*/ 250647 h 1639479"/>
                <a:gd name="connsiteX34" fmla="*/ 393178 w 1205803"/>
                <a:gd name="connsiteY34" fmla="*/ 37495 h 1639479"/>
                <a:gd name="connsiteX35" fmla="*/ 598259 w 1205803"/>
                <a:gd name="connsiteY35" fmla="*/ 279 h 1639479"/>
                <a:gd name="connsiteX0" fmla="*/ 1145212 w 1205803"/>
                <a:gd name="connsiteY0" fmla="*/ 913534 h 1639479"/>
                <a:gd name="connsiteX1" fmla="*/ 1130354 w 1205803"/>
                <a:gd name="connsiteY1" fmla="*/ 927821 h 1639479"/>
                <a:gd name="connsiteX2" fmla="*/ 1144712 w 1205803"/>
                <a:gd name="connsiteY2" fmla="*/ 913749 h 1639479"/>
                <a:gd name="connsiteX3" fmla="*/ 1144717 w 1205803"/>
                <a:gd name="connsiteY3" fmla="*/ 913732 h 1639479"/>
                <a:gd name="connsiteX4" fmla="*/ 1145212 w 1205803"/>
                <a:gd name="connsiteY4" fmla="*/ 913534 h 1639479"/>
                <a:gd name="connsiteX5" fmla="*/ 598259 w 1205803"/>
                <a:gd name="connsiteY5" fmla="*/ 279 h 1639479"/>
                <a:gd name="connsiteX6" fmla="*/ 789196 w 1205803"/>
                <a:gd name="connsiteY6" fmla="*/ 41495 h 1639479"/>
                <a:gd name="connsiteX7" fmla="*/ 983490 w 1205803"/>
                <a:gd name="connsiteY7" fmla="*/ 212931 h 1639479"/>
                <a:gd name="connsiteX8" fmla="*/ 1046350 w 1205803"/>
                <a:gd name="connsiteY8" fmla="*/ 511802 h 1639479"/>
                <a:gd name="connsiteX9" fmla="*/ 1094353 w 1205803"/>
                <a:gd name="connsiteY9" fmla="*/ 473514 h 1639479"/>
                <a:gd name="connsiteX10" fmla="*/ 1157213 w 1205803"/>
                <a:gd name="connsiteY10" fmla="*/ 527231 h 1639479"/>
                <a:gd name="connsiteX11" fmla="*/ 1205786 w 1205803"/>
                <a:gd name="connsiteY11" fmla="*/ 770099 h 1639479"/>
                <a:gd name="connsiteX12" fmla="*/ 1174927 w 1205803"/>
                <a:gd name="connsiteY12" fmla="*/ 867246 h 1639479"/>
                <a:gd name="connsiteX13" fmla="*/ 1146926 w 1205803"/>
                <a:gd name="connsiteY13" fmla="*/ 910677 h 1639479"/>
                <a:gd name="connsiteX14" fmla="*/ 1145500 w 1205803"/>
                <a:gd name="connsiteY14" fmla="*/ 910881 h 1639479"/>
                <a:gd name="connsiteX15" fmla="*/ 1146828 w 1205803"/>
                <a:gd name="connsiteY15" fmla="*/ 906043 h 1639479"/>
                <a:gd name="connsiteX16" fmla="*/ 1137212 w 1205803"/>
                <a:gd name="connsiteY16" fmla="*/ 902677 h 1639479"/>
                <a:gd name="connsiteX17" fmla="*/ 1054922 w 1205803"/>
                <a:gd name="connsiteY17" fmla="*/ 983823 h 1639479"/>
                <a:gd name="connsiteX18" fmla="*/ 1055494 w 1205803"/>
                <a:gd name="connsiteY18" fmla="*/ 1144402 h 1639479"/>
                <a:gd name="connsiteX19" fmla="*/ 992634 w 1205803"/>
                <a:gd name="connsiteY19" fmla="*/ 1328410 h 1639479"/>
                <a:gd name="connsiteX20" fmla="*/ 853770 w 1205803"/>
                <a:gd name="connsiteY20" fmla="*/ 1488418 h 1639479"/>
                <a:gd name="connsiteX21" fmla="*/ 651683 w 1205803"/>
                <a:gd name="connsiteY21" fmla="*/ 1630737 h 1639479"/>
                <a:gd name="connsiteX22" fmla="*/ 634660 w 1205803"/>
                <a:gd name="connsiteY22" fmla="*/ 1639121 h 1639479"/>
                <a:gd name="connsiteX23" fmla="*/ 634332 w 1205803"/>
                <a:gd name="connsiteY23" fmla="*/ 1638710 h 1639479"/>
                <a:gd name="connsiteX24" fmla="*/ 634903 w 1205803"/>
                <a:gd name="connsiteY24" fmla="*/ 1634709 h 1639479"/>
                <a:gd name="connsiteX25" fmla="*/ 550328 w 1205803"/>
                <a:gd name="connsiteY25" fmla="*/ 1638710 h 1639479"/>
                <a:gd name="connsiteX26" fmla="*/ 456609 w 1205803"/>
                <a:gd name="connsiteY26" fmla="*/ 1575850 h 1639479"/>
                <a:gd name="connsiteX27" fmla="*/ 417179 w 1205803"/>
                <a:gd name="connsiteY27" fmla="*/ 1515847 h 1639479"/>
                <a:gd name="connsiteX28" fmla="*/ 161167 w 1205803"/>
                <a:gd name="connsiteY28" fmla="*/ 1154688 h 1639479"/>
                <a:gd name="connsiteX29" fmla="*/ 23447 w 1205803"/>
                <a:gd name="connsiteY29" fmla="*/ 779814 h 1639479"/>
                <a:gd name="connsiteX30" fmla="*/ 17 w 1205803"/>
                <a:gd name="connsiteY30" fmla="*/ 587805 h 1639479"/>
                <a:gd name="connsiteX31" fmla="*/ 589 w 1205803"/>
                <a:gd name="connsiteY31" fmla="*/ 544375 h 1639479"/>
                <a:gd name="connsiteX32" fmla="*/ 77164 w 1205803"/>
                <a:gd name="connsiteY32" fmla="*/ 250647 h 1639479"/>
                <a:gd name="connsiteX33" fmla="*/ 393178 w 1205803"/>
                <a:gd name="connsiteY33" fmla="*/ 37495 h 1639479"/>
                <a:gd name="connsiteX34" fmla="*/ 598259 w 1205803"/>
                <a:gd name="connsiteY34" fmla="*/ 279 h 1639479"/>
                <a:gd name="connsiteX0" fmla="*/ 1145212 w 1205803"/>
                <a:gd name="connsiteY0" fmla="*/ 913534 h 1639479"/>
                <a:gd name="connsiteX1" fmla="*/ 1144712 w 1205803"/>
                <a:gd name="connsiteY1" fmla="*/ 913749 h 1639479"/>
                <a:gd name="connsiteX2" fmla="*/ 1144717 w 1205803"/>
                <a:gd name="connsiteY2" fmla="*/ 913732 h 1639479"/>
                <a:gd name="connsiteX3" fmla="*/ 1145212 w 1205803"/>
                <a:gd name="connsiteY3" fmla="*/ 913534 h 1639479"/>
                <a:gd name="connsiteX4" fmla="*/ 598259 w 1205803"/>
                <a:gd name="connsiteY4" fmla="*/ 279 h 1639479"/>
                <a:gd name="connsiteX5" fmla="*/ 789196 w 1205803"/>
                <a:gd name="connsiteY5" fmla="*/ 41495 h 1639479"/>
                <a:gd name="connsiteX6" fmla="*/ 983490 w 1205803"/>
                <a:gd name="connsiteY6" fmla="*/ 212931 h 1639479"/>
                <a:gd name="connsiteX7" fmla="*/ 1046350 w 1205803"/>
                <a:gd name="connsiteY7" fmla="*/ 511802 h 1639479"/>
                <a:gd name="connsiteX8" fmla="*/ 1094353 w 1205803"/>
                <a:gd name="connsiteY8" fmla="*/ 473514 h 1639479"/>
                <a:gd name="connsiteX9" fmla="*/ 1157213 w 1205803"/>
                <a:gd name="connsiteY9" fmla="*/ 527231 h 1639479"/>
                <a:gd name="connsiteX10" fmla="*/ 1205786 w 1205803"/>
                <a:gd name="connsiteY10" fmla="*/ 770099 h 1639479"/>
                <a:gd name="connsiteX11" fmla="*/ 1174927 w 1205803"/>
                <a:gd name="connsiteY11" fmla="*/ 867246 h 1639479"/>
                <a:gd name="connsiteX12" fmla="*/ 1146926 w 1205803"/>
                <a:gd name="connsiteY12" fmla="*/ 910677 h 1639479"/>
                <a:gd name="connsiteX13" fmla="*/ 1145500 w 1205803"/>
                <a:gd name="connsiteY13" fmla="*/ 910881 h 1639479"/>
                <a:gd name="connsiteX14" fmla="*/ 1146828 w 1205803"/>
                <a:gd name="connsiteY14" fmla="*/ 906043 h 1639479"/>
                <a:gd name="connsiteX15" fmla="*/ 1137212 w 1205803"/>
                <a:gd name="connsiteY15" fmla="*/ 902677 h 1639479"/>
                <a:gd name="connsiteX16" fmla="*/ 1054922 w 1205803"/>
                <a:gd name="connsiteY16" fmla="*/ 983823 h 1639479"/>
                <a:gd name="connsiteX17" fmla="*/ 1055494 w 1205803"/>
                <a:gd name="connsiteY17" fmla="*/ 1144402 h 1639479"/>
                <a:gd name="connsiteX18" fmla="*/ 992634 w 1205803"/>
                <a:gd name="connsiteY18" fmla="*/ 1328410 h 1639479"/>
                <a:gd name="connsiteX19" fmla="*/ 853770 w 1205803"/>
                <a:gd name="connsiteY19" fmla="*/ 1488418 h 1639479"/>
                <a:gd name="connsiteX20" fmla="*/ 651683 w 1205803"/>
                <a:gd name="connsiteY20" fmla="*/ 1630737 h 1639479"/>
                <a:gd name="connsiteX21" fmla="*/ 634660 w 1205803"/>
                <a:gd name="connsiteY21" fmla="*/ 1639121 h 1639479"/>
                <a:gd name="connsiteX22" fmla="*/ 634332 w 1205803"/>
                <a:gd name="connsiteY22" fmla="*/ 1638710 h 1639479"/>
                <a:gd name="connsiteX23" fmla="*/ 634903 w 1205803"/>
                <a:gd name="connsiteY23" fmla="*/ 1634709 h 1639479"/>
                <a:gd name="connsiteX24" fmla="*/ 550328 w 1205803"/>
                <a:gd name="connsiteY24" fmla="*/ 1638710 h 1639479"/>
                <a:gd name="connsiteX25" fmla="*/ 456609 w 1205803"/>
                <a:gd name="connsiteY25" fmla="*/ 1575850 h 1639479"/>
                <a:gd name="connsiteX26" fmla="*/ 417179 w 1205803"/>
                <a:gd name="connsiteY26" fmla="*/ 1515847 h 1639479"/>
                <a:gd name="connsiteX27" fmla="*/ 161167 w 1205803"/>
                <a:gd name="connsiteY27" fmla="*/ 1154688 h 1639479"/>
                <a:gd name="connsiteX28" fmla="*/ 23447 w 1205803"/>
                <a:gd name="connsiteY28" fmla="*/ 779814 h 1639479"/>
                <a:gd name="connsiteX29" fmla="*/ 17 w 1205803"/>
                <a:gd name="connsiteY29" fmla="*/ 587805 h 1639479"/>
                <a:gd name="connsiteX30" fmla="*/ 589 w 1205803"/>
                <a:gd name="connsiteY30" fmla="*/ 544375 h 1639479"/>
                <a:gd name="connsiteX31" fmla="*/ 77164 w 1205803"/>
                <a:gd name="connsiteY31" fmla="*/ 250647 h 1639479"/>
                <a:gd name="connsiteX32" fmla="*/ 393178 w 1205803"/>
                <a:gd name="connsiteY32" fmla="*/ 37495 h 1639479"/>
                <a:gd name="connsiteX33" fmla="*/ 598259 w 1205803"/>
                <a:gd name="connsiteY33" fmla="*/ 279 h 1639479"/>
                <a:gd name="connsiteX0" fmla="*/ 1145212 w 1205803"/>
                <a:gd name="connsiteY0" fmla="*/ 913534 h 1639479"/>
                <a:gd name="connsiteX1" fmla="*/ 1144712 w 1205803"/>
                <a:gd name="connsiteY1" fmla="*/ 913749 h 1639479"/>
                <a:gd name="connsiteX2" fmla="*/ 1144717 w 1205803"/>
                <a:gd name="connsiteY2" fmla="*/ 913732 h 1639479"/>
                <a:gd name="connsiteX3" fmla="*/ 1145212 w 1205803"/>
                <a:gd name="connsiteY3" fmla="*/ 913534 h 1639479"/>
                <a:gd name="connsiteX4" fmla="*/ 598259 w 1205803"/>
                <a:gd name="connsiteY4" fmla="*/ 279 h 1639479"/>
                <a:gd name="connsiteX5" fmla="*/ 789196 w 1205803"/>
                <a:gd name="connsiteY5" fmla="*/ 41495 h 1639479"/>
                <a:gd name="connsiteX6" fmla="*/ 983490 w 1205803"/>
                <a:gd name="connsiteY6" fmla="*/ 212931 h 1639479"/>
                <a:gd name="connsiteX7" fmla="*/ 1046350 w 1205803"/>
                <a:gd name="connsiteY7" fmla="*/ 511802 h 1639479"/>
                <a:gd name="connsiteX8" fmla="*/ 1094353 w 1205803"/>
                <a:gd name="connsiteY8" fmla="*/ 473514 h 1639479"/>
                <a:gd name="connsiteX9" fmla="*/ 1157213 w 1205803"/>
                <a:gd name="connsiteY9" fmla="*/ 527231 h 1639479"/>
                <a:gd name="connsiteX10" fmla="*/ 1205786 w 1205803"/>
                <a:gd name="connsiteY10" fmla="*/ 770099 h 1639479"/>
                <a:gd name="connsiteX11" fmla="*/ 1174927 w 1205803"/>
                <a:gd name="connsiteY11" fmla="*/ 867246 h 1639479"/>
                <a:gd name="connsiteX12" fmla="*/ 1146926 w 1205803"/>
                <a:gd name="connsiteY12" fmla="*/ 910677 h 1639479"/>
                <a:gd name="connsiteX13" fmla="*/ 1146828 w 1205803"/>
                <a:gd name="connsiteY13" fmla="*/ 906043 h 1639479"/>
                <a:gd name="connsiteX14" fmla="*/ 1137212 w 1205803"/>
                <a:gd name="connsiteY14" fmla="*/ 902677 h 1639479"/>
                <a:gd name="connsiteX15" fmla="*/ 1054922 w 1205803"/>
                <a:gd name="connsiteY15" fmla="*/ 983823 h 1639479"/>
                <a:gd name="connsiteX16" fmla="*/ 1055494 w 1205803"/>
                <a:gd name="connsiteY16" fmla="*/ 1144402 h 1639479"/>
                <a:gd name="connsiteX17" fmla="*/ 992634 w 1205803"/>
                <a:gd name="connsiteY17" fmla="*/ 1328410 h 1639479"/>
                <a:gd name="connsiteX18" fmla="*/ 853770 w 1205803"/>
                <a:gd name="connsiteY18" fmla="*/ 1488418 h 1639479"/>
                <a:gd name="connsiteX19" fmla="*/ 651683 w 1205803"/>
                <a:gd name="connsiteY19" fmla="*/ 1630737 h 1639479"/>
                <a:gd name="connsiteX20" fmla="*/ 634660 w 1205803"/>
                <a:gd name="connsiteY20" fmla="*/ 1639121 h 1639479"/>
                <a:gd name="connsiteX21" fmla="*/ 634332 w 1205803"/>
                <a:gd name="connsiteY21" fmla="*/ 1638710 h 1639479"/>
                <a:gd name="connsiteX22" fmla="*/ 634903 w 1205803"/>
                <a:gd name="connsiteY22" fmla="*/ 1634709 h 1639479"/>
                <a:gd name="connsiteX23" fmla="*/ 550328 w 1205803"/>
                <a:gd name="connsiteY23" fmla="*/ 1638710 h 1639479"/>
                <a:gd name="connsiteX24" fmla="*/ 456609 w 1205803"/>
                <a:gd name="connsiteY24" fmla="*/ 1575850 h 1639479"/>
                <a:gd name="connsiteX25" fmla="*/ 417179 w 1205803"/>
                <a:gd name="connsiteY25" fmla="*/ 1515847 h 1639479"/>
                <a:gd name="connsiteX26" fmla="*/ 161167 w 1205803"/>
                <a:gd name="connsiteY26" fmla="*/ 1154688 h 1639479"/>
                <a:gd name="connsiteX27" fmla="*/ 23447 w 1205803"/>
                <a:gd name="connsiteY27" fmla="*/ 779814 h 1639479"/>
                <a:gd name="connsiteX28" fmla="*/ 17 w 1205803"/>
                <a:gd name="connsiteY28" fmla="*/ 587805 h 1639479"/>
                <a:gd name="connsiteX29" fmla="*/ 589 w 1205803"/>
                <a:gd name="connsiteY29" fmla="*/ 544375 h 1639479"/>
                <a:gd name="connsiteX30" fmla="*/ 77164 w 1205803"/>
                <a:gd name="connsiteY30" fmla="*/ 250647 h 1639479"/>
                <a:gd name="connsiteX31" fmla="*/ 393178 w 1205803"/>
                <a:gd name="connsiteY31" fmla="*/ 37495 h 1639479"/>
                <a:gd name="connsiteX32" fmla="*/ 598259 w 1205803"/>
                <a:gd name="connsiteY32" fmla="*/ 279 h 1639479"/>
                <a:gd name="connsiteX0" fmla="*/ 1144717 w 1205803"/>
                <a:gd name="connsiteY0" fmla="*/ 913732 h 1639479"/>
                <a:gd name="connsiteX1" fmla="*/ 1144712 w 1205803"/>
                <a:gd name="connsiteY1" fmla="*/ 913749 h 1639479"/>
                <a:gd name="connsiteX2" fmla="*/ 1144717 w 1205803"/>
                <a:gd name="connsiteY2" fmla="*/ 913732 h 1639479"/>
                <a:gd name="connsiteX3" fmla="*/ 598259 w 1205803"/>
                <a:gd name="connsiteY3" fmla="*/ 279 h 1639479"/>
                <a:gd name="connsiteX4" fmla="*/ 789196 w 1205803"/>
                <a:gd name="connsiteY4" fmla="*/ 41495 h 1639479"/>
                <a:gd name="connsiteX5" fmla="*/ 983490 w 1205803"/>
                <a:gd name="connsiteY5" fmla="*/ 212931 h 1639479"/>
                <a:gd name="connsiteX6" fmla="*/ 1046350 w 1205803"/>
                <a:gd name="connsiteY6" fmla="*/ 511802 h 1639479"/>
                <a:gd name="connsiteX7" fmla="*/ 1094353 w 1205803"/>
                <a:gd name="connsiteY7" fmla="*/ 473514 h 1639479"/>
                <a:gd name="connsiteX8" fmla="*/ 1157213 w 1205803"/>
                <a:gd name="connsiteY8" fmla="*/ 527231 h 1639479"/>
                <a:gd name="connsiteX9" fmla="*/ 1205786 w 1205803"/>
                <a:gd name="connsiteY9" fmla="*/ 770099 h 1639479"/>
                <a:gd name="connsiteX10" fmla="*/ 1174927 w 1205803"/>
                <a:gd name="connsiteY10" fmla="*/ 867246 h 1639479"/>
                <a:gd name="connsiteX11" fmla="*/ 1146926 w 1205803"/>
                <a:gd name="connsiteY11" fmla="*/ 910677 h 1639479"/>
                <a:gd name="connsiteX12" fmla="*/ 1146828 w 1205803"/>
                <a:gd name="connsiteY12" fmla="*/ 906043 h 1639479"/>
                <a:gd name="connsiteX13" fmla="*/ 1137212 w 1205803"/>
                <a:gd name="connsiteY13" fmla="*/ 902677 h 1639479"/>
                <a:gd name="connsiteX14" fmla="*/ 1054922 w 1205803"/>
                <a:gd name="connsiteY14" fmla="*/ 983823 h 1639479"/>
                <a:gd name="connsiteX15" fmla="*/ 1055494 w 1205803"/>
                <a:gd name="connsiteY15" fmla="*/ 1144402 h 1639479"/>
                <a:gd name="connsiteX16" fmla="*/ 992634 w 1205803"/>
                <a:gd name="connsiteY16" fmla="*/ 1328410 h 1639479"/>
                <a:gd name="connsiteX17" fmla="*/ 853770 w 1205803"/>
                <a:gd name="connsiteY17" fmla="*/ 1488418 h 1639479"/>
                <a:gd name="connsiteX18" fmla="*/ 651683 w 1205803"/>
                <a:gd name="connsiteY18" fmla="*/ 1630737 h 1639479"/>
                <a:gd name="connsiteX19" fmla="*/ 634660 w 1205803"/>
                <a:gd name="connsiteY19" fmla="*/ 1639121 h 1639479"/>
                <a:gd name="connsiteX20" fmla="*/ 634332 w 1205803"/>
                <a:gd name="connsiteY20" fmla="*/ 1638710 h 1639479"/>
                <a:gd name="connsiteX21" fmla="*/ 634903 w 1205803"/>
                <a:gd name="connsiteY21" fmla="*/ 1634709 h 1639479"/>
                <a:gd name="connsiteX22" fmla="*/ 550328 w 1205803"/>
                <a:gd name="connsiteY22" fmla="*/ 1638710 h 1639479"/>
                <a:gd name="connsiteX23" fmla="*/ 456609 w 1205803"/>
                <a:gd name="connsiteY23" fmla="*/ 1575850 h 1639479"/>
                <a:gd name="connsiteX24" fmla="*/ 417179 w 1205803"/>
                <a:gd name="connsiteY24" fmla="*/ 1515847 h 1639479"/>
                <a:gd name="connsiteX25" fmla="*/ 161167 w 1205803"/>
                <a:gd name="connsiteY25" fmla="*/ 1154688 h 1639479"/>
                <a:gd name="connsiteX26" fmla="*/ 23447 w 1205803"/>
                <a:gd name="connsiteY26" fmla="*/ 779814 h 1639479"/>
                <a:gd name="connsiteX27" fmla="*/ 17 w 1205803"/>
                <a:gd name="connsiteY27" fmla="*/ 587805 h 1639479"/>
                <a:gd name="connsiteX28" fmla="*/ 589 w 1205803"/>
                <a:gd name="connsiteY28" fmla="*/ 544375 h 1639479"/>
                <a:gd name="connsiteX29" fmla="*/ 77164 w 1205803"/>
                <a:gd name="connsiteY29" fmla="*/ 250647 h 1639479"/>
                <a:gd name="connsiteX30" fmla="*/ 393178 w 1205803"/>
                <a:gd name="connsiteY30" fmla="*/ 37495 h 1639479"/>
                <a:gd name="connsiteX31" fmla="*/ 598259 w 1205803"/>
                <a:gd name="connsiteY31" fmla="*/ 279 h 1639479"/>
                <a:gd name="connsiteX0" fmla="*/ 1144717 w 1205803"/>
                <a:gd name="connsiteY0" fmla="*/ 913732 h 1639479"/>
                <a:gd name="connsiteX1" fmla="*/ 1144712 w 1205803"/>
                <a:gd name="connsiteY1" fmla="*/ 913749 h 1639479"/>
                <a:gd name="connsiteX2" fmla="*/ 1144717 w 1205803"/>
                <a:gd name="connsiteY2" fmla="*/ 913732 h 1639479"/>
                <a:gd name="connsiteX3" fmla="*/ 598259 w 1205803"/>
                <a:gd name="connsiteY3" fmla="*/ 279 h 1639479"/>
                <a:gd name="connsiteX4" fmla="*/ 789196 w 1205803"/>
                <a:gd name="connsiteY4" fmla="*/ 41495 h 1639479"/>
                <a:gd name="connsiteX5" fmla="*/ 983490 w 1205803"/>
                <a:gd name="connsiteY5" fmla="*/ 212931 h 1639479"/>
                <a:gd name="connsiteX6" fmla="*/ 1046350 w 1205803"/>
                <a:gd name="connsiteY6" fmla="*/ 511802 h 1639479"/>
                <a:gd name="connsiteX7" fmla="*/ 1094353 w 1205803"/>
                <a:gd name="connsiteY7" fmla="*/ 473514 h 1639479"/>
                <a:gd name="connsiteX8" fmla="*/ 1157213 w 1205803"/>
                <a:gd name="connsiteY8" fmla="*/ 527231 h 1639479"/>
                <a:gd name="connsiteX9" fmla="*/ 1205786 w 1205803"/>
                <a:gd name="connsiteY9" fmla="*/ 770099 h 1639479"/>
                <a:gd name="connsiteX10" fmla="*/ 1174927 w 1205803"/>
                <a:gd name="connsiteY10" fmla="*/ 867246 h 1639479"/>
                <a:gd name="connsiteX11" fmla="*/ 1146926 w 1205803"/>
                <a:gd name="connsiteY11" fmla="*/ 910677 h 1639479"/>
                <a:gd name="connsiteX12" fmla="*/ 1146828 w 1205803"/>
                <a:gd name="connsiteY12" fmla="*/ 906043 h 1639479"/>
                <a:gd name="connsiteX13" fmla="*/ 1054922 w 1205803"/>
                <a:gd name="connsiteY13" fmla="*/ 983823 h 1639479"/>
                <a:gd name="connsiteX14" fmla="*/ 1055494 w 1205803"/>
                <a:gd name="connsiteY14" fmla="*/ 1144402 h 1639479"/>
                <a:gd name="connsiteX15" fmla="*/ 992634 w 1205803"/>
                <a:gd name="connsiteY15" fmla="*/ 1328410 h 1639479"/>
                <a:gd name="connsiteX16" fmla="*/ 853770 w 1205803"/>
                <a:gd name="connsiteY16" fmla="*/ 1488418 h 1639479"/>
                <a:gd name="connsiteX17" fmla="*/ 651683 w 1205803"/>
                <a:gd name="connsiteY17" fmla="*/ 1630737 h 1639479"/>
                <a:gd name="connsiteX18" fmla="*/ 634660 w 1205803"/>
                <a:gd name="connsiteY18" fmla="*/ 1639121 h 1639479"/>
                <a:gd name="connsiteX19" fmla="*/ 634332 w 1205803"/>
                <a:gd name="connsiteY19" fmla="*/ 1638710 h 1639479"/>
                <a:gd name="connsiteX20" fmla="*/ 634903 w 1205803"/>
                <a:gd name="connsiteY20" fmla="*/ 1634709 h 1639479"/>
                <a:gd name="connsiteX21" fmla="*/ 550328 w 1205803"/>
                <a:gd name="connsiteY21" fmla="*/ 1638710 h 1639479"/>
                <a:gd name="connsiteX22" fmla="*/ 456609 w 1205803"/>
                <a:gd name="connsiteY22" fmla="*/ 1575850 h 1639479"/>
                <a:gd name="connsiteX23" fmla="*/ 417179 w 1205803"/>
                <a:gd name="connsiteY23" fmla="*/ 1515847 h 1639479"/>
                <a:gd name="connsiteX24" fmla="*/ 161167 w 1205803"/>
                <a:gd name="connsiteY24" fmla="*/ 1154688 h 1639479"/>
                <a:gd name="connsiteX25" fmla="*/ 23447 w 1205803"/>
                <a:gd name="connsiteY25" fmla="*/ 779814 h 1639479"/>
                <a:gd name="connsiteX26" fmla="*/ 17 w 1205803"/>
                <a:gd name="connsiteY26" fmla="*/ 587805 h 1639479"/>
                <a:gd name="connsiteX27" fmla="*/ 589 w 1205803"/>
                <a:gd name="connsiteY27" fmla="*/ 544375 h 1639479"/>
                <a:gd name="connsiteX28" fmla="*/ 77164 w 1205803"/>
                <a:gd name="connsiteY28" fmla="*/ 250647 h 1639479"/>
                <a:gd name="connsiteX29" fmla="*/ 393178 w 1205803"/>
                <a:gd name="connsiteY29" fmla="*/ 37495 h 1639479"/>
                <a:gd name="connsiteX30" fmla="*/ 598259 w 1205803"/>
                <a:gd name="connsiteY30" fmla="*/ 279 h 1639479"/>
                <a:gd name="connsiteX0" fmla="*/ 1144717 w 1205803"/>
                <a:gd name="connsiteY0" fmla="*/ 913732 h 1639479"/>
                <a:gd name="connsiteX1" fmla="*/ 1144712 w 1205803"/>
                <a:gd name="connsiteY1" fmla="*/ 913749 h 1639479"/>
                <a:gd name="connsiteX2" fmla="*/ 1144717 w 1205803"/>
                <a:gd name="connsiteY2" fmla="*/ 913732 h 1639479"/>
                <a:gd name="connsiteX3" fmla="*/ 598259 w 1205803"/>
                <a:gd name="connsiteY3" fmla="*/ 279 h 1639479"/>
                <a:gd name="connsiteX4" fmla="*/ 789196 w 1205803"/>
                <a:gd name="connsiteY4" fmla="*/ 41495 h 1639479"/>
                <a:gd name="connsiteX5" fmla="*/ 983490 w 1205803"/>
                <a:gd name="connsiteY5" fmla="*/ 212931 h 1639479"/>
                <a:gd name="connsiteX6" fmla="*/ 1046350 w 1205803"/>
                <a:gd name="connsiteY6" fmla="*/ 511802 h 1639479"/>
                <a:gd name="connsiteX7" fmla="*/ 1094353 w 1205803"/>
                <a:gd name="connsiteY7" fmla="*/ 473514 h 1639479"/>
                <a:gd name="connsiteX8" fmla="*/ 1157213 w 1205803"/>
                <a:gd name="connsiteY8" fmla="*/ 527231 h 1639479"/>
                <a:gd name="connsiteX9" fmla="*/ 1205786 w 1205803"/>
                <a:gd name="connsiteY9" fmla="*/ 770099 h 1639479"/>
                <a:gd name="connsiteX10" fmla="*/ 1174927 w 1205803"/>
                <a:gd name="connsiteY10" fmla="*/ 867246 h 1639479"/>
                <a:gd name="connsiteX11" fmla="*/ 1146926 w 1205803"/>
                <a:gd name="connsiteY11" fmla="*/ 910677 h 1639479"/>
                <a:gd name="connsiteX12" fmla="*/ 1146828 w 1205803"/>
                <a:gd name="connsiteY12" fmla="*/ 906043 h 1639479"/>
                <a:gd name="connsiteX13" fmla="*/ 1054922 w 1205803"/>
                <a:gd name="connsiteY13" fmla="*/ 983823 h 1639479"/>
                <a:gd name="connsiteX14" fmla="*/ 1055494 w 1205803"/>
                <a:gd name="connsiteY14" fmla="*/ 1144402 h 1639479"/>
                <a:gd name="connsiteX15" fmla="*/ 992634 w 1205803"/>
                <a:gd name="connsiteY15" fmla="*/ 1328410 h 1639479"/>
                <a:gd name="connsiteX16" fmla="*/ 853770 w 1205803"/>
                <a:gd name="connsiteY16" fmla="*/ 1488418 h 1639479"/>
                <a:gd name="connsiteX17" fmla="*/ 651683 w 1205803"/>
                <a:gd name="connsiteY17" fmla="*/ 1630737 h 1639479"/>
                <a:gd name="connsiteX18" fmla="*/ 634660 w 1205803"/>
                <a:gd name="connsiteY18" fmla="*/ 1639121 h 1639479"/>
                <a:gd name="connsiteX19" fmla="*/ 634332 w 1205803"/>
                <a:gd name="connsiteY19" fmla="*/ 1638710 h 1639479"/>
                <a:gd name="connsiteX20" fmla="*/ 634903 w 1205803"/>
                <a:gd name="connsiteY20" fmla="*/ 1634709 h 1639479"/>
                <a:gd name="connsiteX21" fmla="*/ 550328 w 1205803"/>
                <a:gd name="connsiteY21" fmla="*/ 1638710 h 1639479"/>
                <a:gd name="connsiteX22" fmla="*/ 456609 w 1205803"/>
                <a:gd name="connsiteY22" fmla="*/ 1575850 h 1639479"/>
                <a:gd name="connsiteX23" fmla="*/ 417179 w 1205803"/>
                <a:gd name="connsiteY23" fmla="*/ 1515847 h 1639479"/>
                <a:gd name="connsiteX24" fmla="*/ 161167 w 1205803"/>
                <a:gd name="connsiteY24" fmla="*/ 1154688 h 1639479"/>
                <a:gd name="connsiteX25" fmla="*/ 23447 w 1205803"/>
                <a:gd name="connsiteY25" fmla="*/ 779814 h 1639479"/>
                <a:gd name="connsiteX26" fmla="*/ 17 w 1205803"/>
                <a:gd name="connsiteY26" fmla="*/ 587805 h 1639479"/>
                <a:gd name="connsiteX27" fmla="*/ 589 w 1205803"/>
                <a:gd name="connsiteY27" fmla="*/ 544375 h 1639479"/>
                <a:gd name="connsiteX28" fmla="*/ 77164 w 1205803"/>
                <a:gd name="connsiteY28" fmla="*/ 250647 h 1639479"/>
                <a:gd name="connsiteX29" fmla="*/ 393178 w 1205803"/>
                <a:gd name="connsiteY29" fmla="*/ 37495 h 1639479"/>
                <a:gd name="connsiteX30" fmla="*/ 598259 w 1205803"/>
                <a:gd name="connsiteY30" fmla="*/ 279 h 1639479"/>
                <a:gd name="connsiteX0" fmla="*/ 1144717 w 1205803"/>
                <a:gd name="connsiteY0" fmla="*/ 913732 h 1639479"/>
                <a:gd name="connsiteX1" fmla="*/ 1144712 w 1205803"/>
                <a:gd name="connsiteY1" fmla="*/ 913749 h 1639479"/>
                <a:gd name="connsiteX2" fmla="*/ 1144717 w 1205803"/>
                <a:gd name="connsiteY2" fmla="*/ 913732 h 1639479"/>
                <a:gd name="connsiteX3" fmla="*/ 598259 w 1205803"/>
                <a:gd name="connsiteY3" fmla="*/ 279 h 1639479"/>
                <a:gd name="connsiteX4" fmla="*/ 789196 w 1205803"/>
                <a:gd name="connsiteY4" fmla="*/ 41495 h 1639479"/>
                <a:gd name="connsiteX5" fmla="*/ 983490 w 1205803"/>
                <a:gd name="connsiteY5" fmla="*/ 212931 h 1639479"/>
                <a:gd name="connsiteX6" fmla="*/ 1046350 w 1205803"/>
                <a:gd name="connsiteY6" fmla="*/ 511802 h 1639479"/>
                <a:gd name="connsiteX7" fmla="*/ 1094353 w 1205803"/>
                <a:gd name="connsiteY7" fmla="*/ 473514 h 1639479"/>
                <a:gd name="connsiteX8" fmla="*/ 1157213 w 1205803"/>
                <a:gd name="connsiteY8" fmla="*/ 527231 h 1639479"/>
                <a:gd name="connsiteX9" fmla="*/ 1205786 w 1205803"/>
                <a:gd name="connsiteY9" fmla="*/ 770099 h 1639479"/>
                <a:gd name="connsiteX10" fmla="*/ 1174927 w 1205803"/>
                <a:gd name="connsiteY10" fmla="*/ 867246 h 1639479"/>
                <a:gd name="connsiteX11" fmla="*/ 1146926 w 1205803"/>
                <a:gd name="connsiteY11" fmla="*/ 910677 h 1639479"/>
                <a:gd name="connsiteX12" fmla="*/ 1146828 w 1205803"/>
                <a:gd name="connsiteY12" fmla="*/ 906043 h 1639479"/>
                <a:gd name="connsiteX13" fmla="*/ 1054922 w 1205803"/>
                <a:gd name="connsiteY13" fmla="*/ 983823 h 1639479"/>
                <a:gd name="connsiteX14" fmla="*/ 1055494 w 1205803"/>
                <a:gd name="connsiteY14" fmla="*/ 1144402 h 1639479"/>
                <a:gd name="connsiteX15" fmla="*/ 992634 w 1205803"/>
                <a:gd name="connsiteY15" fmla="*/ 1328410 h 1639479"/>
                <a:gd name="connsiteX16" fmla="*/ 853770 w 1205803"/>
                <a:gd name="connsiteY16" fmla="*/ 1488418 h 1639479"/>
                <a:gd name="connsiteX17" fmla="*/ 634660 w 1205803"/>
                <a:gd name="connsiteY17" fmla="*/ 1639121 h 1639479"/>
                <a:gd name="connsiteX18" fmla="*/ 634332 w 1205803"/>
                <a:gd name="connsiteY18" fmla="*/ 1638710 h 1639479"/>
                <a:gd name="connsiteX19" fmla="*/ 634903 w 1205803"/>
                <a:gd name="connsiteY19" fmla="*/ 1634709 h 1639479"/>
                <a:gd name="connsiteX20" fmla="*/ 550328 w 1205803"/>
                <a:gd name="connsiteY20" fmla="*/ 1638710 h 1639479"/>
                <a:gd name="connsiteX21" fmla="*/ 456609 w 1205803"/>
                <a:gd name="connsiteY21" fmla="*/ 1575850 h 1639479"/>
                <a:gd name="connsiteX22" fmla="*/ 417179 w 1205803"/>
                <a:gd name="connsiteY22" fmla="*/ 1515847 h 1639479"/>
                <a:gd name="connsiteX23" fmla="*/ 161167 w 1205803"/>
                <a:gd name="connsiteY23" fmla="*/ 1154688 h 1639479"/>
                <a:gd name="connsiteX24" fmla="*/ 23447 w 1205803"/>
                <a:gd name="connsiteY24" fmla="*/ 779814 h 1639479"/>
                <a:gd name="connsiteX25" fmla="*/ 17 w 1205803"/>
                <a:gd name="connsiteY25" fmla="*/ 587805 h 1639479"/>
                <a:gd name="connsiteX26" fmla="*/ 589 w 1205803"/>
                <a:gd name="connsiteY26" fmla="*/ 544375 h 1639479"/>
                <a:gd name="connsiteX27" fmla="*/ 77164 w 1205803"/>
                <a:gd name="connsiteY27" fmla="*/ 250647 h 1639479"/>
                <a:gd name="connsiteX28" fmla="*/ 393178 w 1205803"/>
                <a:gd name="connsiteY28" fmla="*/ 37495 h 1639479"/>
                <a:gd name="connsiteX29" fmla="*/ 598259 w 1205803"/>
                <a:gd name="connsiteY29" fmla="*/ 279 h 1639479"/>
                <a:gd name="connsiteX0" fmla="*/ 1144717 w 1205803"/>
                <a:gd name="connsiteY0" fmla="*/ 913732 h 1643351"/>
                <a:gd name="connsiteX1" fmla="*/ 1144712 w 1205803"/>
                <a:gd name="connsiteY1" fmla="*/ 913749 h 1643351"/>
                <a:gd name="connsiteX2" fmla="*/ 1144717 w 1205803"/>
                <a:gd name="connsiteY2" fmla="*/ 913732 h 1643351"/>
                <a:gd name="connsiteX3" fmla="*/ 598259 w 1205803"/>
                <a:gd name="connsiteY3" fmla="*/ 279 h 1643351"/>
                <a:gd name="connsiteX4" fmla="*/ 789196 w 1205803"/>
                <a:gd name="connsiteY4" fmla="*/ 41495 h 1643351"/>
                <a:gd name="connsiteX5" fmla="*/ 983490 w 1205803"/>
                <a:gd name="connsiteY5" fmla="*/ 212931 h 1643351"/>
                <a:gd name="connsiteX6" fmla="*/ 1046350 w 1205803"/>
                <a:gd name="connsiteY6" fmla="*/ 511802 h 1643351"/>
                <a:gd name="connsiteX7" fmla="*/ 1094353 w 1205803"/>
                <a:gd name="connsiteY7" fmla="*/ 473514 h 1643351"/>
                <a:gd name="connsiteX8" fmla="*/ 1157213 w 1205803"/>
                <a:gd name="connsiteY8" fmla="*/ 527231 h 1643351"/>
                <a:gd name="connsiteX9" fmla="*/ 1205786 w 1205803"/>
                <a:gd name="connsiteY9" fmla="*/ 770099 h 1643351"/>
                <a:gd name="connsiteX10" fmla="*/ 1174927 w 1205803"/>
                <a:gd name="connsiteY10" fmla="*/ 867246 h 1643351"/>
                <a:gd name="connsiteX11" fmla="*/ 1146926 w 1205803"/>
                <a:gd name="connsiteY11" fmla="*/ 910677 h 1643351"/>
                <a:gd name="connsiteX12" fmla="*/ 1146828 w 1205803"/>
                <a:gd name="connsiteY12" fmla="*/ 906043 h 1643351"/>
                <a:gd name="connsiteX13" fmla="*/ 1054922 w 1205803"/>
                <a:gd name="connsiteY13" fmla="*/ 983823 h 1643351"/>
                <a:gd name="connsiteX14" fmla="*/ 1055494 w 1205803"/>
                <a:gd name="connsiteY14" fmla="*/ 1144402 h 1643351"/>
                <a:gd name="connsiteX15" fmla="*/ 992634 w 1205803"/>
                <a:gd name="connsiteY15" fmla="*/ 1328410 h 1643351"/>
                <a:gd name="connsiteX16" fmla="*/ 853770 w 1205803"/>
                <a:gd name="connsiteY16" fmla="*/ 1488418 h 1643351"/>
                <a:gd name="connsiteX17" fmla="*/ 634660 w 1205803"/>
                <a:gd name="connsiteY17" fmla="*/ 1639121 h 1643351"/>
                <a:gd name="connsiteX18" fmla="*/ 634332 w 1205803"/>
                <a:gd name="connsiteY18" fmla="*/ 1638710 h 1643351"/>
                <a:gd name="connsiteX19" fmla="*/ 550328 w 1205803"/>
                <a:gd name="connsiteY19" fmla="*/ 1638710 h 1643351"/>
                <a:gd name="connsiteX20" fmla="*/ 456609 w 1205803"/>
                <a:gd name="connsiteY20" fmla="*/ 1575850 h 1643351"/>
                <a:gd name="connsiteX21" fmla="*/ 417179 w 1205803"/>
                <a:gd name="connsiteY21" fmla="*/ 1515847 h 1643351"/>
                <a:gd name="connsiteX22" fmla="*/ 161167 w 1205803"/>
                <a:gd name="connsiteY22" fmla="*/ 1154688 h 1643351"/>
                <a:gd name="connsiteX23" fmla="*/ 23447 w 1205803"/>
                <a:gd name="connsiteY23" fmla="*/ 779814 h 1643351"/>
                <a:gd name="connsiteX24" fmla="*/ 17 w 1205803"/>
                <a:gd name="connsiteY24" fmla="*/ 587805 h 1643351"/>
                <a:gd name="connsiteX25" fmla="*/ 589 w 1205803"/>
                <a:gd name="connsiteY25" fmla="*/ 544375 h 1643351"/>
                <a:gd name="connsiteX26" fmla="*/ 77164 w 1205803"/>
                <a:gd name="connsiteY26" fmla="*/ 250647 h 1643351"/>
                <a:gd name="connsiteX27" fmla="*/ 393178 w 1205803"/>
                <a:gd name="connsiteY27" fmla="*/ 37495 h 1643351"/>
                <a:gd name="connsiteX28" fmla="*/ 598259 w 1205803"/>
                <a:gd name="connsiteY28" fmla="*/ 279 h 1643351"/>
                <a:gd name="connsiteX0" fmla="*/ 1144717 w 1205803"/>
                <a:gd name="connsiteY0" fmla="*/ 913732 h 1639121"/>
                <a:gd name="connsiteX1" fmla="*/ 1144712 w 1205803"/>
                <a:gd name="connsiteY1" fmla="*/ 913749 h 1639121"/>
                <a:gd name="connsiteX2" fmla="*/ 1144717 w 1205803"/>
                <a:gd name="connsiteY2" fmla="*/ 913732 h 1639121"/>
                <a:gd name="connsiteX3" fmla="*/ 598259 w 1205803"/>
                <a:gd name="connsiteY3" fmla="*/ 279 h 1639121"/>
                <a:gd name="connsiteX4" fmla="*/ 789196 w 1205803"/>
                <a:gd name="connsiteY4" fmla="*/ 41495 h 1639121"/>
                <a:gd name="connsiteX5" fmla="*/ 983490 w 1205803"/>
                <a:gd name="connsiteY5" fmla="*/ 212931 h 1639121"/>
                <a:gd name="connsiteX6" fmla="*/ 1046350 w 1205803"/>
                <a:gd name="connsiteY6" fmla="*/ 511802 h 1639121"/>
                <a:gd name="connsiteX7" fmla="*/ 1094353 w 1205803"/>
                <a:gd name="connsiteY7" fmla="*/ 473514 h 1639121"/>
                <a:gd name="connsiteX8" fmla="*/ 1157213 w 1205803"/>
                <a:gd name="connsiteY8" fmla="*/ 527231 h 1639121"/>
                <a:gd name="connsiteX9" fmla="*/ 1205786 w 1205803"/>
                <a:gd name="connsiteY9" fmla="*/ 770099 h 1639121"/>
                <a:gd name="connsiteX10" fmla="*/ 1174927 w 1205803"/>
                <a:gd name="connsiteY10" fmla="*/ 867246 h 1639121"/>
                <a:gd name="connsiteX11" fmla="*/ 1146926 w 1205803"/>
                <a:gd name="connsiteY11" fmla="*/ 910677 h 1639121"/>
                <a:gd name="connsiteX12" fmla="*/ 1146828 w 1205803"/>
                <a:gd name="connsiteY12" fmla="*/ 906043 h 1639121"/>
                <a:gd name="connsiteX13" fmla="*/ 1054922 w 1205803"/>
                <a:gd name="connsiteY13" fmla="*/ 983823 h 1639121"/>
                <a:gd name="connsiteX14" fmla="*/ 1055494 w 1205803"/>
                <a:gd name="connsiteY14" fmla="*/ 1144402 h 1639121"/>
                <a:gd name="connsiteX15" fmla="*/ 992634 w 1205803"/>
                <a:gd name="connsiteY15" fmla="*/ 1328410 h 1639121"/>
                <a:gd name="connsiteX16" fmla="*/ 853770 w 1205803"/>
                <a:gd name="connsiteY16" fmla="*/ 1488418 h 1639121"/>
                <a:gd name="connsiteX17" fmla="*/ 634660 w 1205803"/>
                <a:gd name="connsiteY17" fmla="*/ 1639121 h 1639121"/>
                <a:gd name="connsiteX18" fmla="*/ 550328 w 1205803"/>
                <a:gd name="connsiteY18" fmla="*/ 1638710 h 1639121"/>
                <a:gd name="connsiteX19" fmla="*/ 456609 w 1205803"/>
                <a:gd name="connsiteY19" fmla="*/ 1575850 h 1639121"/>
                <a:gd name="connsiteX20" fmla="*/ 417179 w 1205803"/>
                <a:gd name="connsiteY20" fmla="*/ 1515847 h 1639121"/>
                <a:gd name="connsiteX21" fmla="*/ 161167 w 1205803"/>
                <a:gd name="connsiteY21" fmla="*/ 1154688 h 1639121"/>
                <a:gd name="connsiteX22" fmla="*/ 23447 w 1205803"/>
                <a:gd name="connsiteY22" fmla="*/ 779814 h 1639121"/>
                <a:gd name="connsiteX23" fmla="*/ 17 w 1205803"/>
                <a:gd name="connsiteY23" fmla="*/ 587805 h 1639121"/>
                <a:gd name="connsiteX24" fmla="*/ 589 w 1205803"/>
                <a:gd name="connsiteY24" fmla="*/ 544375 h 1639121"/>
                <a:gd name="connsiteX25" fmla="*/ 77164 w 1205803"/>
                <a:gd name="connsiteY25" fmla="*/ 250647 h 1639121"/>
                <a:gd name="connsiteX26" fmla="*/ 393178 w 1205803"/>
                <a:gd name="connsiteY26" fmla="*/ 37495 h 1639121"/>
                <a:gd name="connsiteX27" fmla="*/ 598259 w 1205803"/>
                <a:gd name="connsiteY27" fmla="*/ 279 h 1639121"/>
                <a:gd name="connsiteX0" fmla="*/ 1144717 w 1205803"/>
                <a:gd name="connsiteY0" fmla="*/ 913732 h 1638710"/>
                <a:gd name="connsiteX1" fmla="*/ 1144712 w 1205803"/>
                <a:gd name="connsiteY1" fmla="*/ 913749 h 1638710"/>
                <a:gd name="connsiteX2" fmla="*/ 1144717 w 1205803"/>
                <a:gd name="connsiteY2" fmla="*/ 913732 h 1638710"/>
                <a:gd name="connsiteX3" fmla="*/ 598259 w 1205803"/>
                <a:gd name="connsiteY3" fmla="*/ 279 h 1638710"/>
                <a:gd name="connsiteX4" fmla="*/ 789196 w 1205803"/>
                <a:gd name="connsiteY4" fmla="*/ 41495 h 1638710"/>
                <a:gd name="connsiteX5" fmla="*/ 983490 w 1205803"/>
                <a:gd name="connsiteY5" fmla="*/ 212931 h 1638710"/>
                <a:gd name="connsiteX6" fmla="*/ 1046350 w 1205803"/>
                <a:gd name="connsiteY6" fmla="*/ 511802 h 1638710"/>
                <a:gd name="connsiteX7" fmla="*/ 1094353 w 1205803"/>
                <a:gd name="connsiteY7" fmla="*/ 473514 h 1638710"/>
                <a:gd name="connsiteX8" fmla="*/ 1157213 w 1205803"/>
                <a:gd name="connsiteY8" fmla="*/ 527231 h 1638710"/>
                <a:gd name="connsiteX9" fmla="*/ 1205786 w 1205803"/>
                <a:gd name="connsiteY9" fmla="*/ 770099 h 1638710"/>
                <a:gd name="connsiteX10" fmla="*/ 1174927 w 1205803"/>
                <a:gd name="connsiteY10" fmla="*/ 867246 h 1638710"/>
                <a:gd name="connsiteX11" fmla="*/ 1146926 w 1205803"/>
                <a:gd name="connsiteY11" fmla="*/ 910677 h 1638710"/>
                <a:gd name="connsiteX12" fmla="*/ 1146828 w 1205803"/>
                <a:gd name="connsiteY12" fmla="*/ 906043 h 1638710"/>
                <a:gd name="connsiteX13" fmla="*/ 1054922 w 1205803"/>
                <a:gd name="connsiteY13" fmla="*/ 983823 h 1638710"/>
                <a:gd name="connsiteX14" fmla="*/ 1055494 w 1205803"/>
                <a:gd name="connsiteY14" fmla="*/ 1144402 h 1638710"/>
                <a:gd name="connsiteX15" fmla="*/ 992634 w 1205803"/>
                <a:gd name="connsiteY15" fmla="*/ 1328410 h 1638710"/>
                <a:gd name="connsiteX16" fmla="*/ 853770 w 1205803"/>
                <a:gd name="connsiteY16" fmla="*/ 1488418 h 1638710"/>
                <a:gd name="connsiteX17" fmla="*/ 550328 w 1205803"/>
                <a:gd name="connsiteY17" fmla="*/ 1638710 h 1638710"/>
                <a:gd name="connsiteX18" fmla="*/ 456609 w 1205803"/>
                <a:gd name="connsiteY18" fmla="*/ 1575850 h 1638710"/>
                <a:gd name="connsiteX19" fmla="*/ 417179 w 1205803"/>
                <a:gd name="connsiteY19" fmla="*/ 1515847 h 1638710"/>
                <a:gd name="connsiteX20" fmla="*/ 161167 w 1205803"/>
                <a:gd name="connsiteY20" fmla="*/ 1154688 h 1638710"/>
                <a:gd name="connsiteX21" fmla="*/ 23447 w 1205803"/>
                <a:gd name="connsiteY21" fmla="*/ 779814 h 1638710"/>
                <a:gd name="connsiteX22" fmla="*/ 17 w 1205803"/>
                <a:gd name="connsiteY22" fmla="*/ 587805 h 1638710"/>
                <a:gd name="connsiteX23" fmla="*/ 589 w 1205803"/>
                <a:gd name="connsiteY23" fmla="*/ 544375 h 1638710"/>
                <a:gd name="connsiteX24" fmla="*/ 77164 w 1205803"/>
                <a:gd name="connsiteY24" fmla="*/ 250647 h 1638710"/>
                <a:gd name="connsiteX25" fmla="*/ 393178 w 1205803"/>
                <a:gd name="connsiteY25" fmla="*/ 37495 h 1638710"/>
                <a:gd name="connsiteX26" fmla="*/ 598259 w 1205803"/>
                <a:gd name="connsiteY26" fmla="*/ 279 h 1638710"/>
                <a:gd name="connsiteX0" fmla="*/ 1144717 w 1205803"/>
                <a:gd name="connsiteY0" fmla="*/ 913732 h 1638710"/>
                <a:gd name="connsiteX1" fmla="*/ 1144712 w 1205803"/>
                <a:gd name="connsiteY1" fmla="*/ 913749 h 1638710"/>
                <a:gd name="connsiteX2" fmla="*/ 1144717 w 1205803"/>
                <a:gd name="connsiteY2" fmla="*/ 913732 h 1638710"/>
                <a:gd name="connsiteX3" fmla="*/ 598259 w 1205803"/>
                <a:gd name="connsiteY3" fmla="*/ 279 h 1638710"/>
                <a:gd name="connsiteX4" fmla="*/ 789196 w 1205803"/>
                <a:gd name="connsiteY4" fmla="*/ 41495 h 1638710"/>
                <a:gd name="connsiteX5" fmla="*/ 983490 w 1205803"/>
                <a:gd name="connsiteY5" fmla="*/ 212931 h 1638710"/>
                <a:gd name="connsiteX6" fmla="*/ 1046350 w 1205803"/>
                <a:gd name="connsiteY6" fmla="*/ 511802 h 1638710"/>
                <a:gd name="connsiteX7" fmla="*/ 1094353 w 1205803"/>
                <a:gd name="connsiteY7" fmla="*/ 473514 h 1638710"/>
                <a:gd name="connsiteX8" fmla="*/ 1157213 w 1205803"/>
                <a:gd name="connsiteY8" fmla="*/ 527231 h 1638710"/>
                <a:gd name="connsiteX9" fmla="*/ 1205786 w 1205803"/>
                <a:gd name="connsiteY9" fmla="*/ 770099 h 1638710"/>
                <a:gd name="connsiteX10" fmla="*/ 1174927 w 1205803"/>
                <a:gd name="connsiteY10" fmla="*/ 867246 h 1638710"/>
                <a:gd name="connsiteX11" fmla="*/ 1146926 w 1205803"/>
                <a:gd name="connsiteY11" fmla="*/ 910677 h 1638710"/>
                <a:gd name="connsiteX12" fmla="*/ 1146828 w 1205803"/>
                <a:gd name="connsiteY12" fmla="*/ 906043 h 1638710"/>
                <a:gd name="connsiteX13" fmla="*/ 1054922 w 1205803"/>
                <a:gd name="connsiteY13" fmla="*/ 983823 h 1638710"/>
                <a:gd name="connsiteX14" fmla="*/ 1055494 w 1205803"/>
                <a:gd name="connsiteY14" fmla="*/ 1144402 h 1638710"/>
                <a:gd name="connsiteX15" fmla="*/ 992634 w 1205803"/>
                <a:gd name="connsiteY15" fmla="*/ 1328410 h 1638710"/>
                <a:gd name="connsiteX16" fmla="*/ 853770 w 1205803"/>
                <a:gd name="connsiteY16" fmla="*/ 1488418 h 1638710"/>
                <a:gd name="connsiteX17" fmla="*/ 550328 w 1205803"/>
                <a:gd name="connsiteY17" fmla="*/ 1638710 h 1638710"/>
                <a:gd name="connsiteX18" fmla="*/ 456609 w 1205803"/>
                <a:gd name="connsiteY18" fmla="*/ 1575850 h 1638710"/>
                <a:gd name="connsiteX19" fmla="*/ 417179 w 1205803"/>
                <a:gd name="connsiteY19" fmla="*/ 1515847 h 1638710"/>
                <a:gd name="connsiteX20" fmla="*/ 161167 w 1205803"/>
                <a:gd name="connsiteY20" fmla="*/ 1154688 h 1638710"/>
                <a:gd name="connsiteX21" fmla="*/ 23447 w 1205803"/>
                <a:gd name="connsiteY21" fmla="*/ 779814 h 1638710"/>
                <a:gd name="connsiteX22" fmla="*/ 17 w 1205803"/>
                <a:gd name="connsiteY22" fmla="*/ 587805 h 1638710"/>
                <a:gd name="connsiteX23" fmla="*/ 589 w 1205803"/>
                <a:gd name="connsiteY23" fmla="*/ 544375 h 1638710"/>
                <a:gd name="connsiteX24" fmla="*/ 77164 w 1205803"/>
                <a:gd name="connsiteY24" fmla="*/ 250647 h 1638710"/>
                <a:gd name="connsiteX25" fmla="*/ 393178 w 1205803"/>
                <a:gd name="connsiteY25" fmla="*/ 37495 h 1638710"/>
                <a:gd name="connsiteX26" fmla="*/ 598259 w 1205803"/>
                <a:gd name="connsiteY26" fmla="*/ 279 h 163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05803" h="1638710">
                  <a:moveTo>
                    <a:pt x="1144717" y="913732"/>
                  </a:moveTo>
                  <a:lnTo>
                    <a:pt x="1144712" y="913749"/>
                  </a:lnTo>
                  <a:cubicBezTo>
                    <a:pt x="1144714" y="913743"/>
                    <a:pt x="1144715" y="913738"/>
                    <a:pt x="1144717" y="913732"/>
                  </a:cubicBezTo>
                  <a:close/>
                  <a:moveTo>
                    <a:pt x="598259" y="279"/>
                  </a:moveTo>
                  <a:cubicBezTo>
                    <a:pt x="665333" y="2493"/>
                    <a:pt x="730051" y="17780"/>
                    <a:pt x="789196" y="41495"/>
                  </a:cubicBezTo>
                  <a:cubicBezTo>
                    <a:pt x="916630" y="92926"/>
                    <a:pt x="983490" y="212931"/>
                    <a:pt x="983490" y="212931"/>
                  </a:cubicBezTo>
                  <a:cubicBezTo>
                    <a:pt x="1040636" y="292935"/>
                    <a:pt x="1027492" y="544946"/>
                    <a:pt x="1046350" y="511802"/>
                  </a:cubicBezTo>
                  <a:cubicBezTo>
                    <a:pt x="1059494" y="494658"/>
                    <a:pt x="1070351" y="475800"/>
                    <a:pt x="1094353" y="473514"/>
                  </a:cubicBezTo>
                  <a:cubicBezTo>
                    <a:pt x="1126925" y="477514"/>
                    <a:pt x="1148069" y="495801"/>
                    <a:pt x="1157213" y="527231"/>
                  </a:cubicBezTo>
                  <a:cubicBezTo>
                    <a:pt x="1180071" y="606663"/>
                    <a:pt x="1205214" y="685524"/>
                    <a:pt x="1205786" y="770099"/>
                  </a:cubicBezTo>
                  <a:cubicBezTo>
                    <a:pt x="1206357" y="807815"/>
                    <a:pt x="1192642" y="836959"/>
                    <a:pt x="1174927" y="867246"/>
                  </a:cubicBezTo>
                  <a:cubicBezTo>
                    <a:pt x="1165784" y="881533"/>
                    <a:pt x="1156070" y="895819"/>
                    <a:pt x="1146926" y="910677"/>
                  </a:cubicBezTo>
                  <a:cubicBezTo>
                    <a:pt x="1146893" y="909132"/>
                    <a:pt x="1146861" y="907588"/>
                    <a:pt x="1146828" y="906043"/>
                  </a:cubicBezTo>
                  <a:cubicBezTo>
                    <a:pt x="1131494" y="918234"/>
                    <a:pt x="1070144" y="944096"/>
                    <a:pt x="1054922" y="983823"/>
                  </a:cubicBezTo>
                  <a:cubicBezTo>
                    <a:pt x="1054922" y="1037540"/>
                    <a:pt x="1053779" y="1090685"/>
                    <a:pt x="1055494" y="1144402"/>
                  </a:cubicBezTo>
                  <a:cubicBezTo>
                    <a:pt x="1057208" y="1214120"/>
                    <a:pt x="1029778" y="1272408"/>
                    <a:pt x="992634" y="1328410"/>
                  </a:cubicBezTo>
                  <a:cubicBezTo>
                    <a:pt x="953203" y="1387842"/>
                    <a:pt x="927488" y="1436701"/>
                    <a:pt x="853770" y="1488418"/>
                  </a:cubicBezTo>
                  <a:cubicBezTo>
                    <a:pt x="780052" y="1540135"/>
                    <a:pt x="719629" y="1618712"/>
                    <a:pt x="550328" y="1638710"/>
                  </a:cubicBezTo>
                  <a:cubicBezTo>
                    <a:pt x="505755" y="1638138"/>
                    <a:pt x="475467" y="1616994"/>
                    <a:pt x="456609" y="1575850"/>
                  </a:cubicBezTo>
                  <a:cubicBezTo>
                    <a:pt x="446894" y="1554134"/>
                    <a:pt x="434894" y="1531276"/>
                    <a:pt x="417179" y="1515847"/>
                  </a:cubicBezTo>
                  <a:cubicBezTo>
                    <a:pt x="304603" y="1414128"/>
                    <a:pt x="227456" y="1288980"/>
                    <a:pt x="161167" y="1154688"/>
                  </a:cubicBezTo>
                  <a:cubicBezTo>
                    <a:pt x="155453" y="1141544"/>
                    <a:pt x="32590" y="795814"/>
                    <a:pt x="23447" y="779814"/>
                  </a:cubicBezTo>
                  <a:cubicBezTo>
                    <a:pt x="13161" y="716382"/>
                    <a:pt x="-554" y="652951"/>
                    <a:pt x="17" y="587805"/>
                  </a:cubicBezTo>
                  <a:cubicBezTo>
                    <a:pt x="17" y="573519"/>
                    <a:pt x="17" y="559232"/>
                    <a:pt x="589" y="544375"/>
                  </a:cubicBezTo>
                  <a:cubicBezTo>
                    <a:pt x="6875" y="455799"/>
                    <a:pt x="23447" y="321507"/>
                    <a:pt x="77164" y="250647"/>
                  </a:cubicBezTo>
                  <a:cubicBezTo>
                    <a:pt x="134881" y="174644"/>
                    <a:pt x="273173" y="87211"/>
                    <a:pt x="393178" y="37495"/>
                  </a:cubicBezTo>
                  <a:cubicBezTo>
                    <a:pt x="461753" y="8922"/>
                    <a:pt x="531184" y="-1936"/>
                    <a:pt x="598259" y="279"/>
                  </a:cubicBezTo>
                  <a:close/>
                </a:path>
              </a:pathLst>
            </a:custGeom>
            <a:gradFill>
              <a:gsLst>
                <a:gs pos="41000">
                  <a:schemeClr val="accent2">
                    <a:lumMod val="20000"/>
                    <a:lumOff val="80000"/>
                  </a:schemeClr>
                </a:gs>
                <a:gs pos="0">
                  <a:schemeClr val="bg1">
                    <a:lumMod val="95000"/>
                  </a:schemeClr>
                </a:gs>
                <a:gs pos="100000">
                  <a:schemeClr val="accent2">
                    <a:lumMod val="40000"/>
                    <a:lumOff val="60000"/>
                  </a:schemeClr>
                </a:gs>
              </a:gsLst>
              <a:lin ang="90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Freeform: Shape 65">
              <a:extLst>
                <a:ext uri="{FF2B5EF4-FFF2-40B4-BE49-F238E27FC236}">
                  <a16:creationId xmlns:a16="http://schemas.microsoft.com/office/drawing/2014/main" id="{A18E9F53-6729-4BEF-8752-648AAB9E15E5}"/>
                </a:ext>
              </a:extLst>
            </p:cNvPr>
            <p:cNvSpPr/>
            <p:nvPr/>
          </p:nvSpPr>
          <p:spPr>
            <a:xfrm flipH="1">
              <a:off x="1056648" y="2855701"/>
              <a:ext cx="969850" cy="859229"/>
            </a:xfrm>
            <a:custGeom>
              <a:avLst/>
              <a:gdLst>
                <a:gd name="connsiteX0" fmla="*/ 1175339 w 1192482"/>
                <a:gd name="connsiteY0" fmla="*/ 576597 h 1056467"/>
                <a:gd name="connsiteX1" fmla="*/ 1038761 w 1192482"/>
                <a:gd name="connsiteY1" fmla="*/ 284013 h 1056467"/>
                <a:gd name="connsiteX2" fmla="*/ 690746 w 1192482"/>
                <a:gd name="connsiteY2" fmla="*/ 24001 h 1056467"/>
                <a:gd name="connsiteX3" fmla="*/ 619314 w 1192482"/>
                <a:gd name="connsiteY3" fmla="*/ 0 h 1056467"/>
                <a:gd name="connsiteX4" fmla="*/ 644458 w 1192482"/>
                <a:gd name="connsiteY4" fmla="*/ 29144 h 1056467"/>
                <a:gd name="connsiteX5" fmla="*/ 664458 w 1192482"/>
                <a:gd name="connsiteY5" fmla="*/ 61146 h 1056467"/>
                <a:gd name="connsiteX6" fmla="*/ 625028 w 1192482"/>
                <a:gd name="connsiteY6" fmla="*/ 64574 h 1056467"/>
                <a:gd name="connsiteX7" fmla="*/ 500451 w 1192482"/>
                <a:gd name="connsiteY7" fmla="*/ 36002 h 1056467"/>
                <a:gd name="connsiteX8" fmla="*/ 395875 w 1192482"/>
                <a:gd name="connsiteY8" fmla="*/ 62860 h 1056467"/>
                <a:gd name="connsiteX9" fmla="*/ 307871 w 1192482"/>
                <a:gd name="connsiteY9" fmla="*/ 134863 h 1056467"/>
                <a:gd name="connsiteX10" fmla="*/ 278727 w 1192482"/>
                <a:gd name="connsiteY10" fmla="*/ 143435 h 1056467"/>
                <a:gd name="connsiteX11" fmla="*/ 280441 w 1192482"/>
                <a:gd name="connsiteY11" fmla="*/ 111434 h 1056467"/>
                <a:gd name="connsiteX12" fmla="*/ 311871 w 1192482"/>
                <a:gd name="connsiteY12" fmla="*/ 47431 h 1056467"/>
                <a:gd name="connsiteX13" fmla="*/ 206152 w 1192482"/>
                <a:gd name="connsiteY13" fmla="*/ 157721 h 1056467"/>
                <a:gd name="connsiteX14" fmla="*/ 221581 w 1192482"/>
                <a:gd name="connsiteY14" fmla="*/ 57717 h 1056467"/>
                <a:gd name="connsiteX15" fmla="*/ 133006 w 1192482"/>
                <a:gd name="connsiteY15" fmla="*/ 250297 h 1056467"/>
                <a:gd name="connsiteX16" fmla="*/ 103290 w 1192482"/>
                <a:gd name="connsiteY16" fmla="*/ 122291 h 1056467"/>
                <a:gd name="connsiteX17" fmla="*/ 82146 w 1192482"/>
                <a:gd name="connsiteY17" fmla="*/ 148578 h 1056467"/>
                <a:gd name="connsiteX18" fmla="*/ 23858 w 1192482"/>
                <a:gd name="connsiteY18" fmla="*/ 275441 h 1056467"/>
                <a:gd name="connsiteX19" fmla="*/ 25001 w 1192482"/>
                <a:gd name="connsiteY19" fmla="*/ 517166 h 1056467"/>
                <a:gd name="connsiteX20" fmla="*/ 54145 w 1192482"/>
                <a:gd name="connsiteY20" fmla="*/ 687460 h 1056467"/>
                <a:gd name="connsiteX21" fmla="*/ 129577 w 1192482"/>
                <a:gd name="connsiteY21" fmla="*/ 948614 h 1056467"/>
                <a:gd name="connsiteX22" fmla="*/ 131863 w 1192482"/>
                <a:gd name="connsiteY22" fmla="*/ 906898 h 1056467"/>
                <a:gd name="connsiteX23" fmla="*/ 115291 w 1192482"/>
                <a:gd name="connsiteY23" fmla="*/ 736033 h 1056467"/>
                <a:gd name="connsiteX24" fmla="*/ 254154 w 1192482"/>
                <a:gd name="connsiteY24" fmla="*/ 574883 h 1056467"/>
                <a:gd name="connsiteX25" fmla="*/ 365017 w 1192482"/>
                <a:gd name="connsiteY25" fmla="*/ 556025 h 1056467"/>
                <a:gd name="connsiteX26" fmla="*/ 473593 w 1192482"/>
                <a:gd name="connsiteY26" fmla="*/ 509166 h 1056467"/>
                <a:gd name="connsiteX27" fmla="*/ 556454 w 1192482"/>
                <a:gd name="connsiteY27" fmla="*/ 454878 h 1056467"/>
                <a:gd name="connsiteX28" fmla="*/ 699317 w 1192482"/>
                <a:gd name="connsiteY28" fmla="*/ 414876 h 1056467"/>
                <a:gd name="connsiteX29" fmla="*/ 798750 w 1192482"/>
                <a:gd name="connsiteY29" fmla="*/ 489165 h 1056467"/>
                <a:gd name="connsiteX30" fmla="*/ 823323 w 1192482"/>
                <a:gd name="connsiteY30" fmla="*/ 554311 h 1056467"/>
                <a:gd name="connsiteX31" fmla="*/ 961615 w 1192482"/>
                <a:gd name="connsiteY31" fmla="*/ 729747 h 1056467"/>
                <a:gd name="connsiteX32" fmla="*/ 1021617 w 1192482"/>
                <a:gd name="connsiteY32" fmla="*/ 850895 h 1056467"/>
                <a:gd name="connsiteX33" fmla="*/ 1078192 w 1192482"/>
                <a:gd name="connsiteY33" fmla="*/ 1028046 h 1056467"/>
                <a:gd name="connsiteX34" fmla="*/ 1105621 w 1192482"/>
                <a:gd name="connsiteY34" fmla="*/ 1056048 h 1056467"/>
                <a:gd name="connsiteX35" fmla="*/ 1117622 w 1192482"/>
                <a:gd name="connsiteY35" fmla="*/ 1021760 h 1056467"/>
                <a:gd name="connsiteX36" fmla="*/ 1093049 w 1192482"/>
                <a:gd name="connsiteY36" fmla="*/ 913184 h 1056467"/>
                <a:gd name="connsiteX37" fmla="*/ 1097049 w 1192482"/>
                <a:gd name="connsiteY37" fmla="*/ 776606 h 1056467"/>
                <a:gd name="connsiteX38" fmla="*/ 1151909 w 1192482"/>
                <a:gd name="connsiteY38" fmla="*/ 682316 h 1056467"/>
                <a:gd name="connsiteX39" fmla="*/ 1192482 w 1192482"/>
                <a:gd name="connsiteY39" fmla="*/ 640600 h 1056467"/>
                <a:gd name="connsiteX40" fmla="*/ 1175339 w 1192482"/>
                <a:gd name="connsiteY40" fmla="*/ 576597 h 105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2482" h="1056467">
                  <a:moveTo>
                    <a:pt x="1175339" y="576597"/>
                  </a:moveTo>
                  <a:cubicBezTo>
                    <a:pt x="1145052" y="472021"/>
                    <a:pt x="1118193" y="364016"/>
                    <a:pt x="1038761" y="284013"/>
                  </a:cubicBezTo>
                  <a:cubicBezTo>
                    <a:pt x="935899" y="180580"/>
                    <a:pt x="821037" y="91433"/>
                    <a:pt x="690746" y="24001"/>
                  </a:cubicBezTo>
                  <a:cubicBezTo>
                    <a:pt x="669030" y="12572"/>
                    <a:pt x="646172" y="2286"/>
                    <a:pt x="619314" y="0"/>
                  </a:cubicBezTo>
                  <a:cubicBezTo>
                    <a:pt x="623885" y="14858"/>
                    <a:pt x="636457" y="20001"/>
                    <a:pt x="644458" y="29144"/>
                  </a:cubicBezTo>
                  <a:cubicBezTo>
                    <a:pt x="653029" y="38859"/>
                    <a:pt x="670745" y="48574"/>
                    <a:pt x="664458" y="61146"/>
                  </a:cubicBezTo>
                  <a:cubicBezTo>
                    <a:pt x="657030" y="76003"/>
                    <a:pt x="638172" y="67432"/>
                    <a:pt x="625028" y="64574"/>
                  </a:cubicBezTo>
                  <a:cubicBezTo>
                    <a:pt x="583312" y="55431"/>
                    <a:pt x="542167" y="45716"/>
                    <a:pt x="500451" y="36002"/>
                  </a:cubicBezTo>
                  <a:cubicBezTo>
                    <a:pt x="460449" y="26287"/>
                    <a:pt x="426162" y="34287"/>
                    <a:pt x="395875" y="62860"/>
                  </a:cubicBezTo>
                  <a:cubicBezTo>
                    <a:pt x="368445" y="88575"/>
                    <a:pt x="339872" y="114291"/>
                    <a:pt x="307871" y="134863"/>
                  </a:cubicBezTo>
                  <a:cubicBezTo>
                    <a:pt x="299299" y="140578"/>
                    <a:pt x="288442" y="150292"/>
                    <a:pt x="278727" y="143435"/>
                  </a:cubicBezTo>
                  <a:cubicBezTo>
                    <a:pt x="266726" y="134863"/>
                    <a:pt x="275869" y="121720"/>
                    <a:pt x="280441" y="111434"/>
                  </a:cubicBezTo>
                  <a:cubicBezTo>
                    <a:pt x="290156" y="89718"/>
                    <a:pt x="301585" y="69146"/>
                    <a:pt x="311871" y="47431"/>
                  </a:cubicBezTo>
                  <a:cubicBezTo>
                    <a:pt x="266726" y="73146"/>
                    <a:pt x="239297" y="116005"/>
                    <a:pt x="206152" y="157721"/>
                  </a:cubicBezTo>
                  <a:cubicBezTo>
                    <a:pt x="198723" y="120005"/>
                    <a:pt x="214152" y="92576"/>
                    <a:pt x="221581" y="57717"/>
                  </a:cubicBezTo>
                  <a:cubicBezTo>
                    <a:pt x="165579" y="111434"/>
                    <a:pt x="139863" y="173151"/>
                    <a:pt x="133006" y="250297"/>
                  </a:cubicBezTo>
                  <a:cubicBezTo>
                    <a:pt x="97576" y="208581"/>
                    <a:pt x="117005" y="162293"/>
                    <a:pt x="103290" y="122291"/>
                  </a:cubicBezTo>
                  <a:cubicBezTo>
                    <a:pt x="91861" y="129720"/>
                    <a:pt x="87290" y="139435"/>
                    <a:pt x="82146" y="148578"/>
                  </a:cubicBezTo>
                  <a:cubicBezTo>
                    <a:pt x="59860" y="189723"/>
                    <a:pt x="40430" y="232010"/>
                    <a:pt x="23858" y="275441"/>
                  </a:cubicBezTo>
                  <a:cubicBezTo>
                    <a:pt x="-7572" y="356016"/>
                    <a:pt x="-8715" y="437163"/>
                    <a:pt x="25001" y="517166"/>
                  </a:cubicBezTo>
                  <a:cubicBezTo>
                    <a:pt x="48431" y="572026"/>
                    <a:pt x="58717" y="628028"/>
                    <a:pt x="54145" y="687460"/>
                  </a:cubicBezTo>
                  <a:cubicBezTo>
                    <a:pt x="47288" y="783464"/>
                    <a:pt x="76432" y="869753"/>
                    <a:pt x="129577" y="948614"/>
                  </a:cubicBezTo>
                  <a:cubicBezTo>
                    <a:pt x="140435" y="935471"/>
                    <a:pt x="134149" y="920613"/>
                    <a:pt x="131863" y="906898"/>
                  </a:cubicBezTo>
                  <a:cubicBezTo>
                    <a:pt x="122148" y="850324"/>
                    <a:pt x="114719" y="793750"/>
                    <a:pt x="115291" y="736033"/>
                  </a:cubicBezTo>
                  <a:cubicBezTo>
                    <a:pt x="116434" y="630314"/>
                    <a:pt x="150721" y="590312"/>
                    <a:pt x="254154" y="574883"/>
                  </a:cubicBezTo>
                  <a:cubicBezTo>
                    <a:pt x="291299" y="569169"/>
                    <a:pt x="329015" y="566883"/>
                    <a:pt x="365017" y="556025"/>
                  </a:cubicBezTo>
                  <a:cubicBezTo>
                    <a:pt x="404447" y="547453"/>
                    <a:pt x="439877" y="530881"/>
                    <a:pt x="473593" y="509166"/>
                  </a:cubicBezTo>
                  <a:cubicBezTo>
                    <a:pt x="501023" y="491451"/>
                    <a:pt x="528452" y="472593"/>
                    <a:pt x="556454" y="454878"/>
                  </a:cubicBezTo>
                  <a:cubicBezTo>
                    <a:pt x="599884" y="426305"/>
                    <a:pt x="646743" y="413161"/>
                    <a:pt x="699317" y="414876"/>
                  </a:cubicBezTo>
                  <a:cubicBezTo>
                    <a:pt x="757605" y="417162"/>
                    <a:pt x="781035" y="432591"/>
                    <a:pt x="798750" y="489165"/>
                  </a:cubicBezTo>
                  <a:cubicBezTo>
                    <a:pt x="805608" y="511452"/>
                    <a:pt x="811894" y="533738"/>
                    <a:pt x="823323" y="554311"/>
                  </a:cubicBezTo>
                  <a:cubicBezTo>
                    <a:pt x="860467" y="620028"/>
                    <a:pt x="916470" y="670887"/>
                    <a:pt x="961615" y="729747"/>
                  </a:cubicBezTo>
                  <a:cubicBezTo>
                    <a:pt x="962758" y="731462"/>
                    <a:pt x="1016475" y="838895"/>
                    <a:pt x="1021617" y="850895"/>
                  </a:cubicBezTo>
                  <a:cubicBezTo>
                    <a:pt x="1045619" y="908612"/>
                    <a:pt x="1059334" y="969187"/>
                    <a:pt x="1078192" y="1028046"/>
                  </a:cubicBezTo>
                  <a:cubicBezTo>
                    <a:pt x="1082192" y="1041190"/>
                    <a:pt x="1087335" y="1059476"/>
                    <a:pt x="1105621" y="1056048"/>
                  </a:cubicBezTo>
                  <a:cubicBezTo>
                    <a:pt x="1122194" y="1053190"/>
                    <a:pt x="1118765" y="1034332"/>
                    <a:pt x="1117622" y="1021760"/>
                  </a:cubicBezTo>
                  <a:cubicBezTo>
                    <a:pt x="1115336" y="984044"/>
                    <a:pt x="1104478" y="948614"/>
                    <a:pt x="1093049" y="913184"/>
                  </a:cubicBezTo>
                  <a:cubicBezTo>
                    <a:pt x="1080477" y="872039"/>
                    <a:pt x="1078763" y="820037"/>
                    <a:pt x="1097049" y="776606"/>
                  </a:cubicBezTo>
                  <a:cubicBezTo>
                    <a:pt x="1096478" y="776606"/>
                    <a:pt x="1138766" y="705175"/>
                    <a:pt x="1151909" y="682316"/>
                  </a:cubicBezTo>
                  <a:cubicBezTo>
                    <a:pt x="1161052" y="664030"/>
                    <a:pt x="1179339" y="655458"/>
                    <a:pt x="1192482" y="640600"/>
                  </a:cubicBezTo>
                  <a:cubicBezTo>
                    <a:pt x="1187339" y="619457"/>
                    <a:pt x="1181053" y="598313"/>
                    <a:pt x="1175339" y="576597"/>
                  </a:cubicBezTo>
                  <a:close/>
                </a:path>
              </a:pathLst>
            </a:custGeom>
            <a:solidFill>
              <a:srgbClr val="765640"/>
            </a:solidFill>
            <a:ln w="5709" cap="flat">
              <a:noFill/>
              <a:prstDash val="solid"/>
              <a:miter/>
            </a:ln>
          </p:spPr>
          <p:txBody>
            <a:bodyPr rtlCol="0" anchor="ctr"/>
            <a:lstStyle/>
            <a:p>
              <a:endParaRPr lang="en-US"/>
            </a:p>
          </p:txBody>
        </p:sp>
        <p:sp>
          <p:nvSpPr>
            <p:cNvPr id="48" name="Freeform: Shape 56">
              <a:extLst>
                <a:ext uri="{FF2B5EF4-FFF2-40B4-BE49-F238E27FC236}">
                  <a16:creationId xmlns:a16="http://schemas.microsoft.com/office/drawing/2014/main" id="{36618DFF-35A1-4F7F-A32E-C80413C933C5}"/>
                </a:ext>
              </a:extLst>
            </p:cNvPr>
            <p:cNvSpPr/>
            <p:nvPr/>
          </p:nvSpPr>
          <p:spPr>
            <a:xfrm flipH="1">
              <a:off x="2055742" y="5517255"/>
              <a:ext cx="949845" cy="527151"/>
            </a:xfrm>
            <a:custGeom>
              <a:avLst/>
              <a:gdLst>
                <a:gd name="connsiteX0" fmla="*/ 436121 w 1167884"/>
                <a:gd name="connsiteY0" fmla="*/ 9766 h 651968"/>
                <a:gd name="connsiteX1" fmla="*/ 435279 w 1167884"/>
                <a:gd name="connsiteY1" fmla="*/ 11299 h 651968"/>
                <a:gd name="connsiteX2" fmla="*/ 534712 w 1167884"/>
                <a:gd name="connsiteY2" fmla="*/ 11870 h 651968"/>
                <a:gd name="connsiteX3" fmla="*/ 637574 w 1167884"/>
                <a:gd name="connsiteY3" fmla="*/ 34157 h 651968"/>
                <a:gd name="connsiteX4" fmla="*/ 766723 w 1167884"/>
                <a:gd name="connsiteY4" fmla="*/ 101017 h 651968"/>
                <a:gd name="connsiteX5" fmla="*/ 847869 w 1167884"/>
                <a:gd name="connsiteY5" fmla="*/ 146733 h 651968"/>
                <a:gd name="connsiteX6" fmla="*/ 966732 w 1167884"/>
                <a:gd name="connsiteY6" fmla="*/ 190736 h 651968"/>
                <a:gd name="connsiteX7" fmla="*/ 1167884 w 1167884"/>
                <a:gd name="connsiteY7" fmla="*/ 226166 h 651968"/>
                <a:gd name="connsiteX8" fmla="*/ 1109595 w 1167884"/>
                <a:gd name="connsiteY8" fmla="*/ 251310 h 651968"/>
                <a:gd name="connsiteX9" fmla="*/ 990733 w 1167884"/>
                <a:gd name="connsiteY9" fmla="*/ 491892 h 651968"/>
                <a:gd name="connsiteX10" fmla="*/ 1039307 w 1167884"/>
                <a:gd name="connsiteY10" fmla="*/ 646756 h 651968"/>
                <a:gd name="connsiteX11" fmla="*/ 1024449 w 1167884"/>
                <a:gd name="connsiteY11" fmla="*/ 650185 h 651968"/>
                <a:gd name="connsiteX12" fmla="*/ 889585 w 1167884"/>
                <a:gd name="connsiteY12" fmla="*/ 567324 h 651968"/>
                <a:gd name="connsiteX13" fmla="*/ 759294 w 1167884"/>
                <a:gd name="connsiteY13" fmla="*/ 547895 h 651968"/>
                <a:gd name="connsiteX14" fmla="*/ 566714 w 1167884"/>
                <a:gd name="connsiteY14" fmla="*/ 489035 h 651968"/>
                <a:gd name="connsiteX15" fmla="*/ 210126 w 1167884"/>
                <a:gd name="connsiteY15" fmla="*/ 308455 h 651968"/>
                <a:gd name="connsiteX16" fmla="*/ 186697 w 1167884"/>
                <a:gd name="connsiteY16" fmla="*/ 296455 h 651968"/>
                <a:gd name="connsiteX17" fmla="*/ 124408 w 1167884"/>
                <a:gd name="connsiteY17" fmla="*/ 323313 h 651968"/>
                <a:gd name="connsiteX18" fmla="*/ 96978 w 1167884"/>
                <a:gd name="connsiteY18" fmla="*/ 387316 h 651968"/>
                <a:gd name="connsiteX19" fmla="*/ 56977 w 1167884"/>
                <a:gd name="connsiteY19" fmla="*/ 410745 h 651968"/>
                <a:gd name="connsiteX20" fmla="*/ 18118 w 1167884"/>
                <a:gd name="connsiteY20" fmla="*/ 373601 h 651968"/>
                <a:gd name="connsiteX21" fmla="*/ 7260 w 1167884"/>
                <a:gd name="connsiteY21" fmla="*/ 286169 h 651968"/>
                <a:gd name="connsiteX22" fmla="*/ 122122 w 1167884"/>
                <a:gd name="connsiteY22" fmla="*/ 90160 h 651968"/>
                <a:gd name="connsiteX23" fmla="*/ 147838 w 1167884"/>
                <a:gd name="connsiteY23" fmla="*/ 71873 h 651968"/>
                <a:gd name="connsiteX24" fmla="*/ 179482 w 1167884"/>
                <a:gd name="connsiteY24" fmla="*/ 47944 h 651968"/>
                <a:gd name="connsiteX25" fmla="*/ 180662 w 1167884"/>
                <a:gd name="connsiteY25" fmla="*/ 39594 h 651968"/>
                <a:gd name="connsiteX26" fmla="*/ 609586 w 1167884"/>
                <a:gd name="connsiteY26" fmla="*/ 0 h 651968"/>
                <a:gd name="connsiteX27" fmla="*/ 651942 w 1167884"/>
                <a:gd name="connsiteY27" fmla="*/ 10204 h 651968"/>
                <a:gd name="connsiteX28" fmla="*/ 650052 w 1167884"/>
                <a:gd name="connsiteY28" fmla="*/ 10364 h 651968"/>
                <a:gd name="connsiteX29" fmla="*/ 609751 w 1167884"/>
                <a:gd name="connsiteY29" fmla="*/ 138 h 651968"/>
                <a:gd name="connsiteX0" fmla="*/ 436121 w 1167884"/>
                <a:gd name="connsiteY0" fmla="*/ 9766 h 651968"/>
                <a:gd name="connsiteX1" fmla="*/ 435279 w 1167884"/>
                <a:gd name="connsiteY1" fmla="*/ 11299 h 651968"/>
                <a:gd name="connsiteX2" fmla="*/ 534712 w 1167884"/>
                <a:gd name="connsiteY2" fmla="*/ 11870 h 651968"/>
                <a:gd name="connsiteX3" fmla="*/ 637574 w 1167884"/>
                <a:gd name="connsiteY3" fmla="*/ 34157 h 651968"/>
                <a:gd name="connsiteX4" fmla="*/ 766723 w 1167884"/>
                <a:gd name="connsiteY4" fmla="*/ 101017 h 651968"/>
                <a:gd name="connsiteX5" fmla="*/ 847869 w 1167884"/>
                <a:gd name="connsiteY5" fmla="*/ 146733 h 651968"/>
                <a:gd name="connsiteX6" fmla="*/ 966732 w 1167884"/>
                <a:gd name="connsiteY6" fmla="*/ 190736 h 651968"/>
                <a:gd name="connsiteX7" fmla="*/ 1167884 w 1167884"/>
                <a:gd name="connsiteY7" fmla="*/ 226166 h 651968"/>
                <a:gd name="connsiteX8" fmla="*/ 1109595 w 1167884"/>
                <a:gd name="connsiteY8" fmla="*/ 251310 h 651968"/>
                <a:gd name="connsiteX9" fmla="*/ 990733 w 1167884"/>
                <a:gd name="connsiteY9" fmla="*/ 491892 h 651968"/>
                <a:gd name="connsiteX10" fmla="*/ 1039307 w 1167884"/>
                <a:gd name="connsiteY10" fmla="*/ 646756 h 651968"/>
                <a:gd name="connsiteX11" fmla="*/ 1024449 w 1167884"/>
                <a:gd name="connsiteY11" fmla="*/ 650185 h 651968"/>
                <a:gd name="connsiteX12" fmla="*/ 889585 w 1167884"/>
                <a:gd name="connsiteY12" fmla="*/ 567324 h 651968"/>
                <a:gd name="connsiteX13" fmla="*/ 759294 w 1167884"/>
                <a:gd name="connsiteY13" fmla="*/ 547895 h 651968"/>
                <a:gd name="connsiteX14" fmla="*/ 566714 w 1167884"/>
                <a:gd name="connsiteY14" fmla="*/ 489035 h 651968"/>
                <a:gd name="connsiteX15" fmla="*/ 210126 w 1167884"/>
                <a:gd name="connsiteY15" fmla="*/ 308455 h 651968"/>
                <a:gd name="connsiteX16" fmla="*/ 186697 w 1167884"/>
                <a:gd name="connsiteY16" fmla="*/ 296455 h 651968"/>
                <a:gd name="connsiteX17" fmla="*/ 124408 w 1167884"/>
                <a:gd name="connsiteY17" fmla="*/ 323313 h 651968"/>
                <a:gd name="connsiteX18" fmla="*/ 96978 w 1167884"/>
                <a:gd name="connsiteY18" fmla="*/ 387316 h 651968"/>
                <a:gd name="connsiteX19" fmla="*/ 56977 w 1167884"/>
                <a:gd name="connsiteY19" fmla="*/ 410745 h 651968"/>
                <a:gd name="connsiteX20" fmla="*/ 18118 w 1167884"/>
                <a:gd name="connsiteY20" fmla="*/ 373601 h 651968"/>
                <a:gd name="connsiteX21" fmla="*/ 7260 w 1167884"/>
                <a:gd name="connsiteY21" fmla="*/ 286169 h 651968"/>
                <a:gd name="connsiteX22" fmla="*/ 122122 w 1167884"/>
                <a:gd name="connsiteY22" fmla="*/ 90160 h 651968"/>
                <a:gd name="connsiteX23" fmla="*/ 147838 w 1167884"/>
                <a:gd name="connsiteY23" fmla="*/ 71873 h 651968"/>
                <a:gd name="connsiteX24" fmla="*/ 179482 w 1167884"/>
                <a:gd name="connsiteY24" fmla="*/ 47944 h 651968"/>
                <a:gd name="connsiteX25" fmla="*/ 436121 w 1167884"/>
                <a:gd name="connsiteY25" fmla="*/ 9766 h 651968"/>
                <a:gd name="connsiteX26" fmla="*/ 609586 w 1167884"/>
                <a:gd name="connsiteY26" fmla="*/ 0 h 651968"/>
                <a:gd name="connsiteX27" fmla="*/ 651942 w 1167884"/>
                <a:gd name="connsiteY27" fmla="*/ 10204 h 651968"/>
                <a:gd name="connsiteX28" fmla="*/ 650052 w 1167884"/>
                <a:gd name="connsiteY28" fmla="*/ 10364 h 651968"/>
                <a:gd name="connsiteX29" fmla="*/ 609751 w 1167884"/>
                <a:gd name="connsiteY29" fmla="*/ 138 h 651968"/>
                <a:gd name="connsiteX30" fmla="*/ 609586 w 1167884"/>
                <a:gd name="connsiteY30" fmla="*/ 0 h 651968"/>
                <a:gd name="connsiteX0" fmla="*/ 436121 w 1167884"/>
                <a:gd name="connsiteY0" fmla="*/ 9766 h 651968"/>
                <a:gd name="connsiteX1" fmla="*/ 435279 w 1167884"/>
                <a:gd name="connsiteY1" fmla="*/ 11299 h 651968"/>
                <a:gd name="connsiteX2" fmla="*/ 534712 w 1167884"/>
                <a:gd name="connsiteY2" fmla="*/ 11870 h 651968"/>
                <a:gd name="connsiteX3" fmla="*/ 637574 w 1167884"/>
                <a:gd name="connsiteY3" fmla="*/ 34157 h 651968"/>
                <a:gd name="connsiteX4" fmla="*/ 766723 w 1167884"/>
                <a:gd name="connsiteY4" fmla="*/ 101017 h 651968"/>
                <a:gd name="connsiteX5" fmla="*/ 847869 w 1167884"/>
                <a:gd name="connsiteY5" fmla="*/ 146733 h 651968"/>
                <a:gd name="connsiteX6" fmla="*/ 966732 w 1167884"/>
                <a:gd name="connsiteY6" fmla="*/ 190736 h 651968"/>
                <a:gd name="connsiteX7" fmla="*/ 1167884 w 1167884"/>
                <a:gd name="connsiteY7" fmla="*/ 226166 h 651968"/>
                <a:gd name="connsiteX8" fmla="*/ 1109595 w 1167884"/>
                <a:gd name="connsiteY8" fmla="*/ 251310 h 651968"/>
                <a:gd name="connsiteX9" fmla="*/ 990733 w 1167884"/>
                <a:gd name="connsiteY9" fmla="*/ 491892 h 651968"/>
                <a:gd name="connsiteX10" fmla="*/ 1039307 w 1167884"/>
                <a:gd name="connsiteY10" fmla="*/ 646756 h 651968"/>
                <a:gd name="connsiteX11" fmla="*/ 1024449 w 1167884"/>
                <a:gd name="connsiteY11" fmla="*/ 650185 h 651968"/>
                <a:gd name="connsiteX12" fmla="*/ 889585 w 1167884"/>
                <a:gd name="connsiteY12" fmla="*/ 567324 h 651968"/>
                <a:gd name="connsiteX13" fmla="*/ 759294 w 1167884"/>
                <a:gd name="connsiteY13" fmla="*/ 547895 h 651968"/>
                <a:gd name="connsiteX14" fmla="*/ 566714 w 1167884"/>
                <a:gd name="connsiteY14" fmla="*/ 489035 h 651968"/>
                <a:gd name="connsiteX15" fmla="*/ 210126 w 1167884"/>
                <a:gd name="connsiteY15" fmla="*/ 308455 h 651968"/>
                <a:gd name="connsiteX16" fmla="*/ 186697 w 1167884"/>
                <a:gd name="connsiteY16" fmla="*/ 296455 h 651968"/>
                <a:gd name="connsiteX17" fmla="*/ 124408 w 1167884"/>
                <a:gd name="connsiteY17" fmla="*/ 323313 h 651968"/>
                <a:gd name="connsiteX18" fmla="*/ 96978 w 1167884"/>
                <a:gd name="connsiteY18" fmla="*/ 387316 h 651968"/>
                <a:gd name="connsiteX19" fmla="*/ 56977 w 1167884"/>
                <a:gd name="connsiteY19" fmla="*/ 410745 h 651968"/>
                <a:gd name="connsiteX20" fmla="*/ 18118 w 1167884"/>
                <a:gd name="connsiteY20" fmla="*/ 373601 h 651968"/>
                <a:gd name="connsiteX21" fmla="*/ 7260 w 1167884"/>
                <a:gd name="connsiteY21" fmla="*/ 286169 h 651968"/>
                <a:gd name="connsiteX22" fmla="*/ 122122 w 1167884"/>
                <a:gd name="connsiteY22" fmla="*/ 90160 h 651968"/>
                <a:gd name="connsiteX23" fmla="*/ 147838 w 1167884"/>
                <a:gd name="connsiteY23" fmla="*/ 71873 h 651968"/>
                <a:gd name="connsiteX24" fmla="*/ 179482 w 1167884"/>
                <a:gd name="connsiteY24" fmla="*/ 47944 h 651968"/>
                <a:gd name="connsiteX25" fmla="*/ 436121 w 1167884"/>
                <a:gd name="connsiteY25" fmla="*/ 9766 h 651968"/>
                <a:gd name="connsiteX26" fmla="*/ 609586 w 1167884"/>
                <a:gd name="connsiteY26" fmla="*/ 0 h 651968"/>
                <a:gd name="connsiteX27" fmla="*/ 651942 w 1167884"/>
                <a:gd name="connsiteY27" fmla="*/ 10204 h 651968"/>
                <a:gd name="connsiteX28" fmla="*/ 609751 w 1167884"/>
                <a:gd name="connsiteY28" fmla="*/ 138 h 651968"/>
                <a:gd name="connsiteX29" fmla="*/ 609586 w 1167884"/>
                <a:gd name="connsiteY29" fmla="*/ 0 h 651968"/>
                <a:gd name="connsiteX0" fmla="*/ 436121 w 1167884"/>
                <a:gd name="connsiteY0" fmla="*/ 9766 h 651968"/>
                <a:gd name="connsiteX1" fmla="*/ 435279 w 1167884"/>
                <a:gd name="connsiteY1" fmla="*/ 11299 h 651968"/>
                <a:gd name="connsiteX2" fmla="*/ 534712 w 1167884"/>
                <a:gd name="connsiteY2" fmla="*/ 11870 h 651968"/>
                <a:gd name="connsiteX3" fmla="*/ 637574 w 1167884"/>
                <a:gd name="connsiteY3" fmla="*/ 34157 h 651968"/>
                <a:gd name="connsiteX4" fmla="*/ 766723 w 1167884"/>
                <a:gd name="connsiteY4" fmla="*/ 101017 h 651968"/>
                <a:gd name="connsiteX5" fmla="*/ 847869 w 1167884"/>
                <a:gd name="connsiteY5" fmla="*/ 146733 h 651968"/>
                <a:gd name="connsiteX6" fmla="*/ 966732 w 1167884"/>
                <a:gd name="connsiteY6" fmla="*/ 190736 h 651968"/>
                <a:gd name="connsiteX7" fmla="*/ 1167884 w 1167884"/>
                <a:gd name="connsiteY7" fmla="*/ 226166 h 651968"/>
                <a:gd name="connsiteX8" fmla="*/ 1109595 w 1167884"/>
                <a:gd name="connsiteY8" fmla="*/ 251310 h 651968"/>
                <a:gd name="connsiteX9" fmla="*/ 990733 w 1167884"/>
                <a:gd name="connsiteY9" fmla="*/ 491892 h 651968"/>
                <a:gd name="connsiteX10" fmla="*/ 1039307 w 1167884"/>
                <a:gd name="connsiteY10" fmla="*/ 646756 h 651968"/>
                <a:gd name="connsiteX11" fmla="*/ 1024449 w 1167884"/>
                <a:gd name="connsiteY11" fmla="*/ 650185 h 651968"/>
                <a:gd name="connsiteX12" fmla="*/ 889585 w 1167884"/>
                <a:gd name="connsiteY12" fmla="*/ 567324 h 651968"/>
                <a:gd name="connsiteX13" fmla="*/ 759294 w 1167884"/>
                <a:gd name="connsiteY13" fmla="*/ 547895 h 651968"/>
                <a:gd name="connsiteX14" fmla="*/ 566714 w 1167884"/>
                <a:gd name="connsiteY14" fmla="*/ 489035 h 651968"/>
                <a:gd name="connsiteX15" fmla="*/ 210126 w 1167884"/>
                <a:gd name="connsiteY15" fmla="*/ 308455 h 651968"/>
                <a:gd name="connsiteX16" fmla="*/ 186697 w 1167884"/>
                <a:gd name="connsiteY16" fmla="*/ 296455 h 651968"/>
                <a:gd name="connsiteX17" fmla="*/ 124408 w 1167884"/>
                <a:gd name="connsiteY17" fmla="*/ 323313 h 651968"/>
                <a:gd name="connsiteX18" fmla="*/ 96978 w 1167884"/>
                <a:gd name="connsiteY18" fmla="*/ 387316 h 651968"/>
                <a:gd name="connsiteX19" fmla="*/ 56977 w 1167884"/>
                <a:gd name="connsiteY19" fmla="*/ 410745 h 651968"/>
                <a:gd name="connsiteX20" fmla="*/ 18118 w 1167884"/>
                <a:gd name="connsiteY20" fmla="*/ 373601 h 651968"/>
                <a:gd name="connsiteX21" fmla="*/ 7260 w 1167884"/>
                <a:gd name="connsiteY21" fmla="*/ 286169 h 651968"/>
                <a:gd name="connsiteX22" fmla="*/ 122122 w 1167884"/>
                <a:gd name="connsiteY22" fmla="*/ 90160 h 651968"/>
                <a:gd name="connsiteX23" fmla="*/ 147838 w 1167884"/>
                <a:gd name="connsiteY23" fmla="*/ 71873 h 651968"/>
                <a:gd name="connsiteX24" fmla="*/ 179482 w 1167884"/>
                <a:gd name="connsiteY24" fmla="*/ 47944 h 651968"/>
                <a:gd name="connsiteX25" fmla="*/ 436121 w 1167884"/>
                <a:gd name="connsiteY25" fmla="*/ 9766 h 651968"/>
                <a:gd name="connsiteX26" fmla="*/ 609586 w 1167884"/>
                <a:gd name="connsiteY26" fmla="*/ 0 h 651968"/>
                <a:gd name="connsiteX27" fmla="*/ 609751 w 1167884"/>
                <a:gd name="connsiteY27" fmla="*/ 138 h 651968"/>
                <a:gd name="connsiteX28" fmla="*/ 609586 w 1167884"/>
                <a:gd name="connsiteY28" fmla="*/ 0 h 651968"/>
                <a:gd name="connsiteX0" fmla="*/ 436121 w 1167884"/>
                <a:gd name="connsiteY0" fmla="*/ 9766 h 648160"/>
                <a:gd name="connsiteX1" fmla="*/ 435279 w 1167884"/>
                <a:gd name="connsiteY1" fmla="*/ 11299 h 648160"/>
                <a:gd name="connsiteX2" fmla="*/ 534712 w 1167884"/>
                <a:gd name="connsiteY2" fmla="*/ 11870 h 648160"/>
                <a:gd name="connsiteX3" fmla="*/ 637574 w 1167884"/>
                <a:gd name="connsiteY3" fmla="*/ 34157 h 648160"/>
                <a:gd name="connsiteX4" fmla="*/ 766723 w 1167884"/>
                <a:gd name="connsiteY4" fmla="*/ 101017 h 648160"/>
                <a:gd name="connsiteX5" fmla="*/ 847869 w 1167884"/>
                <a:gd name="connsiteY5" fmla="*/ 146733 h 648160"/>
                <a:gd name="connsiteX6" fmla="*/ 966732 w 1167884"/>
                <a:gd name="connsiteY6" fmla="*/ 190736 h 648160"/>
                <a:gd name="connsiteX7" fmla="*/ 1167884 w 1167884"/>
                <a:gd name="connsiteY7" fmla="*/ 226166 h 648160"/>
                <a:gd name="connsiteX8" fmla="*/ 1109595 w 1167884"/>
                <a:gd name="connsiteY8" fmla="*/ 251310 h 648160"/>
                <a:gd name="connsiteX9" fmla="*/ 990733 w 1167884"/>
                <a:gd name="connsiteY9" fmla="*/ 491892 h 648160"/>
                <a:gd name="connsiteX10" fmla="*/ 1039307 w 1167884"/>
                <a:gd name="connsiteY10" fmla="*/ 646756 h 648160"/>
                <a:gd name="connsiteX11" fmla="*/ 889585 w 1167884"/>
                <a:gd name="connsiteY11" fmla="*/ 567324 h 648160"/>
                <a:gd name="connsiteX12" fmla="*/ 759294 w 1167884"/>
                <a:gd name="connsiteY12" fmla="*/ 547895 h 648160"/>
                <a:gd name="connsiteX13" fmla="*/ 566714 w 1167884"/>
                <a:gd name="connsiteY13" fmla="*/ 489035 h 648160"/>
                <a:gd name="connsiteX14" fmla="*/ 210126 w 1167884"/>
                <a:gd name="connsiteY14" fmla="*/ 308455 h 648160"/>
                <a:gd name="connsiteX15" fmla="*/ 186697 w 1167884"/>
                <a:gd name="connsiteY15" fmla="*/ 296455 h 648160"/>
                <a:gd name="connsiteX16" fmla="*/ 124408 w 1167884"/>
                <a:gd name="connsiteY16" fmla="*/ 323313 h 648160"/>
                <a:gd name="connsiteX17" fmla="*/ 96978 w 1167884"/>
                <a:gd name="connsiteY17" fmla="*/ 387316 h 648160"/>
                <a:gd name="connsiteX18" fmla="*/ 56977 w 1167884"/>
                <a:gd name="connsiteY18" fmla="*/ 410745 h 648160"/>
                <a:gd name="connsiteX19" fmla="*/ 18118 w 1167884"/>
                <a:gd name="connsiteY19" fmla="*/ 373601 h 648160"/>
                <a:gd name="connsiteX20" fmla="*/ 7260 w 1167884"/>
                <a:gd name="connsiteY20" fmla="*/ 286169 h 648160"/>
                <a:gd name="connsiteX21" fmla="*/ 122122 w 1167884"/>
                <a:gd name="connsiteY21" fmla="*/ 90160 h 648160"/>
                <a:gd name="connsiteX22" fmla="*/ 147838 w 1167884"/>
                <a:gd name="connsiteY22" fmla="*/ 71873 h 648160"/>
                <a:gd name="connsiteX23" fmla="*/ 179482 w 1167884"/>
                <a:gd name="connsiteY23" fmla="*/ 47944 h 648160"/>
                <a:gd name="connsiteX24" fmla="*/ 436121 w 1167884"/>
                <a:gd name="connsiteY24" fmla="*/ 9766 h 648160"/>
                <a:gd name="connsiteX25" fmla="*/ 609586 w 1167884"/>
                <a:gd name="connsiteY25" fmla="*/ 0 h 648160"/>
                <a:gd name="connsiteX26" fmla="*/ 609751 w 1167884"/>
                <a:gd name="connsiteY26" fmla="*/ 138 h 648160"/>
                <a:gd name="connsiteX27" fmla="*/ 609586 w 1167884"/>
                <a:gd name="connsiteY27" fmla="*/ 0 h 64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7884" h="648160">
                  <a:moveTo>
                    <a:pt x="436121" y="9766"/>
                  </a:moveTo>
                  <a:lnTo>
                    <a:pt x="435279" y="11299"/>
                  </a:lnTo>
                  <a:cubicBezTo>
                    <a:pt x="470138" y="7299"/>
                    <a:pt x="502139" y="17585"/>
                    <a:pt x="534712" y="11870"/>
                  </a:cubicBezTo>
                  <a:cubicBezTo>
                    <a:pt x="571285" y="5585"/>
                    <a:pt x="606144" y="13585"/>
                    <a:pt x="637574" y="34157"/>
                  </a:cubicBezTo>
                  <a:cubicBezTo>
                    <a:pt x="678147" y="61587"/>
                    <a:pt x="722149" y="82159"/>
                    <a:pt x="766723" y="101017"/>
                  </a:cubicBezTo>
                  <a:cubicBezTo>
                    <a:pt x="795295" y="113018"/>
                    <a:pt x="822154" y="129019"/>
                    <a:pt x="847869" y="146733"/>
                  </a:cubicBezTo>
                  <a:cubicBezTo>
                    <a:pt x="883871" y="171306"/>
                    <a:pt x="923873" y="185021"/>
                    <a:pt x="966732" y="190736"/>
                  </a:cubicBezTo>
                  <a:cubicBezTo>
                    <a:pt x="1014734" y="197593"/>
                    <a:pt x="1135882" y="216451"/>
                    <a:pt x="1167884" y="226166"/>
                  </a:cubicBezTo>
                  <a:cubicBezTo>
                    <a:pt x="1160455" y="238738"/>
                    <a:pt x="1121596" y="245595"/>
                    <a:pt x="1109595" y="251310"/>
                  </a:cubicBezTo>
                  <a:cubicBezTo>
                    <a:pt x="1031306" y="289597"/>
                    <a:pt x="982733" y="402174"/>
                    <a:pt x="990733" y="491892"/>
                  </a:cubicBezTo>
                  <a:cubicBezTo>
                    <a:pt x="998733" y="549037"/>
                    <a:pt x="1005591" y="599325"/>
                    <a:pt x="1039307" y="646756"/>
                  </a:cubicBezTo>
                  <a:cubicBezTo>
                    <a:pt x="1022449" y="659328"/>
                    <a:pt x="936254" y="583801"/>
                    <a:pt x="889585" y="567324"/>
                  </a:cubicBezTo>
                  <a:cubicBezTo>
                    <a:pt x="842916" y="550847"/>
                    <a:pt x="803867" y="546180"/>
                    <a:pt x="759294" y="547895"/>
                  </a:cubicBezTo>
                  <a:cubicBezTo>
                    <a:pt x="693577" y="533037"/>
                    <a:pt x="627859" y="519893"/>
                    <a:pt x="566714" y="489035"/>
                  </a:cubicBezTo>
                  <a:cubicBezTo>
                    <a:pt x="447851" y="428461"/>
                    <a:pt x="319274" y="388459"/>
                    <a:pt x="210126" y="308455"/>
                  </a:cubicBezTo>
                  <a:cubicBezTo>
                    <a:pt x="202697" y="303312"/>
                    <a:pt x="195268" y="299884"/>
                    <a:pt x="186697" y="296455"/>
                  </a:cubicBezTo>
                  <a:cubicBezTo>
                    <a:pt x="151838" y="281597"/>
                    <a:pt x="137552" y="288454"/>
                    <a:pt x="124408" y="323313"/>
                  </a:cubicBezTo>
                  <a:cubicBezTo>
                    <a:pt x="116408" y="345028"/>
                    <a:pt x="110122" y="367315"/>
                    <a:pt x="96978" y="387316"/>
                  </a:cubicBezTo>
                  <a:cubicBezTo>
                    <a:pt x="87264" y="402174"/>
                    <a:pt x="75834" y="413603"/>
                    <a:pt x="56977" y="410745"/>
                  </a:cubicBezTo>
                  <a:cubicBezTo>
                    <a:pt x="38118" y="408460"/>
                    <a:pt x="24404" y="374173"/>
                    <a:pt x="18118" y="373601"/>
                  </a:cubicBezTo>
                  <a:cubicBezTo>
                    <a:pt x="-7598" y="346743"/>
                    <a:pt x="-740" y="315313"/>
                    <a:pt x="7260" y="286169"/>
                  </a:cubicBezTo>
                  <a:cubicBezTo>
                    <a:pt x="28404" y="210736"/>
                    <a:pt x="72977" y="149019"/>
                    <a:pt x="122122" y="90160"/>
                  </a:cubicBezTo>
                  <a:cubicBezTo>
                    <a:pt x="128408" y="82159"/>
                    <a:pt x="138123" y="75302"/>
                    <a:pt x="147838" y="71873"/>
                  </a:cubicBezTo>
                  <a:cubicBezTo>
                    <a:pt x="164125" y="66730"/>
                    <a:pt x="173982" y="58587"/>
                    <a:pt x="179482" y="47944"/>
                  </a:cubicBezTo>
                  <a:lnTo>
                    <a:pt x="436121" y="9766"/>
                  </a:lnTo>
                  <a:close/>
                  <a:moveTo>
                    <a:pt x="609586" y="0"/>
                  </a:moveTo>
                  <a:lnTo>
                    <a:pt x="609751" y="138"/>
                  </a:lnTo>
                  <a:lnTo>
                    <a:pt x="609586" y="0"/>
                  </a:lnTo>
                  <a:close/>
                </a:path>
              </a:pathLst>
            </a:custGeom>
            <a:gradFill>
              <a:gsLst>
                <a:gs pos="41000">
                  <a:schemeClr val="accent2">
                    <a:lumMod val="20000"/>
                    <a:lumOff val="80000"/>
                  </a:schemeClr>
                </a:gs>
                <a:gs pos="0">
                  <a:schemeClr val="bg1">
                    <a:lumMod val="95000"/>
                  </a:schemeClr>
                </a:gs>
                <a:gs pos="100000">
                  <a:schemeClr val="accent2">
                    <a:lumMod val="40000"/>
                    <a:lumOff val="60000"/>
                  </a:schemeClr>
                </a:gs>
              </a:gsLst>
              <a:lin ang="132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49" name="Rectangle 2">
            <a:extLst>
              <a:ext uri="{FF2B5EF4-FFF2-40B4-BE49-F238E27FC236}">
                <a16:creationId xmlns:a16="http://schemas.microsoft.com/office/drawing/2014/main" id="{C7B2FA1E-91C2-4097-AFE3-14D4058B6D0D}"/>
              </a:ext>
            </a:extLst>
          </p:cNvPr>
          <p:cNvSpPr/>
          <p:nvPr/>
        </p:nvSpPr>
        <p:spPr>
          <a:xfrm>
            <a:off x="1061255" y="3851"/>
            <a:ext cx="45719" cy="182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
            <a:extLst>
              <a:ext uri="{FF2B5EF4-FFF2-40B4-BE49-F238E27FC236}">
                <a16:creationId xmlns:a16="http://schemas.microsoft.com/office/drawing/2014/main" id="{DE4DD181-BDAB-410A-9BA5-56864BBB353C}"/>
              </a:ext>
            </a:extLst>
          </p:cNvPr>
          <p:cNvSpPr/>
          <p:nvPr/>
        </p:nvSpPr>
        <p:spPr>
          <a:xfrm>
            <a:off x="1963415" y="3851"/>
            <a:ext cx="45719" cy="77859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
            <a:extLst>
              <a:ext uri="{FF2B5EF4-FFF2-40B4-BE49-F238E27FC236}">
                <a16:creationId xmlns:a16="http://schemas.microsoft.com/office/drawing/2014/main" id="{7142E58D-A402-483B-ADE9-39DC8129F852}"/>
              </a:ext>
            </a:extLst>
          </p:cNvPr>
          <p:cNvGrpSpPr/>
          <p:nvPr/>
        </p:nvGrpSpPr>
        <p:grpSpPr>
          <a:xfrm>
            <a:off x="599496" y="1399120"/>
            <a:ext cx="969237" cy="969236"/>
            <a:chOff x="445383" y="1395269"/>
            <a:chExt cx="969237" cy="969236"/>
          </a:xfrm>
        </p:grpSpPr>
        <p:grpSp>
          <p:nvGrpSpPr>
            <p:cNvPr id="52" name="Group 6">
              <a:extLst>
                <a:ext uri="{FF2B5EF4-FFF2-40B4-BE49-F238E27FC236}">
                  <a16:creationId xmlns:a16="http://schemas.microsoft.com/office/drawing/2014/main" id="{9589C04E-F113-4661-BAC5-5AC8BC7CD4BE}"/>
                </a:ext>
              </a:extLst>
            </p:cNvPr>
            <p:cNvGrpSpPr/>
            <p:nvPr/>
          </p:nvGrpSpPr>
          <p:grpSpPr>
            <a:xfrm>
              <a:off x="445383" y="1395269"/>
              <a:ext cx="969237" cy="969236"/>
              <a:chOff x="445383" y="1395269"/>
              <a:chExt cx="969237" cy="969236"/>
            </a:xfrm>
          </p:grpSpPr>
          <p:sp>
            <p:nvSpPr>
              <p:cNvPr id="54" name="Chord 8">
                <a:extLst>
                  <a:ext uri="{FF2B5EF4-FFF2-40B4-BE49-F238E27FC236}">
                    <a16:creationId xmlns:a16="http://schemas.microsoft.com/office/drawing/2014/main" id="{5A0E76D9-F03F-48CF-B9C3-188BA417E0F2}"/>
                  </a:ext>
                </a:extLst>
              </p:cNvPr>
              <p:cNvSpPr/>
              <p:nvPr/>
            </p:nvSpPr>
            <p:spPr>
              <a:xfrm>
                <a:off x="445383" y="1395269"/>
                <a:ext cx="969236" cy="969236"/>
              </a:xfrm>
              <a:prstGeom prst="chord">
                <a:avLst>
                  <a:gd name="adj1" fmla="val 10883871"/>
                  <a:gd name="adj2" fmla="val 2150689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9">
                <a:extLst>
                  <a:ext uri="{FF2B5EF4-FFF2-40B4-BE49-F238E27FC236}">
                    <a16:creationId xmlns:a16="http://schemas.microsoft.com/office/drawing/2014/main" id="{1DB16FE1-E44F-47FA-B487-704DC882763A}"/>
                  </a:ext>
                </a:extLst>
              </p:cNvPr>
              <p:cNvSpPr/>
              <p:nvPr/>
            </p:nvSpPr>
            <p:spPr>
              <a:xfrm>
                <a:off x="445384" y="1808828"/>
                <a:ext cx="969236" cy="9954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Chord 7">
              <a:extLst>
                <a:ext uri="{FF2B5EF4-FFF2-40B4-BE49-F238E27FC236}">
                  <a16:creationId xmlns:a16="http://schemas.microsoft.com/office/drawing/2014/main" id="{30FAE388-01B4-43C2-8E79-01198AC62A67}"/>
                </a:ext>
              </a:extLst>
            </p:cNvPr>
            <p:cNvSpPr/>
            <p:nvPr/>
          </p:nvSpPr>
          <p:spPr>
            <a:xfrm rot="10800000">
              <a:off x="797736" y="1682659"/>
              <a:ext cx="261159" cy="261159"/>
            </a:xfrm>
            <a:prstGeom prst="chord">
              <a:avLst>
                <a:gd name="adj1" fmla="val 10883871"/>
                <a:gd name="adj2" fmla="val 2150689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10">
            <a:extLst>
              <a:ext uri="{FF2B5EF4-FFF2-40B4-BE49-F238E27FC236}">
                <a16:creationId xmlns:a16="http://schemas.microsoft.com/office/drawing/2014/main" id="{95F34DC8-9E2D-4E1A-9CFD-56C8B3A06E84}"/>
              </a:ext>
            </a:extLst>
          </p:cNvPr>
          <p:cNvGrpSpPr/>
          <p:nvPr/>
        </p:nvGrpSpPr>
        <p:grpSpPr>
          <a:xfrm>
            <a:off x="1501655" y="702064"/>
            <a:ext cx="969237" cy="969236"/>
            <a:chOff x="445383" y="1395269"/>
            <a:chExt cx="969237" cy="969236"/>
          </a:xfrm>
        </p:grpSpPr>
        <p:grpSp>
          <p:nvGrpSpPr>
            <p:cNvPr id="57" name="Group 11">
              <a:extLst>
                <a:ext uri="{FF2B5EF4-FFF2-40B4-BE49-F238E27FC236}">
                  <a16:creationId xmlns:a16="http://schemas.microsoft.com/office/drawing/2014/main" id="{7ADF6B1A-B210-4CF2-9F12-1C20266E460D}"/>
                </a:ext>
              </a:extLst>
            </p:cNvPr>
            <p:cNvGrpSpPr/>
            <p:nvPr/>
          </p:nvGrpSpPr>
          <p:grpSpPr>
            <a:xfrm>
              <a:off x="445383" y="1395269"/>
              <a:ext cx="969237" cy="969236"/>
              <a:chOff x="445383" y="1395269"/>
              <a:chExt cx="969237" cy="969236"/>
            </a:xfrm>
          </p:grpSpPr>
          <p:sp>
            <p:nvSpPr>
              <p:cNvPr id="59" name="Chord 13">
                <a:extLst>
                  <a:ext uri="{FF2B5EF4-FFF2-40B4-BE49-F238E27FC236}">
                    <a16:creationId xmlns:a16="http://schemas.microsoft.com/office/drawing/2014/main" id="{C674817E-D7F3-4B53-90B5-F66570347883}"/>
                  </a:ext>
                </a:extLst>
              </p:cNvPr>
              <p:cNvSpPr/>
              <p:nvPr/>
            </p:nvSpPr>
            <p:spPr>
              <a:xfrm>
                <a:off x="445383" y="1395269"/>
                <a:ext cx="969236" cy="969236"/>
              </a:xfrm>
              <a:prstGeom prst="chord">
                <a:avLst>
                  <a:gd name="adj1" fmla="val 10883871"/>
                  <a:gd name="adj2" fmla="val 2150689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14">
                <a:extLst>
                  <a:ext uri="{FF2B5EF4-FFF2-40B4-BE49-F238E27FC236}">
                    <a16:creationId xmlns:a16="http://schemas.microsoft.com/office/drawing/2014/main" id="{F6C134B4-2621-4871-BC6E-61BAE813CDAB}"/>
                  </a:ext>
                </a:extLst>
              </p:cNvPr>
              <p:cNvSpPr/>
              <p:nvPr/>
            </p:nvSpPr>
            <p:spPr>
              <a:xfrm>
                <a:off x="445384" y="1808828"/>
                <a:ext cx="969236" cy="9954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Chord 12">
              <a:extLst>
                <a:ext uri="{FF2B5EF4-FFF2-40B4-BE49-F238E27FC236}">
                  <a16:creationId xmlns:a16="http://schemas.microsoft.com/office/drawing/2014/main" id="{7624E49C-27C6-4725-8DE9-C6935B8865BA}"/>
                </a:ext>
              </a:extLst>
            </p:cNvPr>
            <p:cNvSpPr/>
            <p:nvPr/>
          </p:nvSpPr>
          <p:spPr>
            <a:xfrm rot="10800000">
              <a:off x="797736" y="1682659"/>
              <a:ext cx="261159" cy="261159"/>
            </a:xfrm>
            <a:prstGeom prst="chord">
              <a:avLst>
                <a:gd name="adj1" fmla="val 10883871"/>
                <a:gd name="adj2" fmla="val 2150689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5" name="Rectangle 40">
            <a:extLst>
              <a:ext uri="{FF2B5EF4-FFF2-40B4-BE49-F238E27FC236}">
                <a16:creationId xmlns:a16="http://schemas.microsoft.com/office/drawing/2014/main" id="{38434C33-0D05-C8E1-C35A-349EDD86D01A}"/>
              </a:ext>
            </a:extLst>
          </p:cNvPr>
          <p:cNvSpPr/>
          <p:nvPr/>
        </p:nvSpPr>
        <p:spPr>
          <a:xfrm>
            <a:off x="4450753" y="4613331"/>
            <a:ext cx="510308" cy="4755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t>03</a:t>
            </a:r>
            <a:endParaRPr lang="ko-KR" altLang="en-US" sz="1200" b="1" dirty="0"/>
          </a:p>
        </p:txBody>
      </p:sp>
      <p:sp>
        <p:nvSpPr>
          <p:cNvPr id="66" name="TextBox 24">
            <a:extLst>
              <a:ext uri="{FF2B5EF4-FFF2-40B4-BE49-F238E27FC236}">
                <a16:creationId xmlns:a16="http://schemas.microsoft.com/office/drawing/2014/main" id="{67F40EE3-DB11-96BD-9CB9-83B804665BE4}"/>
              </a:ext>
            </a:extLst>
          </p:cNvPr>
          <p:cNvSpPr txBox="1"/>
          <p:nvPr/>
        </p:nvSpPr>
        <p:spPr>
          <a:xfrm>
            <a:off x="5051694" y="2857041"/>
            <a:ext cx="2907884" cy="276999"/>
          </a:xfrm>
          <a:prstGeom prst="rect">
            <a:avLst/>
          </a:prstGeom>
          <a:noFill/>
        </p:spPr>
        <p:txBody>
          <a:bodyPr wrap="square" rtlCol="0">
            <a:spAutoFit/>
          </a:bodyPr>
          <a:lstStyle/>
          <a:p>
            <a:r>
              <a:rPr lang="en-US" altLang="ko-KR" sz="1200" dirty="0">
                <a:solidFill>
                  <a:schemeClr val="bg1"/>
                </a:solidFill>
              </a:rPr>
              <a:t>Direct counting within sequences</a:t>
            </a:r>
            <a:endParaRPr lang="en-US" altLang="ko-KR" sz="1200" dirty="0">
              <a:solidFill>
                <a:schemeClr val="bg1"/>
              </a:solidFill>
              <a:cs typeface="Arial" pitchFamily="34" charset="0"/>
            </a:endParaRPr>
          </a:p>
        </p:txBody>
      </p:sp>
      <p:sp>
        <p:nvSpPr>
          <p:cNvPr id="67" name="TextBox 24">
            <a:extLst>
              <a:ext uri="{FF2B5EF4-FFF2-40B4-BE49-F238E27FC236}">
                <a16:creationId xmlns:a16="http://schemas.microsoft.com/office/drawing/2014/main" id="{B327C996-0639-971F-C9A4-A93D3DB5C86B}"/>
              </a:ext>
            </a:extLst>
          </p:cNvPr>
          <p:cNvSpPr txBox="1"/>
          <p:nvPr/>
        </p:nvSpPr>
        <p:spPr>
          <a:xfrm>
            <a:off x="4982848" y="3833194"/>
            <a:ext cx="2907884" cy="276999"/>
          </a:xfrm>
          <a:prstGeom prst="rect">
            <a:avLst/>
          </a:prstGeom>
          <a:noFill/>
        </p:spPr>
        <p:txBody>
          <a:bodyPr wrap="square" rtlCol="0">
            <a:spAutoFit/>
          </a:bodyPr>
          <a:lstStyle/>
          <a:p>
            <a:r>
              <a:rPr lang="en-US" altLang="ko-KR" sz="1200" dirty="0">
                <a:solidFill>
                  <a:schemeClr val="bg1"/>
                </a:solidFill>
                <a:cs typeface="Arial" pitchFamily="34" charset="0"/>
              </a:rPr>
              <a:t>Removal of invalid patterns</a:t>
            </a:r>
          </a:p>
        </p:txBody>
      </p:sp>
      <p:sp>
        <p:nvSpPr>
          <p:cNvPr id="68" name="TextBox 24">
            <a:extLst>
              <a:ext uri="{FF2B5EF4-FFF2-40B4-BE49-F238E27FC236}">
                <a16:creationId xmlns:a16="http://schemas.microsoft.com/office/drawing/2014/main" id="{C83B3FB1-7944-C4FB-FF5A-49C447C00085}"/>
              </a:ext>
            </a:extLst>
          </p:cNvPr>
          <p:cNvSpPr txBox="1"/>
          <p:nvPr/>
        </p:nvSpPr>
        <p:spPr>
          <a:xfrm>
            <a:off x="5051694" y="4712588"/>
            <a:ext cx="2907884" cy="276999"/>
          </a:xfrm>
          <a:prstGeom prst="rect">
            <a:avLst/>
          </a:prstGeom>
          <a:noFill/>
        </p:spPr>
        <p:txBody>
          <a:bodyPr wrap="square" rtlCol="0">
            <a:spAutoFit/>
          </a:bodyPr>
          <a:lstStyle/>
          <a:p>
            <a:r>
              <a:rPr lang="en-US" altLang="ko-KR" sz="1200" dirty="0">
                <a:solidFill>
                  <a:schemeClr val="bg1"/>
                </a:solidFill>
                <a:cs typeface="Arial" pitchFamily="34" charset="0"/>
              </a:rPr>
              <a:t>Priority given to longer patterns</a:t>
            </a:r>
          </a:p>
        </p:txBody>
      </p:sp>
      <p:sp>
        <p:nvSpPr>
          <p:cNvPr id="69" name="TextBox 24">
            <a:extLst>
              <a:ext uri="{FF2B5EF4-FFF2-40B4-BE49-F238E27FC236}">
                <a16:creationId xmlns:a16="http://schemas.microsoft.com/office/drawing/2014/main" id="{BA51B0BA-ECE7-CF46-E157-B06D9F05FB6E}"/>
              </a:ext>
            </a:extLst>
          </p:cNvPr>
          <p:cNvSpPr txBox="1"/>
          <p:nvPr/>
        </p:nvSpPr>
        <p:spPr>
          <a:xfrm>
            <a:off x="8752428" y="2813760"/>
            <a:ext cx="2907884" cy="461665"/>
          </a:xfrm>
          <a:prstGeom prst="rect">
            <a:avLst/>
          </a:prstGeom>
          <a:noFill/>
        </p:spPr>
        <p:txBody>
          <a:bodyPr wrap="square" rtlCol="0">
            <a:spAutoFit/>
          </a:bodyPr>
          <a:lstStyle/>
          <a:p>
            <a:r>
              <a:rPr lang="en-US" altLang="ko-KR" sz="1200" dirty="0">
                <a:solidFill>
                  <a:schemeClr val="bg1"/>
                </a:solidFill>
                <a:cs typeface="Arial" pitchFamily="34" charset="0"/>
              </a:rPr>
              <a:t>Use of the same dictionary for reconstruction</a:t>
            </a:r>
          </a:p>
        </p:txBody>
      </p:sp>
      <p:sp>
        <p:nvSpPr>
          <p:cNvPr id="70" name="TextBox 24">
            <a:extLst>
              <a:ext uri="{FF2B5EF4-FFF2-40B4-BE49-F238E27FC236}">
                <a16:creationId xmlns:a16="http://schemas.microsoft.com/office/drawing/2014/main" id="{28780959-F421-B167-B7F8-9CB576A41524}"/>
              </a:ext>
            </a:extLst>
          </p:cNvPr>
          <p:cNvSpPr txBox="1"/>
          <p:nvPr/>
        </p:nvSpPr>
        <p:spPr>
          <a:xfrm>
            <a:off x="8752428" y="3825906"/>
            <a:ext cx="2907884" cy="276999"/>
          </a:xfrm>
          <a:prstGeom prst="rect">
            <a:avLst/>
          </a:prstGeom>
          <a:noFill/>
        </p:spPr>
        <p:txBody>
          <a:bodyPr wrap="square" rtlCol="0">
            <a:spAutoFit/>
          </a:bodyPr>
          <a:lstStyle/>
          <a:p>
            <a:r>
              <a:rPr lang="en-US" altLang="ko-KR" sz="1200" dirty="0">
                <a:solidFill>
                  <a:schemeClr val="bg1"/>
                </a:solidFill>
                <a:cs typeface="Arial" pitchFamily="34" charset="0"/>
              </a:rPr>
              <a:t>Final comparison with the original</a:t>
            </a:r>
          </a:p>
        </p:txBody>
      </p:sp>
      <p:sp>
        <p:nvSpPr>
          <p:cNvPr id="71" name="TextBox 51">
            <a:extLst>
              <a:ext uri="{FF2B5EF4-FFF2-40B4-BE49-F238E27FC236}">
                <a16:creationId xmlns:a16="http://schemas.microsoft.com/office/drawing/2014/main" id="{0A6096B5-99BF-C8DA-141F-D4D276C7469F}"/>
              </a:ext>
            </a:extLst>
          </p:cNvPr>
          <p:cNvSpPr txBox="1"/>
          <p:nvPr/>
        </p:nvSpPr>
        <p:spPr>
          <a:xfrm flipH="1">
            <a:off x="4036570" y="6539554"/>
            <a:ext cx="6054717"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Key note: Control is deterministic, not probabilistic</a:t>
            </a:r>
            <a:endParaRPr lang="ko-KR" altLang="en-US" sz="1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133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a:t>Technical Value</a:t>
            </a:r>
          </a:p>
        </p:txBody>
      </p:sp>
      <p:grpSp>
        <p:nvGrpSpPr>
          <p:cNvPr id="3" name="그룹 2">
            <a:extLst>
              <a:ext uri="{FF2B5EF4-FFF2-40B4-BE49-F238E27FC236}">
                <a16:creationId xmlns:a16="http://schemas.microsoft.com/office/drawing/2014/main" id="{E4426FCC-5E7C-4D56-A39E-07ABCDD0A2EB}"/>
              </a:ext>
            </a:extLst>
          </p:cNvPr>
          <p:cNvGrpSpPr/>
          <p:nvPr/>
        </p:nvGrpSpPr>
        <p:grpSpPr>
          <a:xfrm>
            <a:off x="950506" y="1845832"/>
            <a:ext cx="10310446" cy="4176596"/>
            <a:chOff x="2063552" y="1806318"/>
            <a:chExt cx="8064896" cy="3355223"/>
          </a:xfrm>
        </p:grpSpPr>
        <p:sp>
          <p:nvSpPr>
            <p:cNvPr id="4" name="사각형: 둥근 모서리 3">
              <a:extLst>
                <a:ext uri="{FF2B5EF4-FFF2-40B4-BE49-F238E27FC236}">
                  <a16:creationId xmlns:a16="http://schemas.microsoft.com/office/drawing/2014/main" id="{C41CA201-11AD-476E-9B2C-B6A810BD7292}"/>
                </a:ext>
              </a:extLst>
            </p:cNvPr>
            <p:cNvSpPr/>
            <p:nvPr/>
          </p:nvSpPr>
          <p:spPr>
            <a:xfrm>
              <a:off x="2063552" y="3513089"/>
              <a:ext cx="3960000" cy="1648452"/>
            </a:xfrm>
            <a:prstGeom prst="roundRect">
              <a:avLst>
                <a:gd name="adj" fmla="val 1227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 name="사각형: 둥근 모서리 4">
              <a:extLst>
                <a:ext uri="{FF2B5EF4-FFF2-40B4-BE49-F238E27FC236}">
                  <a16:creationId xmlns:a16="http://schemas.microsoft.com/office/drawing/2014/main" id="{6642FE7E-D4A1-486B-8DF8-C6BA462DC1C2}"/>
                </a:ext>
              </a:extLst>
            </p:cNvPr>
            <p:cNvSpPr/>
            <p:nvPr/>
          </p:nvSpPr>
          <p:spPr>
            <a:xfrm>
              <a:off x="6168448" y="3513088"/>
              <a:ext cx="3960000" cy="1648452"/>
            </a:xfrm>
            <a:prstGeom prst="roundRect">
              <a:avLst>
                <a:gd name="adj" fmla="val 122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6" name="사각형: 둥근 모서리 5">
              <a:extLst>
                <a:ext uri="{FF2B5EF4-FFF2-40B4-BE49-F238E27FC236}">
                  <a16:creationId xmlns:a16="http://schemas.microsoft.com/office/drawing/2014/main" id="{BFE257FA-2386-4B07-B2E5-22FFBD9B3E44}"/>
                </a:ext>
              </a:extLst>
            </p:cNvPr>
            <p:cNvSpPr/>
            <p:nvPr/>
          </p:nvSpPr>
          <p:spPr>
            <a:xfrm>
              <a:off x="6168448" y="1806318"/>
              <a:ext cx="3960000" cy="1648452"/>
            </a:xfrm>
            <a:prstGeom prst="roundRect">
              <a:avLst>
                <a:gd name="adj" fmla="val 122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사각형: 둥근 모서리 6">
              <a:extLst>
                <a:ext uri="{FF2B5EF4-FFF2-40B4-BE49-F238E27FC236}">
                  <a16:creationId xmlns:a16="http://schemas.microsoft.com/office/drawing/2014/main" id="{97CFD994-5D61-48DA-AC02-E4EDDF5E701C}"/>
                </a:ext>
              </a:extLst>
            </p:cNvPr>
            <p:cNvSpPr/>
            <p:nvPr/>
          </p:nvSpPr>
          <p:spPr>
            <a:xfrm>
              <a:off x="2063552" y="1806318"/>
              <a:ext cx="3960000" cy="1648452"/>
            </a:xfrm>
            <a:prstGeom prst="roundRect">
              <a:avLst>
                <a:gd name="adj" fmla="val 1227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grpSp>
        <p:nvGrpSpPr>
          <p:cNvPr id="8" name="그룹 7">
            <a:extLst>
              <a:ext uri="{FF2B5EF4-FFF2-40B4-BE49-F238E27FC236}">
                <a16:creationId xmlns:a16="http://schemas.microsoft.com/office/drawing/2014/main" id="{0A44FC4A-FAA3-4B25-916E-9907C08AE26A}"/>
              </a:ext>
            </a:extLst>
          </p:cNvPr>
          <p:cNvGrpSpPr/>
          <p:nvPr/>
        </p:nvGrpSpPr>
        <p:grpSpPr>
          <a:xfrm>
            <a:off x="4468844" y="2297246"/>
            <a:ext cx="3273771" cy="3273771"/>
            <a:chOff x="11977794" y="1437147"/>
            <a:chExt cx="3273771" cy="3273771"/>
          </a:xfrm>
        </p:grpSpPr>
        <p:sp>
          <p:nvSpPr>
            <p:cNvPr id="9" name="타원 8">
              <a:extLst>
                <a:ext uri="{FF2B5EF4-FFF2-40B4-BE49-F238E27FC236}">
                  <a16:creationId xmlns:a16="http://schemas.microsoft.com/office/drawing/2014/main" id="{D9120BAE-3561-41CF-A9FA-890586B2DD6D}"/>
                </a:ext>
              </a:extLst>
            </p:cNvPr>
            <p:cNvSpPr/>
            <p:nvPr/>
          </p:nvSpPr>
          <p:spPr>
            <a:xfrm>
              <a:off x="11977794" y="1437147"/>
              <a:ext cx="3273771" cy="3273771"/>
            </a:xfrm>
            <a:prstGeom prst="ellipse">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0" name="타원 9">
              <a:extLst>
                <a:ext uri="{FF2B5EF4-FFF2-40B4-BE49-F238E27FC236}">
                  <a16:creationId xmlns:a16="http://schemas.microsoft.com/office/drawing/2014/main" id="{FA387F14-37C8-48B3-AD27-1693E5CA2A22}"/>
                </a:ext>
              </a:extLst>
            </p:cNvPr>
            <p:cNvSpPr/>
            <p:nvPr/>
          </p:nvSpPr>
          <p:spPr>
            <a:xfrm>
              <a:off x="12378035" y="1837388"/>
              <a:ext cx="2473289" cy="247328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sp>
        <p:nvSpPr>
          <p:cNvPr id="12" name="TextBox 11">
            <a:extLst>
              <a:ext uri="{FF2B5EF4-FFF2-40B4-BE49-F238E27FC236}">
                <a16:creationId xmlns:a16="http://schemas.microsoft.com/office/drawing/2014/main" id="{FFA3C525-9BD6-4E78-8446-A1FCCF0BC681}"/>
              </a:ext>
            </a:extLst>
          </p:cNvPr>
          <p:cNvSpPr txBox="1"/>
          <p:nvPr/>
        </p:nvSpPr>
        <p:spPr>
          <a:xfrm>
            <a:off x="1444619" y="2412219"/>
            <a:ext cx="2936721" cy="738664"/>
          </a:xfrm>
          <a:prstGeom prst="rect">
            <a:avLst/>
          </a:prstGeom>
          <a:noFill/>
        </p:spPr>
        <p:txBody>
          <a:bodyPr wrap="square" rtlCol="0">
            <a:spAutoFit/>
          </a:bodyPr>
          <a:lstStyle/>
          <a:p>
            <a:r>
              <a:rPr lang="en-US" altLang="ko-KR" sz="1400" dirty="0">
                <a:solidFill>
                  <a:schemeClr val="bg1"/>
                </a:solidFill>
                <a:latin typeface="Arial" panose="020B0604020202020204" pitchFamily="34" charset="0"/>
                <a:cs typeface="Arial" panose="020B0604020202020204" pitchFamily="34" charset="0"/>
              </a:rPr>
              <a:t>Interpretable compression</a:t>
            </a:r>
          </a:p>
          <a:p>
            <a:r>
              <a:rPr lang="en-US" altLang="ko-KR" sz="1400" dirty="0">
                <a:solidFill>
                  <a:schemeClr val="bg1"/>
                </a:solidFill>
                <a:latin typeface="Arial" panose="020B0604020202020204" pitchFamily="34" charset="0"/>
                <a:cs typeface="Arial" panose="020B0604020202020204" pitchFamily="34" charset="0"/>
              </a:rPr>
              <a:t>Pattern dictionary</a:t>
            </a:r>
          </a:p>
          <a:p>
            <a:r>
              <a:rPr lang="en-US" altLang="ko-KR" sz="1400" dirty="0">
                <a:solidFill>
                  <a:schemeClr val="bg1"/>
                </a:solidFill>
                <a:latin typeface="Arial" panose="020B0604020202020204" pitchFamily="34" charset="0"/>
                <a:cs typeface="Arial" panose="020B0604020202020204" pitchFamily="34" charset="0"/>
              </a:rPr>
              <a:t>Reversible process</a:t>
            </a:r>
            <a:endParaRPr lang="ko-KR" altLang="en-US" sz="1400" dirty="0">
              <a:solidFill>
                <a:schemeClr val="bg1"/>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E4D6A9C2-AC58-4295-A915-B097350438B7}"/>
              </a:ext>
            </a:extLst>
          </p:cNvPr>
          <p:cNvSpPr txBox="1"/>
          <p:nvPr/>
        </p:nvSpPr>
        <p:spPr>
          <a:xfrm rot="18900000">
            <a:off x="4812112" y="2555245"/>
            <a:ext cx="2446398" cy="2635271"/>
          </a:xfrm>
          <a:prstGeom prst="rect">
            <a:avLst/>
          </a:prstGeom>
          <a:noFill/>
        </p:spPr>
        <p:txBody>
          <a:bodyPr wrap="square" rtlCol="0">
            <a:prstTxWarp prst="textArchUp">
              <a:avLst>
                <a:gd name="adj" fmla="val 13656205"/>
              </a:avLst>
            </a:prstTxWarp>
            <a:spAutoFit/>
          </a:bodyPr>
          <a:lstStyle/>
          <a:p>
            <a:pPr algn="ctr"/>
            <a:r>
              <a:rPr lang="en-US" altLang="ko-KR" sz="1600" b="1" dirty="0">
                <a:solidFill>
                  <a:schemeClr val="bg1"/>
                </a:solidFill>
                <a:cs typeface="Arial" pitchFamily="34" charset="0"/>
              </a:rPr>
              <a:t>Strengths</a:t>
            </a:r>
            <a:endParaRPr lang="ko-KR" altLang="en-US" sz="1600" b="1" dirty="0">
              <a:solidFill>
                <a:schemeClr val="bg1"/>
              </a:solidFill>
              <a:cs typeface="Arial" pitchFamily="34" charset="0"/>
            </a:endParaRPr>
          </a:p>
        </p:txBody>
      </p:sp>
      <p:sp>
        <p:nvSpPr>
          <p:cNvPr id="15" name="TextBox 14">
            <a:extLst>
              <a:ext uri="{FF2B5EF4-FFF2-40B4-BE49-F238E27FC236}">
                <a16:creationId xmlns:a16="http://schemas.microsoft.com/office/drawing/2014/main" id="{5D2D9129-C67D-42AC-8908-CF2873C4201E}"/>
              </a:ext>
            </a:extLst>
          </p:cNvPr>
          <p:cNvSpPr txBox="1"/>
          <p:nvPr/>
        </p:nvSpPr>
        <p:spPr>
          <a:xfrm rot="2700000">
            <a:off x="4954784" y="2555245"/>
            <a:ext cx="2446398" cy="2635271"/>
          </a:xfrm>
          <a:prstGeom prst="rect">
            <a:avLst/>
          </a:prstGeom>
          <a:noFill/>
        </p:spPr>
        <p:txBody>
          <a:bodyPr wrap="square" rtlCol="0">
            <a:prstTxWarp prst="textArchUp">
              <a:avLst>
                <a:gd name="adj" fmla="val 13656205"/>
              </a:avLst>
            </a:prstTxWarp>
            <a:spAutoFit/>
          </a:bodyPr>
          <a:lstStyle/>
          <a:p>
            <a:pPr algn="ctr"/>
            <a:r>
              <a:rPr lang="en-US" altLang="ko-KR" sz="1600" b="1" dirty="0">
                <a:solidFill>
                  <a:schemeClr val="bg1"/>
                </a:solidFill>
                <a:cs typeface="Arial" pitchFamily="34" charset="0"/>
              </a:rPr>
              <a:t>Weaknesses</a:t>
            </a:r>
            <a:endParaRPr lang="ko-KR" altLang="en-US" sz="1600" b="1" dirty="0">
              <a:solidFill>
                <a:schemeClr val="bg1"/>
              </a:solidFill>
              <a:cs typeface="Arial" pitchFamily="34" charset="0"/>
            </a:endParaRPr>
          </a:p>
        </p:txBody>
      </p:sp>
      <p:sp>
        <p:nvSpPr>
          <p:cNvPr id="16" name="TextBox 15">
            <a:extLst>
              <a:ext uri="{FF2B5EF4-FFF2-40B4-BE49-F238E27FC236}">
                <a16:creationId xmlns:a16="http://schemas.microsoft.com/office/drawing/2014/main" id="{27082DA3-8A69-49DD-98E0-2783B3639ED8}"/>
              </a:ext>
            </a:extLst>
          </p:cNvPr>
          <p:cNvSpPr txBox="1"/>
          <p:nvPr/>
        </p:nvSpPr>
        <p:spPr>
          <a:xfrm rot="13500000">
            <a:off x="4812112" y="2678427"/>
            <a:ext cx="2446398" cy="2635271"/>
          </a:xfrm>
          <a:prstGeom prst="rect">
            <a:avLst/>
          </a:prstGeom>
          <a:noFill/>
        </p:spPr>
        <p:txBody>
          <a:bodyPr wrap="square" rtlCol="0">
            <a:prstTxWarp prst="textArchUp">
              <a:avLst>
                <a:gd name="adj" fmla="val 13656205"/>
              </a:avLst>
            </a:prstTxWarp>
            <a:spAutoFit/>
          </a:bodyPr>
          <a:lstStyle/>
          <a:p>
            <a:pPr algn="ctr"/>
            <a:r>
              <a:rPr lang="en-US" altLang="ko-KR" sz="1600" b="1" dirty="0">
                <a:solidFill>
                  <a:schemeClr val="bg1"/>
                </a:solidFill>
                <a:cs typeface="Arial" pitchFamily="34" charset="0"/>
              </a:rPr>
              <a:t>Opportunities</a:t>
            </a:r>
            <a:endParaRPr lang="ko-KR" altLang="en-US" sz="1600" b="1" dirty="0">
              <a:solidFill>
                <a:schemeClr val="bg1"/>
              </a:solidFill>
              <a:cs typeface="Arial" pitchFamily="34" charset="0"/>
            </a:endParaRPr>
          </a:p>
        </p:txBody>
      </p:sp>
      <p:sp>
        <p:nvSpPr>
          <p:cNvPr id="17" name="TextBox 16">
            <a:extLst>
              <a:ext uri="{FF2B5EF4-FFF2-40B4-BE49-F238E27FC236}">
                <a16:creationId xmlns:a16="http://schemas.microsoft.com/office/drawing/2014/main" id="{BB2F2E0B-E75D-4A80-9ED4-D725A81E23E0}"/>
              </a:ext>
            </a:extLst>
          </p:cNvPr>
          <p:cNvSpPr txBox="1"/>
          <p:nvPr/>
        </p:nvSpPr>
        <p:spPr>
          <a:xfrm rot="8100000">
            <a:off x="4954784" y="2678427"/>
            <a:ext cx="2446398" cy="2635271"/>
          </a:xfrm>
          <a:prstGeom prst="rect">
            <a:avLst/>
          </a:prstGeom>
          <a:noFill/>
        </p:spPr>
        <p:txBody>
          <a:bodyPr wrap="square" rtlCol="0">
            <a:prstTxWarp prst="textArchUp">
              <a:avLst>
                <a:gd name="adj" fmla="val 13656205"/>
              </a:avLst>
            </a:prstTxWarp>
            <a:spAutoFit/>
          </a:bodyPr>
          <a:lstStyle/>
          <a:p>
            <a:pPr algn="ctr"/>
            <a:r>
              <a:rPr lang="en-US" altLang="ko-KR" sz="1600" b="1" dirty="0">
                <a:solidFill>
                  <a:schemeClr val="bg1"/>
                </a:solidFill>
                <a:cs typeface="Arial" pitchFamily="34" charset="0"/>
              </a:rPr>
              <a:t>Threats</a:t>
            </a:r>
            <a:endParaRPr lang="ko-KR" altLang="en-US" sz="1600" b="1" dirty="0">
              <a:solidFill>
                <a:schemeClr val="bg1"/>
              </a:solidFill>
              <a:cs typeface="Arial" pitchFamily="34" charset="0"/>
            </a:endParaRPr>
          </a:p>
        </p:txBody>
      </p:sp>
      <p:sp>
        <p:nvSpPr>
          <p:cNvPr id="18" name="TextBox 17">
            <a:extLst>
              <a:ext uri="{FF2B5EF4-FFF2-40B4-BE49-F238E27FC236}">
                <a16:creationId xmlns:a16="http://schemas.microsoft.com/office/drawing/2014/main" id="{B64027CC-72A8-46E0-9B90-13E519066292}"/>
              </a:ext>
            </a:extLst>
          </p:cNvPr>
          <p:cNvSpPr txBox="1"/>
          <p:nvPr/>
        </p:nvSpPr>
        <p:spPr>
          <a:xfrm>
            <a:off x="4861824" y="3580187"/>
            <a:ext cx="2487810" cy="707886"/>
          </a:xfrm>
          <a:prstGeom prst="rect">
            <a:avLst/>
          </a:prstGeom>
          <a:noFill/>
        </p:spPr>
        <p:txBody>
          <a:bodyPr wrap="square" rtlCol="0">
            <a:spAutoFit/>
          </a:bodyPr>
          <a:lstStyle/>
          <a:p>
            <a:pPr algn="ctr"/>
            <a:r>
              <a:rPr lang="en-US" altLang="ko-KR" sz="4000" b="1" dirty="0">
                <a:solidFill>
                  <a:schemeClr val="tx1">
                    <a:lumMod val="75000"/>
                    <a:lumOff val="25000"/>
                  </a:schemeClr>
                </a:solidFill>
                <a:cs typeface="Arial" pitchFamily="34" charset="0"/>
              </a:rPr>
              <a:t>SWOT</a:t>
            </a:r>
            <a:endParaRPr lang="ko-KR" altLang="en-US" sz="4000" b="1" dirty="0">
              <a:solidFill>
                <a:schemeClr val="tx1">
                  <a:lumMod val="75000"/>
                  <a:lumOff val="25000"/>
                </a:schemeClr>
              </a:solidFill>
              <a:cs typeface="Arial" pitchFamily="34" charset="0"/>
            </a:endParaRPr>
          </a:p>
        </p:txBody>
      </p:sp>
      <p:sp>
        <p:nvSpPr>
          <p:cNvPr id="20" name="TextBox 19">
            <a:extLst>
              <a:ext uri="{FF2B5EF4-FFF2-40B4-BE49-F238E27FC236}">
                <a16:creationId xmlns:a16="http://schemas.microsoft.com/office/drawing/2014/main" id="{B29CE466-A0D5-4396-97AC-547E1D3CF1E3}"/>
              </a:ext>
            </a:extLst>
          </p:cNvPr>
          <p:cNvSpPr txBox="1"/>
          <p:nvPr/>
        </p:nvSpPr>
        <p:spPr>
          <a:xfrm>
            <a:off x="1444619" y="4520347"/>
            <a:ext cx="2936721" cy="738664"/>
          </a:xfrm>
          <a:prstGeom prst="rect">
            <a:avLst/>
          </a:prstGeom>
          <a:noFill/>
        </p:spPr>
        <p:txBody>
          <a:bodyPr wrap="square" rtlCol="0">
            <a:spAutoFit/>
          </a:bodyPr>
          <a:lstStyle/>
          <a:p>
            <a:r>
              <a:rPr lang="es-MX" altLang="ko-KR" sz="1400" dirty="0" err="1">
                <a:solidFill>
                  <a:schemeClr val="bg1"/>
                </a:solidFill>
                <a:latin typeface="Arial" panose="020B0604020202020204" pitchFamily="34" charset="0"/>
                <a:cs typeface="Arial" panose="020B0604020202020204" pitchFamily="34" charset="0"/>
              </a:rPr>
              <a:t>Genomic</a:t>
            </a:r>
            <a:r>
              <a:rPr lang="es-MX" altLang="ko-KR" sz="1400" dirty="0">
                <a:solidFill>
                  <a:schemeClr val="bg1"/>
                </a:solidFill>
                <a:latin typeface="Arial" panose="020B0604020202020204" pitchFamily="34" charset="0"/>
                <a:cs typeface="Arial" panose="020B0604020202020204" pitchFamily="34" charset="0"/>
              </a:rPr>
              <a:t> data </a:t>
            </a:r>
            <a:r>
              <a:rPr lang="es-MX" altLang="ko-KR" sz="1400" dirty="0" err="1">
                <a:solidFill>
                  <a:schemeClr val="bg1"/>
                </a:solidFill>
                <a:latin typeface="Arial" panose="020B0604020202020204" pitchFamily="34" charset="0"/>
                <a:cs typeface="Arial" panose="020B0604020202020204" pitchFamily="34" charset="0"/>
              </a:rPr>
              <a:t>growth</a:t>
            </a:r>
            <a:endParaRPr lang="es-MX" altLang="ko-KR" sz="1400" dirty="0">
              <a:solidFill>
                <a:schemeClr val="bg1"/>
              </a:solidFill>
              <a:latin typeface="Arial" panose="020B0604020202020204" pitchFamily="34" charset="0"/>
              <a:cs typeface="Arial" panose="020B0604020202020204" pitchFamily="34" charset="0"/>
            </a:endParaRPr>
          </a:p>
          <a:p>
            <a:r>
              <a:rPr lang="es-MX" altLang="ko-KR" sz="1400" dirty="0" err="1">
                <a:solidFill>
                  <a:schemeClr val="bg1"/>
                </a:solidFill>
                <a:latin typeface="Arial" panose="020B0604020202020204" pitchFamily="34" charset="0"/>
                <a:cs typeface="Arial" panose="020B0604020202020204" pitchFamily="34" charset="0"/>
              </a:rPr>
              <a:t>Research</a:t>
            </a:r>
            <a:r>
              <a:rPr lang="es-MX" altLang="ko-KR" sz="1400" dirty="0">
                <a:solidFill>
                  <a:schemeClr val="bg1"/>
                </a:solidFill>
                <a:latin typeface="Arial" panose="020B0604020202020204" pitchFamily="34" charset="0"/>
                <a:cs typeface="Arial" panose="020B0604020202020204" pitchFamily="34" charset="0"/>
              </a:rPr>
              <a:t> </a:t>
            </a:r>
            <a:r>
              <a:rPr lang="es-MX" altLang="ko-KR" sz="1400" dirty="0" err="1">
                <a:solidFill>
                  <a:schemeClr val="bg1"/>
                </a:solidFill>
                <a:latin typeface="Arial" panose="020B0604020202020204" pitchFamily="34" charset="0"/>
                <a:cs typeface="Arial" panose="020B0604020202020204" pitchFamily="34" charset="0"/>
              </a:rPr>
              <a:t>applications</a:t>
            </a:r>
            <a:endParaRPr lang="es-MX" altLang="ko-KR" sz="1400" dirty="0">
              <a:solidFill>
                <a:schemeClr val="bg1"/>
              </a:solidFill>
              <a:latin typeface="Arial" panose="020B0604020202020204" pitchFamily="34" charset="0"/>
              <a:cs typeface="Arial" panose="020B0604020202020204" pitchFamily="34" charset="0"/>
            </a:endParaRPr>
          </a:p>
          <a:p>
            <a:r>
              <a:rPr lang="es-MX" altLang="ko-KR" sz="1400" dirty="0">
                <a:solidFill>
                  <a:schemeClr val="bg1"/>
                </a:solidFill>
                <a:latin typeface="Arial" panose="020B0604020202020204" pitchFamily="34" charset="0"/>
                <a:cs typeface="Arial" panose="020B0604020202020204" pitchFamily="34" charset="0"/>
              </a:rPr>
              <a:t>Hybrid </a:t>
            </a:r>
            <a:r>
              <a:rPr lang="es-MX" altLang="ko-KR" sz="1400" dirty="0" err="1">
                <a:solidFill>
                  <a:schemeClr val="bg1"/>
                </a:solidFill>
                <a:latin typeface="Arial" panose="020B0604020202020204" pitchFamily="34" charset="0"/>
                <a:cs typeface="Arial" panose="020B0604020202020204" pitchFamily="34" charset="0"/>
              </a:rPr>
              <a:t>compression</a:t>
            </a:r>
            <a:r>
              <a:rPr lang="es-MX" altLang="ko-KR" sz="1400" dirty="0">
                <a:solidFill>
                  <a:schemeClr val="bg1"/>
                </a:solidFill>
                <a:latin typeface="Arial" panose="020B0604020202020204" pitchFamily="34" charset="0"/>
                <a:cs typeface="Arial" panose="020B0604020202020204" pitchFamily="34" charset="0"/>
              </a:rPr>
              <a:t> </a:t>
            </a:r>
            <a:r>
              <a:rPr lang="es-MX" altLang="ko-KR" sz="1400" dirty="0" err="1">
                <a:solidFill>
                  <a:schemeClr val="bg1"/>
                </a:solidFill>
                <a:latin typeface="Arial" panose="020B0604020202020204" pitchFamily="34" charset="0"/>
                <a:cs typeface="Arial" panose="020B0604020202020204" pitchFamily="34" charset="0"/>
              </a:rPr>
              <a:t>models</a:t>
            </a:r>
            <a:endParaRPr lang="ko-KR" altLang="en-US" sz="1400" dirty="0">
              <a:solidFill>
                <a:schemeClr val="bg1"/>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C2361035-F1EB-42ED-A58E-282757702210}"/>
              </a:ext>
            </a:extLst>
          </p:cNvPr>
          <p:cNvSpPr txBox="1"/>
          <p:nvPr/>
        </p:nvSpPr>
        <p:spPr>
          <a:xfrm>
            <a:off x="7795757" y="2412219"/>
            <a:ext cx="2936721" cy="738664"/>
          </a:xfrm>
          <a:prstGeom prst="rect">
            <a:avLst/>
          </a:prstGeom>
          <a:noFill/>
        </p:spPr>
        <p:txBody>
          <a:bodyPr wrap="square" rtlCol="0">
            <a:spAutoFit/>
          </a:bodyPr>
          <a:lstStyle/>
          <a:p>
            <a:pPr algn="r"/>
            <a:r>
              <a:rPr lang="en-US" altLang="ko-KR" sz="1400" dirty="0" err="1">
                <a:solidFill>
                  <a:schemeClr val="bg1"/>
                </a:solidFill>
                <a:latin typeface="Arial" panose="020B0604020202020204" pitchFamily="34" charset="0"/>
                <a:cs typeface="Arial" panose="020B0604020202020204" pitchFamily="34" charset="0"/>
              </a:rPr>
              <a:t>Depedens</a:t>
            </a:r>
            <a:r>
              <a:rPr lang="en-US" altLang="ko-KR" sz="1400" dirty="0">
                <a:solidFill>
                  <a:schemeClr val="bg1"/>
                </a:solidFill>
                <a:latin typeface="Arial" panose="020B0604020202020204" pitchFamily="34" charset="0"/>
                <a:cs typeface="Arial" panose="020B0604020202020204" pitchFamily="34" charset="0"/>
              </a:rPr>
              <a:t> on validation step</a:t>
            </a:r>
          </a:p>
          <a:p>
            <a:pPr algn="r"/>
            <a:r>
              <a:rPr lang="en-US" altLang="ko-KR" sz="1400" dirty="0">
                <a:solidFill>
                  <a:schemeClr val="bg1"/>
                </a:solidFill>
                <a:latin typeface="Arial" panose="020B0604020202020204" pitchFamily="34" charset="0"/>
                <a:cs typeface="Arial" panose="020B0604020202020204" pitchFamily="34" charset="0"/>
              </a:rPr>
              <a:t>Not fully automated</a:t>
            </a:r>
          </a:p>
          <a:p>
            <a:pPr algn="r"/>
            <a:r>
              <a:rPr lang="en-US" altLang="ko-KR" sz="1400" dirty="0">
                <a:solidFill>
                  <a:schemeClr val="bg1"/>
                </a:solidFill>
                <a:latin typeface="Arial" panose="020B0604020202020204" pitchFamily="34" charset="0"/>
                <a:cs typeface="Arial" panose="020B0604020202020204" pitchFamily="34" charset="0"/>
              </a:rPr>
              <a:t>Requires preprocessing  </a:t>
            </a:r>
            <a:endParaRPr lang="ko-KR" altLang="en-US" sz="1400" dirty="0">
              <a:solidFill>
                <a:schemeClr val="bg1"/>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21EF3743-3BDA-4196-8C6C-56EDB5777D03}"/>
              </a:ext>
            </a:extLst>
          </p:cNvPr>
          <p:cNvSpPr txBox="1"/>
          <p:nvPr/>
        </p:nvSpPr>
        <p:spPr>
          <a:xfrm>
            <a:off x="7799949" y="4520347"/>
            <a:ext cx="2936721" cy="738664"/>
          </a:xfrm>
          <a:prstGeom prst="rect">
            <a:avLst/>
          </a:prstGeom>
          <a:noFill/>
        </p:spPr>
        <p:txBody>
          <a:bodyPr wrap="square" rtlCol="0">
            <a:spAutoFit/>
          </a:bodyPr>
          <a:lstStyle/>
          <a:p>
            <a:pPr algn="r"/>
            <a:r>
              <a:rPr lang="en-US" altLang="ko-KR" sz="1400" dirty="0">
                <a:solidFill>
                  <a:schemeClr val="bg1"/>
                </a:solidFill>
                <a:latin typeface="Arial" panose="020B0604020202020204" pitchFamily="34" charset="0"/>
                <a:cs typeface="Arial" panose="020B0604020202020204" pitchFamily="34" charset="0"/>
              </a:rPr>
              <a:t>Traditional compressors</a:t>
            </a:r>
          </a:p>
          <a:p>
            <a:pPr algn="r"/>
            <a:r>
              <a:rPr lang="en-US" altLang="ko-KR" sz="1400" dirty="0">
                <a:solidFill>
                  <a:schemeClr val="bg1"/>
                </a:solidFill>
                <a:latin typeface="Arial" panose="020B0604020202020204" pitchFamily="34" charset="0"/>
                <a:cs typeface="Arial" panose="020B0604020202020204" pitchFamily="34" charset="0"/>
              </a:rPr>
              <a:t>Computational cost</a:t>
            </a:r>
          </a:p>
          <a:p>
            <a:pPr algn="r"/>
            <a:r>
              <a:rPr lang="en-US" altLang="ko-KR" sz="1400" dirty="0">
                <a:solidFill>
                  <a:schemeClr val="bg1"/>
                </a:solidFill>
                <a:latin typeface="Arial" panose="020B0604020202020204" pitchFamily="34" charset="0"/>
                <a:cs typeface="Arial" panose="020B0604020202020204" pitchFamily="34" charset="0"/>
              </a:rPr>
              <a:t>Data variability</a:t>
            </a:r>
            <a:endParaRPr lang="ko-KR" altLang="en-US" sz="1400" dirty="0">
              <a:solidFill>
                <a:schemeClr val="bg1"/>
              </a:solidFill>
              <a:latin typeface="Arial" panose="020B0604020202020204" pitchFamily="34" charset="0"/>
              <a:cs typeface="Arial" panose="020B0604020202020204" pitchFamily="34" charset="0"/>
            </a:endParaRPr>
          </a:p>
        </p:txBody>
      </p:sp>
      <p:sp>
        <p:nvSpPr>
          <p:cNvPr id="30" name="TextBox 51">
            <a:extLst>
              <a:ext uri="{FF2B5EF4-FFF2-40B4-BE49-F238E27FC236}">
                <a16:creationId xmlns:a16="http://schemas.microsoft.com/office/drawing/2014/main" id="{97BFD1A1-B063-4063-1392-B03719BA8583}"/>
              </a:ext>
            </a:extLst>
          </p:cNvPr>
          <p:cNvSpPr txBox="1"/>
          <p:nvPr/>
        </p:nvSpPr>
        <p:spPr>
          <a:xfrm flipH="1">
            <a:off x="1926154" y="6550223"/>
            <a:ext cx="8339692" cy="307777"/>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Key note: </a:t>
            </a:r>
            <a:r>
              <a:rPr lang="en-US" sz="1400" dirty="0">
                <a:solidFill>
                  <a:schemeClr val="bg1"/>
                </a:solidFill>
                <a:latin typeface="Arial" panose="020B0604020202020204" pitchFamily="34" charset="0"/>
                <a:cs typeface="Arial" panose="020B0604020202020204" pitchFamily="34" charset="0"/>
              </a:rPr>
              <a:t>LLMs can support compression, but only when their results are validated deterministically</a:t>
            </a:r>
            <a:endParaRPr lang="ko-KR" altLang="en-US" sz="1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736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F8EF26-7AD5-4E7F-95B3-9A57CF80C483}"/>
              </a:ext>
            </a:extLst>
          </p:cNvPr>
          <p:cNvSpPr txBox="1"/>
          <p:nvPr/>
        </p:nvSpPr>
        <p:spPr>
          <a:xfrm>
            <a:off x="1" y="4714489"/>
            <a:ext cx="12191999" cy="1015663"/>
          </a:xfrm>
          <a:prstGeom prst="rect">
            <a:avLst/>
          </a:prstGeom>
          <a:noFill/>
        </p:spPr>
        <p:txBody>
          <a:bodyPr wrap="square" rtlCol="0" anchor="ctr">
            <a:spAutoFit/>
          </a:bodyPr>
          <a:lstStyle/>
          <a:p>
            <a:pPr algn="ctr"/>
            <a:r>
              <a:rPr lang="en-US" altLang="ko-KR" sz="6000" dirty="0">
                <a:solidFill>
                  <a:schemeClr val="bg1"/>
                </a:solidFill>
                <a:cs typeface="Arial" pitchFamily="34" charset="0"/>
              </a:rPr>
              <a:t>THANK YOU</a:t>
            </a:r>
            <a:endParaRPr lang="ko-KR" altLang="en-US" sz="6000" dirty="0">
              <a:solidFill>
                <a:schemeClr val="bg1"/>
              </a:solidFill>
              <a:cs typeface="Arial" pitchFamily="34" charset="0"/>
            </a:endParaRPr>
          </a:p>
        </p:txBody>
      </p:sp>
    </p:spTree>
    <p:extLst>
      <p:ext uri="{BB962C8B-B14F-4D97-AF65-F5344CB8AC3E}">
        <p14:creationId xmlns:p14="http://schemas.microsoft.com/office/powerpoint/2010/main" val="821656516"/>
      </p:ext>
    </p:extLst>
  </p:cSld>
  <p:clrMapOvr>
    <a:masterClrMapping/>
  </p:clrMapOvr>
</p:sld>
</file>

<file path=ppt/theme/theme1.xml><?xml version="1.0" encoding="utf-8"?>
<a:theme xmlns:a="http://schemas.openxmlformats.org/drawingml/2006/main" name="Cover and End Slide Master">
  <a:themeElements>
    <a:clrScheme name="ALLPPT-106">
      <a:dk1>
        <a:sysClr val="windowText" lastClr="000000"/>
      </a:dk1>
      <a:lt1>
        <a:sysClr val="window" lastClr="FFFFFF"/>
      </a:lt1>
      <a:dk2>
        <a:srgbClr val="1F497D"/>
      </a:dk2>
      <a:lt2>
        <a:srgbClr val="EEECE1"/>
      </a:lt2>
      <a:accent1>
        <a:srgbClr val="FE5A5B"/>
      </a:accent1>
      <a:accent2>
        <a:srgbClr val="FFB954"/>
      </a:accent2>
      <a:accent3>
        <a:srgbClr val="4592EF"/>
      </a:accent3>
      <a:accent4>
        <a:srgbClr val="2CB2D7"/>
      </a:accent4>
      <a:accent5>
        <a:srgbClr val="E78EBE"/>
      </a:accent5>
      <a:accent6>
        <a:srgbClr val="9191F5"/>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106">
      <a:dk1>
        <a:sysClr val="windowText" lastClr="000000"/>
      </a:dk1>
      <a:lt1>
        <a:sysClr val="window" lastClr="FFFFFF"/>
      </a:lt1>
      <a:dk2>
        <a:srgbClr val="1F497D"/>
      </a:dk2>
      <a:lt2>
        <a:srgbClr val="EEECE1"/>
      </a:lt2>
      <a:accent1>
        <a:srgbClr val="FE5A5B"/>
      </a:accent1>
      <a:accent2>
        <a:srgbClr val="FFB954"/>
      </a:accent2>
      <a:accent3>
        <a:srgbClr val="4592EF"/>
      </a:accent3>
      <a:accent4>
        <a:srgbClr val="2CB2D7"/>
      </a:accent4>
      <a:accent5>
        <a:srgbClr val="E78EBE"/>
      </a:accent5>
      <a:accent6>
        <a:srgbClr val="9191F5"/>
      </a:accent6>
      <a:hlink>
        <a:srgbClr val="FFFFFF"/>
      </a:hlink>
      <a:folHlink>
        <a:srgbClr val="800080"/>
      </a:folHlink>
    </a:clrScheme>
    <a:fontScheme name="ALLPPT -Arial">
      <a:majorFont>
        <a:latin typeface="Arial"/>
        <a:ea typeface="맑은 고딕"/>
        <a:cs typeface=""/>
      </a:majorFont>
      <a:minorFont>
        <a:latin typeface="Arial"/>
        <a:ea typeface="Calibri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106">
      <a:dk1>
        <a:sysClr val="windowText" lastClr="000000"/>
      </a:dk1>
      <a:lt1>
        <a:sysClr val="window" lastClr="FFFFFF"/>
      </a:lt1>
      <a:dk2>
        <a:srgbClr val="1F497D"/>
      </a:dk2>
      <a:lt2>
        <a:srgbClr val="EEECE1"/>
      </a:lt2>
      <a:accent1>
        <a:srgbClr val="FE5A5B"/>
      </a:accent1>
      <a:accent2>
        <a:srgbClr val="FFB954"/>
      </a:accent2>
      <a:accent3>
        <a:srgbClr val="4592EF"/>
      </a:accent3>
      <a:accent4>
        <a:srgbClr val="2CB2D7"/>
      </a:accent4>
      <a:accent5>
        <a:srgbClr val="E78EBE"/>
      </a:accent5>
      <a:accent6>
        <a:srgbClr val="9191F5"/>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2439</TotalTime>
  <Words>1951</Words>
  <Application>Microsoft Office PowerPoint</Application>
  <PresentationFormat>Panorámica</PresentationFormat>
  <Paragraphs>170</Paragraphs>
  <Slides>11</Slides>
  <Notes>11</Notes>
  <HiddenSlides>0</HiddenSlides>
  <MMClips>0</MMClips>
  <ScaleCrop>false</ScaleCrop>
  <HeadingPairs>
    <vt:vector size="6" baseType="variant">
      <vt:variant>
        <vt:lpstr>Fuentes usadas</vt:lpstr>
      </vt:variant>
      <vt:variant>
        <vt:i4>4</vt:i4>
      </vt:variant>
      <vt:variant>
        <vt:lpstr>Tema</vt:lpstr>
      </vt:variant>
      <vt:variant>
        <vt:i4>3</vt:i4>
      </vt:variant>
      <vt:variant>
        <vt:lpstr>Títulos de diapositiva</vt:lpstr>
      </vt:variant>
      <vt:variant>
        <vt:i4>11</vt:i4>
      </vt:variant>
    </vt:vector>
  </HeadingPairs>
  <TitlesOfParts>
    <vt:vector size="18" baseType="lpstr">
      <vt:lpstr>Arial</vt:lpstr>
      <vt:lpstr>Calibri</vt:lpstr>
      <vt:lpstr>Times New Roman</vt:lpstr>
      <vt:lpstr>Wingdings</vt:lpstr>
      <vt:lpstr>Cover and End Slide Master</vt:lpstr>
      <vt:lpstr>Contents Slide Master</vt:lpstr>
      <vt:lpstr>Section Break Slide Master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Patrick Lisby Córdoba</cp:lastModifiedBy>
  <cp:revision>84</cp:revision>
  <dcterms:created xsi:type="dcterms:W3CDTF">2020-01-20T05:08:25Z</dcterms:created>
  <dcterms:modified xsi:type="dcterms:W3CDTF">2026-04-29T19:52:31Z</dcterms:modified>
</cp:coreProperties>
</file>